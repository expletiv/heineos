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5.wmf" ContentType="image/x-wmf"/>
  <Override PartName="/ppt/media/image7.wmf" ContentType="image/x-wmf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E53017-E8A3-49E9-AD6E-8CFD37C000D4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120" cy="308448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200" cy="3490560"/>
          </a:xfrm>
          <a:custGeom>
            <a:avLst/>
            <a:gdLst>
              <a:gd name="textAreaLeft" fmla="*/ 0 w 3166200"/>
              <a:gd name="textAreaRight" fmla="*/ 3168000 w 3166200"/>
              <a:gd name="textAreaTop" fmla="*/ 0 h 3490560"/>
              <a:gd name="textAreaBottom" fmla="*/ 3492360 h 34905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9200" cy="10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7800" cy="298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200" cy="3490560"/>
          </a:xfrm>
          <a:custGeom>
            <a:avLst/>
            <a:gdLst>
              <a:gd name="textAreaLeft" fmla="*/ 0 w 3166200"/>
              <a:gd name="textAreaRight" fmla="*/ 3168000 w 3166200"/>
              <a:gd name="textAreaTop" fmla="*/ 0 h 3490560"/>
              <a:gd name="textAreaBottom" fmla="*/ 3492360 h 34905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7920" cy="5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7920" cy="11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4880" cy="11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1160" cy="3824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8520" cy="11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6200" cy="3824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5600" cy="2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1880" cy="5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6400" cy="581760"/>
            <a:chOff x="522720" y="385200"/>
            <a:chExt cx="1526400" cy="58176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200" cy="141480"/>
            </a:xfrm>
            <a:custGeom>
              <a:avLst/>
              <a:gdLst>
                <a:gd name="textAreaLeft" fmla="*/ 0 w 160200"/>
                <a:gd name="textAreaRight" fmla="*/ 162000 w 160200"/>
                <a:gd name="textAreaTop" fmla="*/ 0 h 141480"/>
                <a:gd name="textAreaBottom" fmla="*/ 143280 h 14148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2760" cy="39564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395640"/>
                <a:gd name="textAreaBottom" fmla="*/ 39744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2760" cy="511920"/>
            </a:xfrm>
            <a:custGeom>
              <a:avLst/>
              <a:gdLst>
                <a:gd name="textAreaLeft" fmla="*/ 0 w 392760"/>
                <a:gd name="textAreaRight" fmla="*/ 394560 w 392760"/>
                <a:gd name="textAreaTop" fmla="*/ 0 h 511920"/>
                <a:gd name="textAreaBottom" fmla="*/ 51372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6560" cy="239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1200" cy="239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8D2F1DB-02D6-44A6-BBFB-E6646EF2005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8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0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1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1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1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2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32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33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29388B1-F906-40D5-8F5B-1221AFA8594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6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2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64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4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4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5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6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36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37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ACABB6C-8BB9-4E44-B45A-3B6AB91ED9F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38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3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4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385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386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2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396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9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00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2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5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06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0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3104A45-85F7-4319-B3F9-E7125C248F6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028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1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26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64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1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2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2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2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43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3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4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9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50" name="Gruppieren 53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5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4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17CCB0E-54B1-40E8-A349-46FFC4A1324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592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57" name="Gerader Verbinder 46"/>
          <p:cNvCxnSpPr/>
          <p:nvPr/>
        </p:nvCxnSpPr>
        <p:spPr>
          <a:xfrm>
            <a:off x="4625640" y="974520"/>
            <a:ext cx="272952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8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5360" cy="491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000" cy="3485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5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6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6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63" name="Freihandform: Form 68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Freihandform: Form 69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70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71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72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73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9" name="Freihandform: Form 45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Freihandform: Form 4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4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473" name="Freihandform: Form 66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67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5" name="Freihandform: Form 50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477" name="Freihandform: Form 6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6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9" name="Freihandform: Form 52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ihandform: Form 5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5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483" name="Freihandform: Form 6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6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6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6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48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9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9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49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49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0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0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1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8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9" name="Gruppieren 54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20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3" name="PlaceHolder 1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BA3776F-6CFA-49AD-A1E8-A52869EB53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592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26" name="Gerader Verbinder 47"/>
          <p:cNvCxnSpPr/>
          <p:nvPr/>
        </p:nvCxnSpPr>
        <p:spPr>
          <a:xfrm>
            <a:off x="4625640" y="974520"/>
            <a:ext cx="272952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7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4280" cy="242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4280" cy="2419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8520" cy="3485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85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3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3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33" name="Freihandform: Form 69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70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71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ihandform: Form 72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73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ihandform: Form 74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9" name="Freihandform: Form 45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Freihandform: Form 46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Freihandform: Form 49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43" name="Freihandform: Form 67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ihandform: Form 68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5" name="Freihandform: Form 51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47" name="Freihandform: Form 65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66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9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Freihandform: Form 58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Freihandform: Form 59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53" name="Freihandform: Form 61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Freihandform: Form 62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ihandform: Form 63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Freihandform: Form 64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5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61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62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563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564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0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3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574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6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578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0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3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584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8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23DD54D-1C4D-409B-ADC7-E203660ACEA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284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284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59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0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0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1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1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2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5234847-5F8E-43BD-88DB-11D36C05E7F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7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728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7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63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4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4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5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5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6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5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9734F59-AD57-4363-A6CE-9B2A05DE5BA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22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672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5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6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677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678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4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5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7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688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0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1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692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4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7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698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2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C35A61F-2798-4EE0-8555-5331F0B4DA2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0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0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1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13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9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23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727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9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33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7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100B8A1-11DA-4949-B663-0F356D33AD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928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4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4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5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6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76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77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8238729-8C4E-4B22-9CF4-029C0770D63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9280" cy="330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78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8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8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78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78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79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0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0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1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1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761EE69-F88D-4908-8ED9-8B1F5554EA8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1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2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2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3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3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4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45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6" name="Gruppieren 49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4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920" cy="91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51" name="Grafik 11"/>
          <p:cNvSpPr/>
          <p:nvPr/>
        </p:nvSpPr>
        <p:spPr>
          <a:xfrm>
            <a:off x="0" y="0"/>
            <a:ext cx="3730320" cy="4913280"/>
          </a:xfrm>
          <a:custGeom>
            <a:avLst/>
            <a:gdLst>
              <a:gd name="textAreaLeft" fmla="*/ 0 w 3730320"/>
              <a:gd name="textAreaRight" fmla="*/ 3732120 w 3730320"/>
              <a:gd name="textAreaTop" fmla="*/ 0 h 4913280"/>
              <a:gd name="textAreaBottom" fmla="*/ 4915080 h 491328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F8F78C9-B0BF-4A92-9162-59AA0E2932C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54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55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56" name="Freihandform: Form 6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6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6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6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6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7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3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Freihandform: Form 44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Freihandform: Form 45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5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66" name="Freihandform: Form 6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ihandform: Form 6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8" name="Freihandform: Form 47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870" name="Freihandform: Form 6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6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2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Freihandform: Form 5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Freihandform: Form 5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5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876" name="Freihandform: Form 5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ihandform: Form 5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5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6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88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8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88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88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89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0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0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11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12" name="Gruppieren 49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1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920" cy="91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5E02515-7DC8-4457-998B-5EC9FE39752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2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21" name="Freihandform: Form 6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Freihandform: Form 6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ihandform: Form 6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ihandform: Form 6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6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7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3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Freihandform: Form 44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Freihandform: Form 45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31" name="Freihandform: Form 6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2" name="Freihandform: Form 6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3" name="Freihandform: Form 47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35" name="Freihandform: Form 6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6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7" name="Freihandform: Form 5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Freihandform: Form 5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Freihandform: Form 5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41" name="Freihandform: Form 5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5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5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4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5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5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6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96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97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6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2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F8C00BA-0E3A-4630-8744-BE35B14C71C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400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460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983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6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7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988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989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1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6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7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8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999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1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03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5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8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09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3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14B0C34-0A4F-4EFA-8EE6-9238B5C7C63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1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2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2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3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3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4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9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8DD755E-5289-46FA-8F2E-48F4FECE049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840" cy="3422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640" cy="3422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56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9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0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61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62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4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5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1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072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4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076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8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0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082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6" name="Freihandform: Form 44" hidden="1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87" name="Gruppieren 52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088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093" name="Freihandform: Form 35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6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37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38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39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40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17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18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19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03" name="Freihandform: Form 33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4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21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07" name="Freihandform: Form 31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2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23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24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25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13" name="Freihandform: Form 27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28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29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30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Grafik 11"/>
          <p:cNvSpPr/>
          <p:nvPr/>
        </p:nvSpPr>
        <p:spPr>
          <a:xfrm>
            <a:off x="0" y="0"/>
            <a:ext cx="3730320" cy="4913280"/>
          </a:xfrm>
          <a:custGeom>
            <a:avLst/>
            <a:gdLst>
              <a:gd name="textAreaLeft" fmla="*/ 0 w 3730320"/>
              <a:gd name="textAreaRight" fmla="*/ 3732120 w 3730320"/>
              <a:gd name="textAreaTop" fmla="*/ 0 h 4913280"/>
              <a:gd name="textAreaBottom" fmla="*/ 4915080 h 491328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C140523-C248-4A93-9B43-049D6A99D5E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756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21" name="Gerader Verbinder 45"/>
          <p:cNvCxnSpPr/>
          <p:nvPr/>
        </p:nvCxnSpPr>
        <p:spPr>
          <a:xfrm>
            <a:off x="4464000" y="974520"/>
            <a:ext cx="289116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22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16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656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125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8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29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130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131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2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7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0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41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4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45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7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51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5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2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BF1CBC4-757C-4F00-82F4-345AE09CC9C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84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16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09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092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164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7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8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169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170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6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9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180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3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184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6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190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4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D7BFAEF-A03B-446A-B2DF-79FE65F71B6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2CAFA6A-EFD8-48B4-A4D4-B3511CFABCA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12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7FD6FB8-EC3B-49FE-B354-E5D868712CB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120" cy="349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8560" cy="3490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280" cy="32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ruppieren 6"/>
          <p:cNvGrpSpPr/>
          <p:nvPr/>
        </p:nvGrpSpPr>
        <p:grpSpPr>
          <a:xfrm>
            <a:off x="-5040" y="4950720"/>
            <a:ext cx="9147240" cy="196200"/>
            <a:chOff x="-5040" y="4950720"/>
            <a:chExt cx="9147240" cy="196200"/>
          </a:xfrm>
        </p:grpSpPr>
        <p:sp>
          <p:nvSpPr>
            <p:cNvPr id="1277" name="bk object 18"/>
            <p:cNvSpPr/>
            <p:nvPr/>
          </p:nvSpPr>
          <p:spPr>
            <a:xfrm>
              <a:off x="-5040" y="4950720"/>
              <a:ext cx="483120" cy="196200"/>
            </a:xfrm>
            <a:custGeom>
              <a:avLst/>
              <a:gdLst>
                <a:gd name="textAreaLeft" fmla="*/ 0 w 483120"/>
                <a:gd name="textAreaRight" fmla="*/ 484920 w 48312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bk object 18"/>
            <p:cNvSpPr/>
            <p:nvPr/>
          </p:nvSpPr>
          <p:spPr>
            <a:xfrm>
              <a:off x="522360" y="4950720"/>
              <a:ext cx="8619840" cy="196200"/>
            </a:xfrm>
            <a:custGeom>
              <a:avLst/>
              <a:gdLst>
                <a:gd name="textAreaLeft" fmla="*/ 0 w 8619840"/>
                <a:gd name="textAreaRight" fmla="*/ 8621640 w 8619840"/>
                <a:gd name="textAreaTop" fmla="*/ 0 h 196200"/>
                <a:gd name="textAreaBottom" fmla="*/ 198000 h 19620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Holder 3"/>
            <p:cNvSpPr/>
            <p:nvPr/>
          </p:nvSpPr>
          <p:spPr>
            <a:xfrm>
              <a:off x="8194680" y="4966200"/>
              <a:ext cx="447840" cy="16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0" name="Gerader Verbinder 11"/>
          <p:cNvCxnSpPr/>
          <p:nvPr/>
        </p:nvCxnSpPr>
        <p:spPr>
          <a:xfrm>
            <a:off x="521280" y="974520"/>
            <a:ext cx="6833880" cy="180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1" name="Grafik 9"/>
          <p:cNvGrpSpPr/>
          <p:nvPr/>
        </p:nvGrpSpPr>
        <p:grpSpPr>
          <a:xfrm>
            <a:off x="7741440" y="394200"/>
            <a:ext cx="1048320" cy="619200"/>
            <a:chOff x="7741440" y="394200"/>
            <a:chExt cx="1048320" cy="619200"/>
          </a:xfrm>
        </p:grpSpPr>
        <p:grpSp>
          <p:nvGrpSpPr>
            <p:cNvPr id="1282" name="Grafik 9"/>
            <p:cNvGrpSpPr/>
            <p:nvPr/>
          </p:nvGrpSpPr>
          <p:grpSpPr>
            <a:xfrm>
              <a:off x="7741440" y="394200"/>
              <a:ext cx="883080" cy="430560"/>
              <a:chOff x="7741440" y="394200"/>
              <a:chExt cx="883080" cy="430560"/>
            </a:xfrm>
          </p:grpSpPr>
          <p:sp>
            <p:nvSpPr>
              <p:cNvPr id="1283" name="Freihandform: Form 20"/>
              <p:cNvSpPr/>
              <p:nvPr/>
            </p:nvSpPr>
            <p:spPr>
              <a:xfrm>
                <a:off x="8358120" y="480600"/>
                <a:ext cx="266400" cy="26676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266760"/>
                  <a:gd name="textAreaBottom" fmla="*/ 268560 h 26676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Freihandform: Form 21"/>
              <p:cNvSpPr/>
              <p:nvPr/>
            </p:nvSpPr>
            <p:spPr>
              <a:xfrm>
                <a:off x="774144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2"/>
              <p:cNvSpPr/>
              <p:nvPr/>
            </p:nvSpPr>
            <p:spPr>
              <a:xfrm>
                <a:off x="8050680" y="394200"/>
                <a:ext cx="266400" cy="346680"/>
              </a:xfrm>
              <a:custGeom>
                <a:avLst/>
                <a:gdLst>
                  <a:gd name="textAreaLeft" fmla="*/ 0 w 266400"/>
                  <a:gd name="textAreaRight" fmla="*/ 268200 w 266400"/>
                  <a:gd name="textAreaTop" fmla="*/ 0 h 346680"/>
                  <a:gd name="textAreaBottom" fmla="*/ 348480 h 34668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3"/>
              <p:cNvSpPr/>
              <p:nvPr/>
            </p:nvSpPr>
            <p:spPr>
              <a:xfrm>
                <a:off x="784800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4"/>
              <p:cNvSpPr/>
              <p:nvPr/>
            </p:nvSpPr>
            <p:spPr>
              <a:xfrm>
                <a:off x="795816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5"/>
              <p:cNvSpPr/>
              <p:nvPr/>
            </p:nvSpPr>
            <p:spPr>
              <a:xfrm>
                <a:off x="8212320" y="817560"/>
                <a:ext cx="7200" cy="7200"/>
              </a:xfrm>
              <a:custGeom>
                <a:avLst/>
                <a:gdLst>
                  <a:gd name="textAreaLeft" fmla="*/ 0 w 7200"/>
                  <a:gd name="textAreaRight" fmla="*/ 9000 w 7200"/>
                  <a:gd name="textAreaTop" fmla="*/ 0 h 7200"/>
                  <a:gd name="textAreaBottom" fmla="*/ 9000 h 720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9" name="Freihandform: Form 26"/>
            <p:cNvSpPr/>
            <p:nvPr/>
          </p:nvSpPr>
          <p:spPr>
            <a:xfrm>
              <a:off x="774144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Freihandform: Form 27"/>
            <p:cNvSpPr/>
            <p:nvPr/>
          </p:nvSpPr>
          <p:spPr>
            <a:xfrm>
              <a:off x="779976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8"/>
            <p:cNvSpPr/>
            <p:nvPr/>
          </p:nvSpPr>
          <p:spPr>
            <a:xfrm>
              <a:off x="784908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2" name="Grafik 9"/>
            <p:cNvGrpSpPr/>
            <p:nvPr/>
          </p:nvGrpSpPr>
          <p:grpSpPr>
            <a:xfrm>
              <a:off x="7872120" y="834120"/>
              <a:ext cx="73440" cy="39960"/>
              <a:chOff x="7872120" y="834120"/>
              <a:chExt cx="73440" cy="39960"/>
            </a:xfrm>
          </p:grpSpPr>
          <p:sp>
            <p:nvSpPr>
              <p:cNvPr id="1293" name="Freihandform: Form 30"/>
              <p:cNvSpPr/>
              <p:nvPr/>
            </p:nvSpPr>
            <p:spPr>
              <a:xfrm>
                <a:off x="787212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4" name="Freihandform: Form 31"/>
              <p:cNvSpPr/>
              <p:nvPr/>
            </p:nvSpPr>
            <p:spPr>
              <a:xfrm>
                <a:off x="7922160" y="834120"/>
                <a:ext cx="23400" cy="39960"/>
              </a:xfrm>
              <a:custGeom>
                <a:avLst/>
                <a:gdLst>
                  <a:gd name="textAreaLeft" fmla="*/ 0 w 23400"/>
                  <a:gd name="textAreaRight" fmla="*/ 25200 w 2340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5" name="Freihandform: Form 32"/>
            <p:cNvSpPr/>
            <p:nvPr/>
          </p:nvSpPr>
          <p:spPr>
            <a:xfrm>
              <a:off x="795924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6" name="Grafik 9"/>
            <p:cNvGrpSpPr/>
            <p:nvPr/>
          </p:nvGrpSpPr>
          <p:grpSpPr>
            <a:xfrm>
              <a:off x="7979760" y="812160"/>
              <a:ext cx="77400" cy="63720"/>
              <a:chOff x="7979760" y="812160"/>
              <a:chExt cx="77400" cy="63720"/>
            </a:xfrm>
          </p:grpSpPr>
          <p:sp>
            <p:nvSpPr>
              <p:cNvPr id="1297" name="Freihandform: Form 34"/>
              <p:cNvSpPr/>
              <p:nvPr/>
            </p:nvSpPr>
            <p:spPr>
              <a:xfrm>
                <a:off x="7979760" y="834120"/>
                <a:ext cx="32760" cy="417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Freihandform: Form 35"/>
              <p:cNvSpPr/>
              <p:nvPr/>
            </p:nvSpPr>
            <p:spPr>
              <a:xfrm>
                <a:off x="8024400" y="812160"/>
                <a:ext cx="32760" cy="615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61560"/>
                  <a:gd name="textAreaBottom" fmla="*/ 63360 h 6156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9" name="Freihandform: Form 36"/>
            <p:cNvSpPr/>
            <p:nvPr/>
          </p:nvSpPr>
          <p:spPr>
            <a:xfrm>
              <a:off x="8106480" y="817920"/>
              <a:ext cx="41760" cy="56160"/>
            </a:xfrm>
            <a:custGeom>
              <a:avLst/>
              <a:gdLst>
                <a:gd name="textAreaLeft" fmla="*/ 0 w 41760"/>
                <a:gd name="textAreaRight" fmla="*/ 43560 w 41760"/>
                <a:gd name="textAreaTop" fmla="*/ 0 h 56160"/>
                <a:gd name="textAreaBottom" fmla="*/ 57960 h 5616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Freihandform: Form 37"/>
            <p:cNvSpPr/>
            <p:nvPr/>
          </p:nvSpPr>
          <p:spPr>
            <a:xfrm>
              <a:off x="8164800" y="834120"/>
              <a:ext cx="34560" cy="41760"/>
            </a:xfrm>
            <a:custGeom>
              <a:avLst/>
              <a:gdLst>
                <a:gd name="textAreaLeft" fmla="*/ 0 w 34560"/>
                <a:gd name="textAreaRight" fmla="*/ 36360 w 34560"/>
                <a:gd name="textAreaTop" fmla="*/ 0 h 41760"/>
                <a:gd name="textAreaBottom" fmla="*/ 43560 h 4176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8"/>
            <p:cNvSpPr/>
            <p:nvPr/>
          </p:nvSpPr>
          <p:spPr>
            <a:xfrm>
              <a:off x="8213400" y="835200"/>
              <a:ext cx="5400" cy="38160"/>
            </a:xfrm>
            <a:custGeom>
              <a:avLst/>
              <a:gdLst>
                <a:gd name="textAreaLeft" fmla="*/ 0 w 5400"/>
                <a:gd name="textAreaRight" fmla="*/ 7200 w 5400"/>
                <a:gd name="textAreaTop" fmla="*/ 0 h 38160"/>
                <a:gd name="textAreaBottom" fmla="*/ 39960 h 3816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2" name="Grafik 9"/>
            <p:cNvGrpSpPr/>
            <p:nvPr/>
          </p:nvGrpSpPr>
          <p:grpSpPr>
            <a:xfrm>
              <a:off x="7741440" y="834120"/>
              <a:ext cx="1048320" cy="179280"/>
              <a:chOff x="7741440" y="834120"/>
              <a:chExt cx="1048320" cy="179280"/>
            </a:xfrm>
          </p:grpSpPr>
          <p:sp>
            <p:nvSpPr>
              <p:cNvPr id="1303" name="Freihandform: Form 40"/>
              <p:cNvSpPr/>
              <p:nvPr/>
            </p:nvSpPr>
            <p:spPr>
              <a:xfrm>
                <a:off x="8236440" y="834120"/>
                <a:ext cx="32760" cy="39960"/>
              </a:xfrm>
              <a:custGeom>
                <a:avLst/>
                <a:gdLst>
                  <a:gd name="textAreaLeft" fmla="*/ 0 w 32760"/>
                  <a:gd name="textAreaRight" fmla="*/ 34560 w 32760"/>
                  <a:gd name="textAreaTop" fmla="*/ 0 h 39960"/>
                  <a:gd name="textAreaBottom" fmla="*/ 41760 h 3996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Freihandform: Form 41"/>
              <p:cNvSpPr/>
              <p:nvPr/>
            </p:nvSpPr>
            <p:spPr>
              <a:xfrm>
                <a:off x="8284680" y="834120"/>
                <a:ext cx="34560" cy="41760"/>
              </a:xfrm>
              <a:custGeom>
                <a:avLst/>
                <a:gdLst>
                  <a:gd name="textAreaLeft" fmla="*/ 0 w 34560"/>
                  <a:gd name="textAreaRight" fmla="*/ 36360 w 34560"/>
                  <a:gd name="textAreaTop" fmla="*/ 0 h 41760"/>
                  <a:gd name="textAreaBottom" fmla="*/ 43560 h 4176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2"/>
              <p:cNvSpPr/>
              <p:nvPr/>
            </p:nvSpPr>
            <p:spPr>
              <a:xfrm>
                <a:off x="7741440" y="914040"/>
                <a:ext cx="882720" cy="61560"/>
              </a:xfrm>
              <a:custGeom>
                <a:avLst/>
                <a:gdLst>
                  <a:gd name="textAreaLeft" fmla="*/ 0 w 882720"/>
                  <a:gd name="textAreaRight" fmla="*/ 884520 w 882720"/>
                  <a:gd name="textAreaTop" fmla="*/ 0 h 61560"/>
                  <a:gd name="textAreaBottom" fmla="*/ 63360 h 6156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3"/>
              <p:cNvSpPr/>
              <p:nvPr/>
            </p:nvSpPr>
            <p:spPr>
              <a:xfrm>
                <a:off x="8677440" y="915480"/>
                <a:ext cx="112320" cy="97920"/>
              </a:xfrm>
              <a:custGeom>
                <a:avLst/>
                <a:gdLst>
                  <a:gd name="textAreaLeft" fmla="*/ 0 w 112320"/>
                  <a:gd name="textAreaRight" fmla="*/ 114120 w 112320"/>
                  <a:gd name="textAreaTop" fmla="*/ 0 h 97920"/>
                  <a:gd name="textAreaBottom" fmla="*/ 99720 h 9792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7" name="Freihandform: Form 44"/>
          <p:cNvSpPr/>
          <p:nvPr/>
        </p:nvSpPr>
        <p:spPr>
          <a:xfrm>
            <a:off x="-5040" y="407880"/>
            <a:ext cx="335520" cy="293040"/>
          </a:xfrm>
          <a:custGeom>
            <a:avLst/>
            <a:gdLst>
              <a:gd name="textAreaLeft" fmla="*/ 0 w 335520"/>
              <a:gd name="textAreaRight" fmla="*/ 337320 w 335520"/>
              <a:gd name="textAreaTop" fmla="*/ 0 h 293040"/>
              <a:gd name="textAreaBottom" fmla="*/ 294840 h 29304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800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5520" cy="14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A8DA787-5C4F-4FDB-A602-A3F143D67F4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98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1640" cy="163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msrc.microsoft.com/blog/2019/07/we-need-a-safer-systems-programming-language/" TargetMode="External"/><Relationship Id="rId2" Type="http://schemas.openxmlformats.org/officeDocument/2006/relationships/hyperlink" Target="https://msrc.microsoft.com/blog/2019/07/we-need-a-safer-systems-programming-language/" TargetMode="External"/><Relationship Id="rId3" Type="http://schemas.openxmlformats.org/officeDocument/2006/relationships/hyperlink" Target="https://www.heise.de/news/Rust-Code-im-Linux-Kernel-Merge-steht-laut-Linus-Torvalds-ab-Linux-5-20-bevor-7154453.html" TargetMode="External"/><Relationship Id="rId4" Type="http://schemas.openxmlformats.org/officeDocument/2006/relationships/slideLayout" Target="../slideLayouts/slideLayout23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3600000" y="2268000"/>
            <a:ext cx="4948200" cy="10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Example - PC Speaker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200" cy="603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br>
              <a:rPr sz="1600"/>
            </a:b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Generating Sounds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classic </a:t>
            </a:r>
            <a:r>
              <a:rPr lang="de-DE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 Speaker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was driven by timer chip, which could generate pulses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Timer Chip = Programmable Interval Timer (PIT)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Nowadays integrated inside the motherboards chipset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older hardware, the motherboard’s firmware used the PC Speaker to generate Beep Codes in case of hardware failures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Nowadays, many motherboards posess a hexadecimal display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show error codes →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5" name="Picture 5"/>
          <p:cNvPicPr/>
          <p:nvPr/>
        </p:nvPicPr>
        <p:blipFill>
          <a:blip r:embed="rId1"/>
          <a:stretch/>
        </p:blipFill>
        <p:spPr>
          <a:xfrm>
            <a:off x="5576400" y="1980000"/>
            <a:ext cx="1262880" cy="62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6" name="Picture 7"/>
          <p:cNvPicPr/>
          <p:nvPr/>
        </p:nvPicPr>
        <p:blipFill>
          <a:blip r:embed="rId2"/>
          <a:stretch/>
        </p:blipFill>
        <p:spPr>
          <a:xfrm>
            <a:off x="2880720" y="3780000"/>
            <a:ext cx="898560" cy="6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D3460238-B50A-42AF-A109-F7807209D83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Programmable Interval Timer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8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PIT runs at a frequency of 1.19318 MHz →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Why?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1.19318 MHz = 1/4 of 4.77 MHz = Frequency of the IBM PC XT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did the XT run at exactly 4,77 MHz?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4.77MHz = 1/3 of 14.31816 MHz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14,31816 MHz is the base frequency needed to operate NTSC television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 Quartz crystal for that frequency were cheap (mass production)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computer uses a quartz crystal to generate its base frequency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frequency is then adapted for different computer parts, using divisiors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Nowadays, the PIT can still be used to implement a monotonic increasing system time, or to distribite CPU time in preemptive multitasking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9" name="Picture 2"/>
          <p:cNvPicPr/>
          <p:nvPr/>
        </p:nvPicPr>
        <p:blipFill>
          <a:blip r:embed="rId1"/>
          <a:srcRect l="12322" t="10850" r="8054" b="17148"/>
          <a:stretch/>
        </p:blipFill>
        <p:spPr>
          <a:xfrm>
            <a:off x="7146360" y="1278720"/>
            <a:ext cx="1222200" cy="7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88E786D-D919-43C0-A32D-4DF67A19BA16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PIT: Structure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Three counters/channels (16 bits each)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decremented with the falling edge of the base frequency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Usage: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0: Periodic interrupts → Signal OUT0 to IRQ controller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Channel 1: DRAM Refresh → Signal OUT1 to DMA controller (not relevant anymore)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2: Sound generation → OUT2 to PC Speaker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Programming is done via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IO-ports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(8 bits each)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2" name="Table 1"/>
          <p:cNvGraphicFramePr/>
          <p:nvPr/>
        </p:nvGraphicFramePr>
        <p:xfrm>
          <a:off x="1764360" y="3304440"/>
          <a:ext cx="5578200" cy="1526400"/>
        </p:xfrm>
        <a:graphic>
          <a:graphicData uri="http://schemas.openxmlformats.org/drawingml/2006/table">
            <a:tbl>
              <a:tblPr/>
              <a:tblGrid>
                <a:gridCol w="1076040"/>
                <a:gridCol w="2162160"/>
                <a:gridCol w="2340360"/>
              </a:tblGrid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Port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Register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mode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0x42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Channel 2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0432FF"/>
                          </a:solidFill>
                          <a:effectLst/>
                          <a:uFillTx/>
                          <a:latin typeface="Arial"/>
                        </a:rPr>
                        <a:t>read/write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5280"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0x43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Control register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68400" rIns="68400" anchor="t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rial"/>
                        </a:rPr>
                        <a:t>only write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C2BD8E95-A508-4B2B-805E-8BA4C0A7EF3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PIT: Control Register (Port 0x43)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4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Writing an 8-bit control word to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control register tells the PIT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next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mode determines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the channel operates and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whether it triggers external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events using its OUT signal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5" name="Table 5"/>
          <p:cNvGraphicFramePr/>
          <p:nvPr/>
        </p:nvGraphicFramePr>
        <p:xfrm>
          <a:off x="3747600" y="1154160"/>
          <a:ext cx="5067720" cy="3666600"/>
        </p:xfrm>
        <a:graphic>
          <a:graphicData uri="http://schemas.openxmlformats.org/drawingml/2006/table">
            <a:tbl>
              <a:tblPr/>
              <a:tblGrid>
                <a:gridCol w="576000"/>
                <a:gridCol w="598680"/>
                <a:gridCol w="3893400"/>
              </a:tblGrid>
              <a:tr h="244440"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Bits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Wert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Bedeutung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rowSpan="5"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6-7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Select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Channel 2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en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11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en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Invalid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rowSpan="5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4-5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Mode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Latch count value command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Low counter byte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High counter byte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First low, then high coutner byte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1-3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Operating Mode (0-5)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rowSpan="3"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 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52560" rIns="52560" anchor="ctr">
                      <a:noAutofit/>
                    </a:bodyPr>
                    <a:p>
                      <a:pPr marL="226800" indent="-226800" algn="ctr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Counter format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Binary counter (16 bit)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444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52560" rIns="52560" anchor="ctr">
                      <a:noAutofit/>
                    </a:bodyPr>
                    <a:p>
                      <a:pPr marL="226800" indent="-226800" algn="just" defTabSz="91440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pos="0" algn="l"/>
                        </a:tabLst>
                      </a:pPr>
                      <a:r>
                        <a:rPr lang="de-DE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BCD counter (four digits)</a:t>
                      </a:r>
                      <a:endParaRPr lang="de-DE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2560" marR="5256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F37EE4C2-D46B-452D-A594-4E9203F942C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 Mode 0: Interrupt On Terminal Count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Counter decrements every 838ns ( 1 s / 1193180 Hz = 838ns)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counter reaches 0, the OUTx signal is set to 1, and an interrupt is triggered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 = Channel number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counter is not automatically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reloaded in mode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8" name="Bild 20"/>
          <p:cNvPicPr/>
          <p:nvPr/>
        </p:nvPicPr>
        <p:blipFill>
          <a:blip r:embed="rId1"/>
          <a:srcRect l="0" t="0" r="7407" b="0"/>
          <a:stretch/>
        </p:blipFill>
        <p:spPr>
          <a:xfrm>
            <a:off x="4151160" y="2089080"/>
            <a:ext cx="4668120" cy="277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9" name="Picture 4"/>
          <p:cNvPicPr/>
          <p:nvPr/>
        </p:nvPicPr>
        <p:blipFill>
          <a:blip r:embed="rId2"/>
          <a:srcRect l="0" t="0" r="0" b="14105"/>
          <a:stretch/>
        </p:blipFill>
        <p:spPr>
          <a:xfrm>
            <a:off x="1907640" y="2878560"/>
            <a:ext cx="1553400" cy="178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0" name="Picture 5"/>
          <p:cNvPicPr/>
          <p:nvPr/>
        </p:nvPicPr>
        <p:blipFill>
          <a:blip r:embed="rId3"/>
          <a:stretch/>
        </p:blipFill>
        <p:spPr>
          <a:xfrm rot="5400000">
            <a:off x="584640" y="3447000"/>
            <a:ext cx="1530720" cy="75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" name=""/>
          <p:cNvSpPr/>
          <p:nvPr/>
        </p:nvSpPr>
        <p:spPr>
          <a:xfrm>
            <a:off x="4788000" y="2125080"/>
            <a:ext cx="8992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Control word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"/>
          <p:cNvSpPr/>
          <p:nvPr/>
        </p:nvSpPr>
        <p:spPr>
          <a:xfrm>
            <a:off x="4140000" y="2453040"/>
            <a:ext cx="7192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negated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368AF647-0EB3-4673-8851-C30DA6A302F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PIT Mode 3: Square Wave Generator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4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Rectangular signal is generated using an internal Flip Flop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 interval is doubled → To compensate, the counter is decremented 2x on each falling edge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Suitable for sound generation (but also system time or preemptive multitasking)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5" name="Picture 1"/>
          <p:cNvPicPr/>
          <p:nvPr/>
        </p:nvPicPr>
        <p:blipFill>
          <a:blip r:embed="rId1"/>
          <a:stretch/>
        </p:blipFill>
        <p:spPr>
          <a:xfrm>
            <a:off x="1979640" y="2179080"/>
            <a:ext cx="5420160" cy="276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6" name=""/>
          <p:cNvSpPr/>
          <p:nvPr/>
        </p:nvSpPr>
        <p:spPr>
          <a:xfrm>
            <a:off x="2628000" y="2232000"/>
            <a:ext cx="8992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Control word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"/>
          <p:cNvSpPr/>
          <p:nvPr/>
        </p:nvSpPr>
        <p:spPr>
          <a:xfrm>
            <a:off x="1980000" y="2489400"/>
            <a:ext cx="7192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9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</a:rPr>
              <a:t>negated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5D5A69DC-A188-450C-A8FF-377FCE04DC6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PC Speaker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Programmable via IO-Ports using assembly commands: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out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 needs to be configured via the control register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Control word 0xB6 equals 1011 0110 in binary and means: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Channel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mode: First low counter byte,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then high counter byte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Operating mode 3 (square wave)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Binary counter mode (not BCD)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Write start value for counter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AutoNum type="arabicParenR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Turn on the PC speaker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via the Peripheral Port Interface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(PPI 8255, IO-Port 0x61)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0" name=""/>
          <p:cNvPicPr/>
          <p:nvPr/>
        </p:nvPicPr>
        <p:blipFill>
          <a:blip r:embed="rId1"/>
          <a:stretch/>
        </p:blipFill>
        <p:spPr>
          <a:xfrm>
            <a:off x="3988800" y="2196000"/>
            <a:ext cx="4973760" cy="257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9D3AD2C5-AF9F-41EB-9CC8-5288B1E3B04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 code in Rust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Box 1"/>
          <p:cNvSpPr/>
          <p:nvPr/>
        </p:nvSpPr>
        <p:spPr>
          <a:xfrm>
            <a:off x="520560" y="1018440"/>
            <a:ext cx="8264520" cy="40568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PORT_CTRL: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0x43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PORT_DATA0: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0x40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PORT_DATA2: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0x42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const PORT_PPI: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u16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 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0x61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pub fn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play(frequency: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u32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 {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357D22"/>
                </a:solidFill>
                <a:effectLst/>
                <a:uFillTx/>
                <a:latin typeface="Consolas"/>
                <a:ea typeface="Times New Roman"/>
              </a:rPr>
              <a:t>// Tone frequency in Hz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const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base_freq   =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1193180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;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1.19 MHz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let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counter       = base_freq / frequency;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let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status: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unsafe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cpu::outb(PORT_CTRL,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0xb6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Configure channel 2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cpu::outb(PORT_DATA2, (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counter &amp;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256) </a:t>
            </a: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as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Load channel 2 (low byte)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cpu::outb(PORT_DATA2, (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counter &gt;&gt;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8) </a:t>
            </a: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as </a:t>
            </a:r>
            <a:r>
              <a:rPr lang="de-DE" sz="1300" b="0" u="none" strike="noStrike">
                <a:solidFill>
                  <a:srgbClr val="B21889"/>
                </a:solidFill>
                <a:effectLst/>
                <a:uFillTx/>
                <a:latin typeface="Consolas"/>
                <a:ea typeface="Times New Roman"/>
              </a:rPr>
              <a:t>u8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);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Load channel 2 (high byte)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Times New Roman"/>
              </a:rPr>
              <a:t> 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        // Turn on PC speaker via PPI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Times New Roman"/>
              </a:rPr>
              <a:t>     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status = cpu::inb(PORT_PPI);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Read PPI status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       cpu::outb( status | </a:t>
            </a:r>
            <a:r>
              <a:rPr lang="de-DE" sz="1300" b="0" u="none" strike="noStrike">
                <a:solidFill>
                  <a:srgbClr val="786DC4"/>
                </a:solidFill>
                <a:effectLst/>
                <a:uFillTx/>
                <a:latin typeface="Consolas"/>
                <a:ea typeface="Times New Roman"/>
              </a:rPr>
              <a:t>3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 );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	</a:t>
            </a: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// Turn on PC speaker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Times New Roman"/>
              </a:rPr>
              <a:t>    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" defTabSz="686160">
              <a:lnSpc>
                <a:spcPct val="100000"/>
              </a:lnSpc>
            </a:pP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Times New Roman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18C45162-95E2-41A8-86FA-5E91A8EDB213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880" cy="45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Why Rust?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4" name="Inhaltsplatzhalter 7"/>
          <p:cNvSpPr/>
          <p:nvPr/>
        </p:nvSpPr>
        <p:spPr>
          <a:xfrm>
            <a:off x="521640" y="1206720"/>
            <a:ext cx="8094600" cy="37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 safe modern und fast programming language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Offers compile time garbage collection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null pointers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„broken“ pointers (unless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unsafe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used)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by Microsoft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https://msrc.microsoft.com/blog/2019/07/why-rust-for-safe-systems-programming/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2"/>
              </a:rPr>
              <a:t>https://msrc.microsoft.com/blog/2019/07/we-need-a-safer-systems-programming-language/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Linux allows writing kernel modules in Rust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3"/>
              </a:rPr>
              <a:t>https://www.heise.de/news/Rust-Code-im-Linux-Kernel-Merge-steht-laut-Linus-Torvalds-ab-Linux-5-20-bevor-7154453.html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39FB5F18-ADEB-4553-88AA-85E0EC293FC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8165</TotalTime>
  <Application>LibreOffice/26.2.2.2$Linux_X86_64 LibreOffice_project/42d76a33568d9a37e1fc00c3228d3881e2f8df73</Application>
  <AppVersion>15.0000</AppVersion>
  <Words>1521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2026-04-13T14:27:03Z</cp:lastPrinted>
  <dcterms:modified xsi:type="dcterms:W3CDTF">2026-04-13T14:27:26Z</dcterms:modified>
  <cp:revision>927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