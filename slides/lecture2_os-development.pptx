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3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5.wmf" ContentType="image/x-wmf"/>
  <Override PartName="/ppt/media/image6.wmf" ContentType="image/x-wmf"/>
  <Override PartName="/ppt/media/image4.wmf" ContentType="image/x-wmf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3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PlaceHolder 4"/>
          <p:cNvSpPr>
            <a:spLocks noGrp="1"/>
          </p:cNvSpPr>
          <p:nvPr>
            <p:ph type="dt" idx="5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PlaceHolder 5"/>
          <p:cNvSpPr>
            <a:spLocks noGrp="1"/>
          </p:cNvSpPr>
          <p:nvPr>
            <p:ph type="ftr" idx="5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PlaceHolder 6"/>
          <p:cNvSpPr>
            <a:spLocks noGrp="1"/>
          </p:cNvSpPr>
          <p:nvPr>
            <p:ph type="sldNum" idx="5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F32D9C-151F-40F3-941D-8205B62107EE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480" cy="3084840"/>
          </a:xfrm>
          <a:prstGeom prst="rect">
            <a:avLst/>
          </a:prstGeom>
          <a:ln w="0">
            <a:noFill/>
          </a:ln>
        </p:spPr>
      </p:sp>
      <p:sp>
        <p:nvSpPr>
          <p:cNvPr id="1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560" cy="3490920"/>
          </a:xfrm>
          <a:custGeom>
            <a:avLst/>
            <a:gdLst>
              <a:gd name="textAreaLeft" fmla="*/ 0 w 3166560"/>
              <a:gd name="textAreaRight" fmla="*/ 3168000 w 3166560"/>
              <a:gd name="textAreaTop" fmla="*/ 0 h 3490920"/>
              <a:gd name="textAreaBottom" fmla="*/ 3492360 h 349092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399560" cy="10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160" cy="298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560" cy="3490920"/>
          </a:xfrm>
          <a:custGeom>
            <a:avLst/>
            <a:gdLst>
              <a:gd name="textAreaLeft" fmla="*/ 0 w 3166560"/>
              <a:gd name="textAreaRight" fmla="*/ 3168000 w 3166560"/>
              <a:gd name="textAreaTop" fmla="*/ 0 h 3490920"/>
              <a:gd name="textAreaBottom" fmla="*/ 3492360 h 349092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8280" cy="5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8280" cy="110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5240" cy="110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1520" cy="382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8880" cy="118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6560" cy="382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596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2240" cy="56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6760" cy="582120"/>
            <a:chOff x="522720" y="385200"/>
            <a:chExt cx="1526760" cy="58212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560" cy="141840"/>
            </a:xfrm>
            <a:custGeom>
              <a:avLst/>
              <a:gdLst>
                <a:gd name="textAreaLeft" fmla="*/ 0 w 160560"/>
                <a:gd name="textAreaRight" fmla="*/ 162000 w 160560"/>
                <a:gd name="textAreaTop" fmla="*/ 0 h 141840"/>
                <a:gd name="textAreaBottom" fmla="*/ 143280 h 14184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280" tIns="45000" rIns="8028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120" cy="39600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396000"/>
                <a:gd name="textAreaBottom" fmla="*/ 397440 h 39600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120" cy="512280"/>
            </a:xfrm>
            <a:custGeom>
              <a:avLst/>
              <a:gdLst>
                <a:gd name="textAreaLeft" fmla="*/ 0 w 393120"/>
                <a:gd name="textAreaRight" fmla="*/ 394560 w 393120"/>
                <a:gd name="textAreaTop" fmla="*/ 0 h 512280"/>
                <a:gd name="textAreaBottom" fmla="*/ 513720 h 51228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6920" cy="239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1560" cy="239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B37A64F-7CF1-40C6-BE72-4C8611BE28B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964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30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8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9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310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311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0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321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3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325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7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0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331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5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42CAF30-7320-4BEC-AA28-832CB0E061C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200" cy="3422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000" cy="34228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34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34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34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35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36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36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2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73" name="Gruppieren 52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374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37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379" name="Freihandform: Form 35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36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Freihandform: Form 37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38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39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40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5" name="Freihandform: Form 17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Freihandform: Form 18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Freihandform: Form 19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8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389" name="Freihandform: Form 33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4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1" name="Freihandform: Form 21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393" name="Freihandform: Form 31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Freihandform: Form 32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5" name="Freihandform: Form 23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24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Freihandform: Form 25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399" name="Freihandform: Form 27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Freihandform: Form 28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Freihandform: Form 29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30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3" name="Grafik 11"/>
          <p:cNvSpPr/>
          <p:nvPr/>
        </p:nvSpPr>
        <p:spPr>
          <a:xfrm>
            <a:off x="0" y="0"/>
            <a:ext cx="3730680" cy="4913640"/>
          </a:xfrm>
          <a:custGeom>
            <a:avLst/>
            <a:gdLst>
              <a:gd name="textAreaLeft" fmla="*/ 0 w 3730680"/>
              <a:gd name="textAreaRight" fmla="*/ 3732120 w 3730680"/>
              <a:gd name="textAreaTop" fmla="*/ 0 h 4913640"/>
              <a:gd name="textAreaBottom" fmla="*/ 4915080 h 491364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08593B5-CA08-456F-A16F-5862E2057FF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792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07" name="Gerader Verbinder 45"/>
          <p:cNvCxnSpPr/>
          <p:nvPr/>
        </p:nvCxnSpPr>
        <p:spPr>
          <a:xfrm>
            <a:off x="4464000" y="974520"/>
            <a:ext cx="289080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08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52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692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411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4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5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416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417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3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6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427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9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0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431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3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6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437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1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43F0E98-F713-49BA-ADB2-905C08A55A4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20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52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12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12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45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3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4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455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456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2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5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466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8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9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470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1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2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5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476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0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12D04C6-908E-43F0-9114-083C66F97C9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892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487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90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91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492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493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9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503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6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507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8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9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2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513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7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C700B5A-AF30-46FD-8C30-1598A6DA12D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48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892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52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28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9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530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531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7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0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541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3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4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545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7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9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0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551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55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EEC21DB-2198-45DC-81F8-427E4FE1B4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48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892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563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66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6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56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569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579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1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583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5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589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3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4F9474E-14FE-4F43-BFE5-0F0820494DC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200" cy="163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200" cy="163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200" cy="163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000" cy="163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60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0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60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60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61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62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62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32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F427854-5A60-4D20-9BA2-8C694C0456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20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00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64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43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44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645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646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656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8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9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660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2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5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666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70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2FBDD24-BD52-4102-A8DC-7DB36A577CC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692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00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678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9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1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82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683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684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0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3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694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6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7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698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0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3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704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6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8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81B483F-6CCB-4DED-85EA-DA5E9B585CC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714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7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8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719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720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6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9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730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2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734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9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740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4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99A70AC-CC9E-4D94-A6E2-C7D514DE653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064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156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00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753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6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5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75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759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5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6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7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769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1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773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779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1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3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84" name="Gruppieren 53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785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7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8" name="PlaceHolder 1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F684019-3C41-40E0-8E60-BBA5B769C8B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628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91" name="Gerader Verbinder 46"/>
          <p:cNvCxnSpPr/>
          <p:nvPr/>
        </p:nvCxnSpPr>
        <p:spPr>
          <a:xfrm>
            <a:off x="4625640" y="974520"/>
            <a:ext cx="272916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92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5720" cy="4913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360" cy="3486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5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795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796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797" name="Freihandform: Form 68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69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Freihandform: Form 70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0" name="Freihandform: Form 71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72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73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3" name="Freihandform: Form 45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Freihandform: Form 4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Freihandform: Form 4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6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807" name="Freihandform: Form 66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ihandform: Form 67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9" name="Freihandform: Form 50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0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811" name="Freihandform: Form 6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Freihandform: Form 6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Freihandform: Form 52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Freihandform: Form 5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Freihandform: Form 5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6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817" name="Freihandform: Form 6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6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6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6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82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2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2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82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82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83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84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84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2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53" name="Gruppieren 54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854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7" name="PlaceHolder 1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F5CC1EA-A38A-49E8-B782-F89C3C72E53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628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860" name="Gerader Verbinder 47"/>
          <p:cNvCxnSpPr/>
          <p:nvPr/>
        </p:nvCxnSpPr>
        <p:spPr>
          <a:xfrm>
            <a:off x="4625640" y="974520"/>
            <a:ext cx="272916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86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4640" cy="242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4640" cy="2419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8880" cy="3486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88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5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866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867" name="Freihandform: Form 69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ihandform: Form 70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Freihandform: Form 71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0" name="Freihandform: Form 72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73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74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3" name="Freihandform: Form 45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Freihandform: Form 46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Freihandform: Form 49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6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877" name="Freihandform: Form 67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68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9" name="Freihandform: Form 51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881" name="Freihandform: Form 65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66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53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Freihandform: Form 58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Freihandform: Form 59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6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887" name="Freihandform: Form 61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ihandform: Form 62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Freihandform: Form 63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Freihandform: Form 64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89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9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9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89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89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90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91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91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2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0A6A0D6-1B1E-4F9F-A30A-44D06CB692D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320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320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93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33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34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935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936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9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0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2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3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4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5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946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8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950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956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60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B230E2A-0910-4D75-8C14-38A40F62C8A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756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764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6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756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8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969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72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73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974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975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7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8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1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3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985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8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989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0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1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4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995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9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1261CE7-1A8D-4DC7-BEE4-5B1991BBEC8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256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006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09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0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011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012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8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9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0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1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022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4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5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026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8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9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1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032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6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0902BC9-6FC4-49AB-8B09-E8C0B3F7AE8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0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041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44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45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046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047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3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6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057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9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0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061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2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3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6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067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71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73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2B12F72-DC08-4793-9EEC-8106CA09C76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9640" cy="331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9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078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0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81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82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083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084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0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3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094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6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7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098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0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3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104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8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9" name="PlaceHolder 1"/>
          <p:cNvSpPr>
            <a:spLocks noGrp="1"/>
          </p:cNvSpPr>
          <p:nvPr>
            <p:ph type="ftr" idx="4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PlaceHolder 2"/>
          <p:cNvSpPr>
            <a:spLocks noGrp="1"/>
          </p:cNvSpPr>
          <p:nvPr>
            <p:ph type="sldNum" idx="46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38E272E-F7CE-4305-92F2-CC251D5934B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1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112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15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1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11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118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4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128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0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132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4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138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2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3" name="Gruppieren 49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144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280" cy="91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48" name="Grafik 11"/>
          <p:cNvSpPr/>
          <p:nvPr/>
        </p:nvSpPr>
        <p:spPr>
          <a:xfrm>
            <a:off x="0" y="0"/>
            <a:ext cx="3730680" cy="4913640"/>
          </a:xfrm>
          <a:custGeom>
            <a:avLst/>
            <a:gdLst>
              <a:gd name="textAreaLeft" fmla="*/ 0 w 3730680"/>
              <a:gd name="textAreaRight" fmla="*/ 3732120 w 3730680"/>
              <a:gd name="textAreaTop" fmla="*/ 0 h 4913640"/>
              <a:gd name="textAreaBottom" fmla="*/ 4915080 h 491364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 type="ftr" idx="4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48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0EB27E3-FF68-4215-8430-1045C7DFF16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51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152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153" name="Freihandform: Form 65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66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67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Freihandform: Form 68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Freihandform: Form 69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70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9" name="Freihandform: Form 43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Freihandform: Form 44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Freihandform: Form 45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2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163" name="Freihandform: Form 63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Freihandform: Form 64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5" name="Freihandform: Form 47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6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167" name="Freihandform: Form 61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62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9" name="Freihandform: Form 53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Freihandform: Form 54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Freihandform: Form 55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2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173" name="Freihandform: Form 57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58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59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Freihandform: Form 60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178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81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82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183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184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6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0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3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194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6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7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198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0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3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204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5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7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08" name="Freihandform: Form 44" hidden="1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09" name="Gruppieren 49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21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280" cy="91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14" name="PlaceHolder 2"/>
          <p:cNvSpPr>
            <a:spLocks noGrp="1"/>
          </p:cNvSpPr>
          <p:nvPr>
            <p:ph type="ftr" idx="4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50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7F1CBC0-6E92-4180-BD0B-914112BF86C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16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217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218" name="Freihandform: Form 65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Freihandform: Form 66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Freihandform: Form 67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68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69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70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43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44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Freihandform: Form 45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7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228" name="Freihandform: Form 63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64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0" name="Freihandform: Form 47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232" name="Freihandform: Form 61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62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4" name="Freihandform: Form 53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5" name="Freihandform: Form 54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Freihandform: Form 55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7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238" name="Freihandform: Form 57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Freihandform: Form 58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Freihandform: Form 59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Freihandform: Form 60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7FE00EE-8738-483E-A4C8-AB19A3EE389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4360" cy="3490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4960" cy="349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9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280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2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3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4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285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286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2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4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5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296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8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9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300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1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2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4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5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306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9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10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463B9D7-3061-46BC-8A6F-0A2E2ACC676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F1FDFB1-787F-4325-B4FD-74EB2187CCF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5" name="Gruppieren 6"/>
          <p:cNvGrpSpPr/>
          <p:nvPr/>
        </p:nvGrpSpPr>
        <p:grpSpPr>
          <a:xfrm>
            <a:off x="-5040" y="4950720"/>
            <a:ext cx="9147600" cy="196560"/>
            <a:chOff x="-5040" y="4950720"/>
            <a:chExt cx="9147600" cy="196560"/>
          </a:xfrm>
        </p:grpSpPr>
        <p:sp>
          <p:nvSpPr>
            <p:cNvPr id="1316" name="bk object 18"/>
            <p:cNvSpPr/>
            <p:nvPr/>
          </p:nvSpPr>
          <p:spPr>
            <a:xfrm>
              <a:off x="-5040" y="4950720"/>
              <a:ext cx="483480" cy="196560"/>
            </a:xfrm>
            <a:custGeom>
              <a:avLst/>
              <a:gdLst>
                <a:gd name="textAreaLeft" fmla="*/ 0 w 483480"/>
                <a:gd name="textAreaRight" fmla="*/ 484920 w 48348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7" name="bk object 18"/>
            <p:cNvSpPr/>
            <p:nvPr/>
          </p:nvSpPr>
          <p:spPr>
            <a:xfrm>
              <a:off x="522360" y="4950720"/>
              <a:ext cx="8620200" cy="196560"/>
            </a:xfrm>
            <a:custGeom>
              <a:avLst/>
              <a:gdLst>
                <a:gd name="textAreaLeft" fmla="*/ 0 w 8620200"/>
                <a:gd name="textAreaRight" fmla="*/ 8621640 w 8620200"/>
                <a:gd name="textAreaTop" fmla="*/ 0 h 196560"/>
                <a:gd name="textAreaBottom" fmla="*/ 19800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8" name="Holder 3"/>
            <p:cNvSpPr/>
            <p:nvPr/>
          </p:nvSpPr>
          <p:spPr>
            <a:xfrm>
              <a:off x="8194680" y="4966200"/>
              <a:ext cx="44820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19" name="Gerader Verbinder 11"/>
          <p:cNvCxnSpPr/>
          <p:nvPr/>
        </p:nvCxnSpPr>
        <p:spPr>
          <a:xfrm>
            <a:off x="521280" y="974520"/>
            <a:ext cx="6833520" cy="144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20" name="Grafik 9"/>
          <p:cNvGrpSpPr/>
          <p:nvPr/>
        </p:nvGrpSpPr>
        <p:grpSpPr>
          <a:xfrm>
            <a:off x="7741440" y="394200"/>
            <a:ext cx="1048680" cy="619560"/>
            <a:chOff x="7741440" y="394200"/>
            <a:chExt cx="1048680" cy="619560"/>
          </a:xfrm>
        </p:grpSpPr>
        <p:grpSp>
          <p:nvGrpSpPr>
            <p:cNvPr id="1321" name="Grafik 9"/>
            <p:cNvGrpSpPr/>
            <p:nvPr/>
          </p:nvGrpSpPr>
          <p:grpSpPr>
            <a:xfrm>
              <a:off x="7741440" y="394200"/>
              <a:ext cx="883440" cy="430920"/>
              <a:chOff x="7741440" y="394200"/>
              <a:chExt cx="883440" cy="430920"/>
            </a:xfrm>
          </p:grpSpPr>
          <p:sp>
            <p:nvSpPr>
              <p:cNvPr id="1322" name="Freihandform: Form 20"/>
              <p:cNvSpPr/>
              <p:nvPr/>
            </p:nvSpPr>
            <p:spPr>
              <a:xfrm>
                <a:off x="8358120" y="480600"/>
                <a:ext cx="266760" cy="26712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267120"/>
                  <a:gd name="textAreaBottom" fmla="*/ 268560 h 26712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3" name="Freihandform: Form 21"/>
              <p:cNvSpPr/>
              <p:nvPr/>
            </p:nvSpPr>
            <p:spPr>
              <a:xfrm>
                <a:off x="774144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Freihandform: Form 22"/>
              <p:cNvSpPr/>
              <p:nvPr/>
            </p:nvSpPr>
            <p:spPr>
              <a:xfrm>
                <a:off x="8050680" y="394200"/>
                <a:ext cx="266760" cy="347040"/>
              </a:xfrm>
              <a:custGeom>
                <a:avLst/>
                <a:gdLst>
                  <a:gd name="textAreaLeft" fmla="*/ 0 w 266760"/>
                  <a:gd name="textAreaRight" fmla="*/ 268200 w 266760"/>
                  <a:gd name="textAreaTop" fmla="*/ 0 h 347040"/>
                  <a:gd name="textAreaBottom" fmla="*/ 348480 h 34704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Freihandform: Form 23"/>
              <p:cNvSpPr/>
              <p:nvPr/>
            </p:nvSpPr>
            <p:spPr>
              <a:xfrm>
                <a:off x="784800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Freihandform: Form 24"/>
              <p:cNvSpPr/>
              <p:nvPr/>
            </p:nvSpPr>
            <p:spPr>
              <a:xfrm>
                <a:off x="795816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Freihandform: Form 25"/>
              <p:cNvSpPr/>
              <p:nvPr/>
            </p:nvSpPr>
            <p:spPr>
              <a:xfrm>
                <a:off x="8212320" y="817560"/>
                <a:ext cx="7560" cy="7560"/>
              </a:xfrm>
              <a:custGeom>
                <a:avLst/>
                <a:gdLst>
                  <a:gd name="textAreaLeft" fmla="*/ 0 w 7560"/>
                  <a:gd name="textAreaRight" fmla="*/ 9000 w 7560"/>
                  <a:gd name="textAreaTop" fmla="*/ 0 h 7560"/>
                  <a:gd name="textAreaBottom" fmla="*/ 9000 h 756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28" name="Freihandform: Form 26"/>
            <p:cNvSpPr/>
            <p:nvPr/>
          </p:nvSpPr>
          <p:spPr>
            <a:xfrm>
              <a:off x="774144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9" name="Freihandform: Form 27"/>
            <p:cNvSpPr/>
            <p:nvPr/>
          </p:nvSpPr>
          <p:spPr>
            <a:xfrm>
              <a:off x="779976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Freihandform: Form 28"/>
            <p:cNvSpPr/>
            <p:nvPr/>
          </p:nvSpPr>
          <p:spPr>
            <a:xfrm>
              <a:off x="784908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1" name="Grafik 9"/>
            <p:cNvGrpSpPr/>
            <p:nvPr/>
          </p:nvGrpSpPr>
          <p:grpSpPr>
            <a:xfrm>
              <a:off x="7872120" y="834120"/>
              <a:ext cx="73800" cy="40320"/>
              <a:chOff x="7872120" y="834120"/>
              <a:chExt cx="73800" cy="40320"/>
            </a:xfrm>
          </p:grpSpPr>
          <p:sp>
            <p:nvSpPr>
              <p:cNvPr id="1332" name="Freihandform: Form 30"/>
              <p:cNvSpPr/>
              <p:nvPr/>
            </p:nvSpPr>
            <p:spPr>
              <a:xfrm>
                <a:off x="787212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Freihandform: Form 31"/>
              <p:cNvSpPr/>
              <p:nvPr/>
            </p:nvSpPr>
            <p:spPr>
              <a:xfrm>
                <a:off x="7922160" y="834120"/>
                <a:ext cx="23760" cy="40320"/>
              </a:xfrm>
              <a:custGeom>
                <a:avLst/>
                <a:gdLst>
                  <a:gd name="textAreaLeft" fmla="*/ 0 w 23760"/>
                  <a:gd name="textAreaRight" fmla="*/ 25200 w 23760"/>
                  <a:gd name="textAreaTop" fmla="*/ 0 h 40320"/>
                  <a:gd name="textAreaBottom" fmla="*/ 41760 h 4032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880" tIns="-3240" rIns="1188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4" name="Freihandform: Form 32"/>
            <p:cNvSpPr/>
            <p:nvPr/>
          </p:nvSpPr>
          <p:spPr>
            <a:xfrm>
              <a:off x="795924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5" name="Grafik 9"/>
            <p:cNvGrpSpPr/>
            <p:nvPr/>
          </p:nvGrpSpPr>
          <p:grpSpPr>
            <a:xfrm>
              <a:off x="7979760" y="812160"/>
              <a:ext cx="77760" cy="64080"/>
              <a:chOff x="7979760" y="812160"/>
              <a:chExt cx="77760" cy="64080"/>
            </a:xfrm>
          </p:grpSpPr>
          <p:sp>
            <p:nvSpPr>
              <p:cNvPr id="1336" name="Freihandform: Form 34"/>
              <p:cNvSpPr/>
              <p:nvPr/>
            </p:nvSpPr>
            <p:spPr>
              <a:xfrm>
                <a:off x="7979760" y="834120"/>
                <a:ext cx="33120" cy="421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2120"/>
                  <a:gd name="textAreaBottom" fmla="*/ 43560 h 4212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1440" rIns="1656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Freihandform: Form 35"/>
              <p:cNvSpPr/>
              <p:nvPr/>
            </p:nvSpPr>
            <p:spPr>
              <a:xfrm>
                <a:off x="8024400" y="812160"/>
                <a:ext cx="33120" cy="619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61920"/>
                  <a:gd name="textAreaBottom" fmla="*/ 63360 h 6192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18360" rIns="1656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8" name="Freihandform: Form 36"/>
            <p:cNvSpPr/>
            <p:nvPr/>
          </p:nvSpPr>
          <p:spPr>
            <a:xfrm>
              <a:off x="8106480" y="817920"/>
              <a:ext cx="42120" cy="56520"/>
            </a:xfrm>
            <a:custGeom>
              <a:avLst/>
              <a:gdLst>
                <a:gd name="textAreaLeft" fmla="*/ 0 w 42120"/>
                <a:gd name="textAreaRight" fmla="*/ 43560 w 42120"/>
                <a:gd name="textAreaTop" fmla="*/ 0 h 56520"/>
                <a:gd name="textAreaBottom" fmla="*/ 57960 h 5652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Freihandform: Form 37"/>
            <p:cNvSpPr/>
            <p:nvPr/>
          </p:nvSpPr>
          <p:spPr>
            <a:xfrm>
              <a:off x="8164800" y="834120"/>
              <a:ext cx="34920" cy="42120"/>
            </a:xfrm>
            <a:custGeom>
              <a:avLst/>
              <a:gdLst>
                <a:gd name="textAreaLeft" fmla="*/ 0 w 34920"/>
                <a:gd name="textAreaRight" fmla="*/ 36360 w 34920"/>
                <a:gd name="textAreaTop" fmla="*/ 0 h 42120"/>
                <a:gd name="textAreaBottom" fmla="*/ 43560 h 4212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Freihandform: Form 38"/>
            <p:cNvSpPr/>
            <p:nvPr/>
          </p:nvSpPr>
          <p:spPr>
            <a:xfrm>
              <a:off x="8213400" y="835200"/>
              <a:ext cx="5760" cy="38520"/>
            </a:xfrm>
            <a:custGeom>
              <a:avLst/>
              <a:gdLst>
                <a:gd name="textAreaLeft" fmla="*/ 0 w 5760"/>
                <a:gd name="textAreaRight" fmla="*/ 7200 w 5760"/>
                <a:gd name="textAreaTop" fmla="*/ 0 h 38520"/>
                <a:gd name="textAreaBottom" fmla="*/ 39960 h 3852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880" tIns="-5040" rIns="288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1" name="Grafik 9"/>
            <p:cNvGrpSpPr/>
            <p:nvPr/>
          </p:nvGrpSpPr>
          <p:grpSpPr>
            <a:xfrm>
              <a:off x="7741440" y="834120"/>
              <a:ext cx="1048680" cy="179640"/>
              <a:chOff x="7741440" y="834120"/>
              <a:chExt cx="1048680" cy="179640"/>
            </a:xfrm>
          </p:grpSpPr>
          <p:sp>
            <p:nvSpPr>
              <p:cNvPr id="1342" name="Freihandform: Form 40"/>
              <p:cNvSpPr/>
              <p:nvPr/>
            </p:nvSpPr>
            <p:spPr>
              <a:xfrm>
                <a:off x="8236440" y="834120"/>
                <a:ext cx="33120" cy="40320"/>
              </a:xfrm>
              <a:custGeom>
                <a:avLst/>
                <a:gdLst>
                  <a:gd name="textAreaLeft" fmla="*/ 0 w 33120"/>
                  <a:gd name="textAreaRight" fmla="*/ 34560 w 33120"/>
                  <a:gd name="textAreaTop" fmla="*/ 0 h 40320"/>
                  <a:gd name="textAreaBottom" fmla="*/ 41760 h 4032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560" tIns="-3240" rIns="1656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Freihandform: Form 41"/>
              <p:cNvSpPr/>
              <p:nvPr/>
            </p:nvSpPr>
            <p:spPr>
              <a:xfrm>
                <a:off x="8284680" y="834120"/>
                <a:ext cx="34920" cy="42120"/>
              </a:xfrm>
              <a:custGeom>
                <a:avLst/>
                <a:gdLst>
                  <a:gd name="textAreaLeft" fmla="*/ 0 w 34920"/>
                  <a:gd name="textAreaRight" fmla="*/ 36360 w 34920"/>
                  <a:gd name="textAreaTop" fmla="*/ 0 h 42120"/>
                  <a:gd name="textAreaBottom" fmla="*/ 43560 h 4212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4" name="Freihandform: Form 42"/>
              <p:cNvSpPr/>
              <p:nvPr/>
            </p:nvSpPr>
            <p:spPr>
              <a:xfrm>
                <a:off x="7741440" y="914040"/>
                <a:ext cx="883080" cy="61920"/>
              </a:xfrm>
              <a:custGeom>
                <a:avLst/>
                <a:gdLst>
                  <a:gd name="textAreaLeft" fmla="*/ 0 w 883080"/>
                  <a:gd name="textAreaRight" fmla="*/ 884520 w 883080"/>
                  <a:gd name="textAreaTop" fmla="*/ 0 h 61920"/>
                  <a:gd name="textAreaBottom" fmla="*/ 63360 h 6192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Freihandform: Form 43"/>
              <p:cNvSpPr/>
              <p:nvPr/>
            </p:nvSpPr>
            <p:spPr>
              <a:xfrm>
                <a:off x="8677440" y="915480"/>
                <a:ext cx="112680" cy="98280"/>
              </a:xfrm>
              <a:custGeom>
                <a:avLst/>
                <a:gdLst>
                  <a:gd name="textAreaLeft" fmla="*/ 0 w 112680"/>
                  <a:gd name="textAreaRight" fmla="*/ 114120 w 112680"/>
                  <a:gd name="textAreaTop" fmla="*/ 0 h 98280"/>
                  <a:gd name="textAreaBottom" fmla="*/ 99720 h 9828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46" name="Freihandform: Form 44"/>
          <p:cNvSpPr/>
          <p:nvPr/>
        </p:nvSpPr>
        <p:spPr>
          <a:xfrm>
            <a:off x="-5040" y="407880"/>
            <a:ext cx="335880" cy="293400"/>
          </a:xfrm>
          <a:custGeom>
            <a:avLst/>
            <a:gdLst>
              <a:gd name="textAreaLeft" fmla="*/ 0 w 335880"/>
              <a:gd name="textAreaRight" fmla="*/ 337320 w 335880"/>
              <a:gd name="textAreaTop" fmla="*/ 0 h 293400"/>
              <a:gd name="textAreaBottom" fmla="*/ 294840 h 29340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1"/>
          <p:cNvSpPr>
            <a:spLocks noGrp="1"/>
          </p:cNvSpPr>
          <p:nvPr>
            <p:ph type="ftr" idx="5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PlaceHolder 2"/>
          <p:cNvSpPr>
            <a:spLocks noGrp="1"/>
          </p:cNvSpPr>
          <p:nvPr>
            <p:ph type="sldNum" idx="56"/>
          </p:nvPr>
        </p:nvSpPr>
        <p:spPr>
          <a:xfrm>
            <a:off x="35640" y="4975560"/>
            <a:ext cx="33588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434C08C-91AA-4409-A388-1D721A3AF96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4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0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30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0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github.com/hhuOS/towboot" TargetMode="External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0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30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948560" cy="10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560" cy="6033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Classification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Compiling and Linking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Boot process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Debugging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2" name="Rounded Rectangle 1"/>
          <p:cNvSpPr/>
          <p:nvPr/>
        </p:nvSpPr>
        <p:spPr>
          <a:xfrm>
            <a:off x="372960" y="1146240"/>
            <a:ext cx="3261600" cy="4194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614994B-04AB-4375-A042-78CB072FE149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 (often a struggle)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4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2.1 Classification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First steps: How to bring your OS to the target hardware?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Boot process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Testing and Debugging: What to do in case the system is stuck?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„println()“ debugging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Emulation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Debugger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Remote debugger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support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0979136E-62CB-4C6C-A546-E0DA5B6A316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Classification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Compiling and Linking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Boot process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Debugging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9" name="Rounded Rectangle 1"/>
          <p:cNvSpPr/>
          <p:nvPr/>
        </p:nvSpPr>
        <p:spPr>
          <a:xfrm>
            <a:off x="372960" y="1762560"/>
            <a:ext cx="3261600" cy="4507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B4D25D42-B735-44F0-8CB6-C6005AD1D77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Compiling – Hello, World?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2.2 Compiling and Linking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Assumption: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development environment runs on Linux, macOS or Windows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target system is a x86_64 system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Does this program also run on directly on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naked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hardware?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an operating system even be developed in a high-level language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Box 3"/>
          <p:cNvSpPr/>
          <p:nvPr/>
        </p:nvSpPr>
        <p:spPr>
          <a:xfrm>
            <a:off x="537120" y="1350720"/>
            <a:ext cx="5329440" cy="82944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600" b="0" u="none" strike="noStrike">
                <a:solidFill>
                  <a:srgbClr val="0000FF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fn</a:t>
            </a:r>
            <a:r>
              <a:rPr lang="en-GB" sz="16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 main() {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   println</a:t>
            </a:r>
            <a:r>
              <a:rPr lang="en-GB" sz="1600" b="0" u="none" strike="noStrike">
                <a:solidFill>
                  <a:srgbClr val="0000FF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!</a:t>
            </a:r>
            <a:r>
              <a:rPr lang="en-GB" sz="16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(</a:t>
            </a:r>
            <a:r>
              <a:rPr lang="en-GB" sz="1600" b="0" u="none" strike="noStrike">
                <a:solidFill>
                  <a:srgbClr val="A31515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"hello world"</a:t>
            </a:r>
            <a:r>
              <a:rPr lang="en-GB" sz="16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);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}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TextBox 5"/>
          <p:cNvSpPr/>
          <p:nvPr/>
        </p:nvSpPr>
        <p:spPr>
          <a:xfrm>
            <a:off x="537120" y="2359080"/>
            <a:ext cx="5329440" cy="737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FA00"/>
                </a:solidFill>
                <a:effectLst/>
                <a:uFillTx/>
                <a:latin typeface="Consolas"/>
              </a:rPr>
              <a:t>$ rustc hello.rs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FA00"/>
                </a:solidFill>
                <a:effectLst/>
                <a:uFillTx/>
                <a:latin typeface="Consolas"/>
              </a:rPr>
              <a:t>$ ./hello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FA00"/>
                </a:solidFill>
                <a:effectLst/>
                <a:uFillTx/>
                <a:latin typeface="Consolas"/>
              </a:rPr>
              <a:t>hello world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1231540-AEBF-4DFD-9271-280472F087B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Compiling: Problems and Solutions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2.2 Compiling and Linking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44164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dynamic linking available → All required libraries must be linked statically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Runtime environment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expects OS functions for threads, memory management, network, etc.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Cannot be used, as well as other libraires (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crates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requiring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std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But we can use the Rust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core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crate (and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alloc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once we have implemented a heap allocator)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All generated addresses are referring to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virtual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cannot use the linker’s default settings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need a special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linker file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with our configuration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High-level code has requirements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Address translation, Runtime environment, Stack, ...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Separate startup code has to prepare the execution of high-level language code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864FF0E5-447B-4463-80EF-D35AB797856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9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Classification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Compiling and Linking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Boot process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Debugging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1" name="Rounded Rectangle 1"/>
          <p:cNvSpPr/>
          <p:nvPr/>
        </p:nvSpPr>
        <p:spPr>
          <a:xfrm>
            <a:off x="372960" y="2338560"/>
            <a:ext cx="3261600" cy="4507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241C902A-7D4B-4BCF-8FC3-A23686F8BAB5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Bootstrapping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Bootstrapping: A simple system starts a more complex 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Name is derived from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Münchhausen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who supposedly pulled himself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out of a swamp by his on hair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85" name="Picture 1"/>
          <p:cNvPicPr/>
          <p:nvPr/>
        </p:nvPicPr>
        <p:blipFill>
          <a:blip r:embed="rId1"/>
          <a:stretch/>
        </p:blipFill>
        <p:spPr>
          <a:xfrm>
            <a:off x="4122360" y="2359080"/>
            <a:ext cx="2194200" cy="242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6" name="Picture 2"/>
          <p:cNvPicPr/>
          <p:nvPr/>
        </p:nvPicPr>
        <p:blipFill>
          <a:blip r:embed="rId2"/>
          <a:stretch/>
        </p:blipFill>
        <p:spPr>
          <a:xfrm>
            <a:off x="6588360" y="1480320"/>
            <a:ext cx="1786680" cy="118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7" name="TextBox 8"/>
          <p:cNvSpPr/>
          <p:nvPr/>
        </p:nvSpPr>
        <p:spPr>
          <a:xfrm>
            <a:off x="3182040" y="49345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https://de.wikipedia.org/wiki/Münchhausen-Trilemma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A35A1034-D733-4D25-928B-A23B8E68DED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BIOS: Boot process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9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BIOS = Basic Input Output System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Firmware on motherboard → Initializes hardware and allows access to devices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Provides many functions per software interrupt (only in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 Mode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Stored on a single chip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formerly: ROM, later: EEPROM, today: NAND flash memory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term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BIOS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was introduced by the CP/M operating system in 1975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Starts with a POST = Power On Self Test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check → built-in self test of the CPU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Initialization of chipset &amp; main memory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Initialization of different mainboard components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91" name="Picture 5"/>
          <p:cNvPicPr/>
          <p:nvPr/>
        </p:nvPicPr>
        <p:blipFill>
          <a:blip r:embed="rId1"/>
          <a:stretch/>
        </p:blipFill>
        <p:spPr>
          <a:xfrm>
            <a:off x="5400000" y="2880000"/>
            <a:ext cx="2345040" cy="190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A450DCA3-34C7-4F40-8032-C6F6A6C96FBD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BIOS: Real Mode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Default CPU mode after power-on / reset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register, 64 KiB segments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20-bit physical adresses (max 1 MiB main memory)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Effective adress =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(segment &lt;&lt; 4) + offset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95" name="Picture 1"/>
          <p:cNvPicPr/>
          <p:nvPr/>
        </p:nvPicPr>
        <p:blipFill>
          <a:blip r:embed="rId1"/>
          <a:stretch/>
        </p:blipFill>
        <p:spPr>
          <a:xfrm>
            <a:off x="5508000" y="2214720"/>
            <a:ext cx="3363480" cy="250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6" name="Picture 3"/>
          <p:cNvPicPr/>
          <p:nvPr/>
        </p:nvPicPr>
        <p:blipFill>
          <a:blip r:embed="rId2"/>
          <a:stretch/>
        </p:blipFill>
        <p:spPr>
          <a:xfrm>
            <a:off x="1691640" y="3022200"/>
            <a:ext cx="2383560" cy="166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7" name="Text Box 21"/>
          <p:cNvSpPr/>
          <p:nvPr/>
        </p:nvSpPr>
        <p:spPr>
          <a:xfrm>
            <a:off x="1338480" y="3022200"/>
            <a:ext cx="12560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 upright="1">
            <a:noAutofit/>
          </a:bodyPr>
          <a:p>
            <a:pPr defTabSz="68616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Intel 8086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"/>
          <p:cNvSpPr/>
          <p:nvPr/>
        </p:nvSpPr>
        <p:spPr>
          <a:xfrm>
            <a:off x="6822000" y="4500000"/>
            <a:ext cx="106920" cy="178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53640" tIns="45000" rIns="5364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31B337A7-1C83-4A08-91E5-73BC639FB57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BIOS: Bootstrapping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­Determine first/next boot device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Check for signaute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0x55AA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sector 0 = Master Boot Record (MBR)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case of wrong signature or read error → next device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found, the BIOS loads the first sector to a special memory address and jumps to it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First loader (Stage 1) must fit into 512 Byte → Assembler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loaded code returns → next device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loader in the MBR loads the real boot loader (Stage 2) using the BIOS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May show a menu interface, if multiple operating systems are installed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Loads the kernel image into memory and jumps to it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0CE9C4A3-3795-467E-AA4E-65A96B1D94B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BIOS: Boot process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3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04" name="Group 32"/>
          <p:cNvGrpSpPr/>
          <p:nvPr/>
        </p:nvGrpSpPr>
        <p:grpSpPr>
          <a:xfrm>
            <a:off x="5688360" y="1533600"/>
            <a:ext cx="2230560" cy="2908440"/>
            <a:chOff x="5688360" y="1533600"/>
            <a:chExt cx="2230560" cy="2908440"/>
          </a:xfrm>
        </p:grpSpPr>
        <p:sp>
          <p:nvSpPr>
            <p:cNvPr id="1405" name="Rectangle 3"/>
            <p:cNvSpPr/>
            <p:nvPr/>
          </p:nvSpPr>
          <p:spPr>
            <a:xfrm>
              <a:off x="5693400" y="2777040"/>
              <a:ext cx="2225520" cy="35856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tIns="36000" rIns="36000" bIns="36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Stage 1 Bootloader (MBR)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6" name="Rectangle 4"/>
            <p:cNvSpPr/>
            <p:nvPr/>
          </p:nvSpPr>
          <p:spPr>
            <a:xfrm>
              <a:off x="5693400" y="3430440"/>
              <a:ext cx="2225520" cy="35856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tIns="36000" rIns="36000" bIns="36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Stage 2 Bootloader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7" name="Rectangle 5"/>
            <p:cNvSpPr/>
            <p:nvPr/>
          </p:nvSpPr>
          <p:spPr>
            <a:xfrm>
              <a:off x="5693400" y="4083480"/>
              <a:ext cx="2225520" cy="358560"/>
            </a:xfrm>
            <a:prstGeom prst="rect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tIns="36000" rIns="36000" bIns="36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Kernel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8" name="Rectangle 8"/>
            <p:cNvSpPr/>
            <p:nvPr/>
          </p:nvSpPr>
          <p:spPr>
            <a:xfrm>
              <a:off x="5693400" y="2120040"/>
              <a:ext cx="2225520" cy="358560"/>
            </a:xfrm>
            <a:prstGeom prst="rect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tIns="36000" rIns="36000" bIns="36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BIOS POST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09" name="Straight Arrow Connector 10"/>
            <p:cNvCxnSpPr>
              <a:stCxn id="1408" idx="2"/>
              <a:endCxn id="1405" idx="0"/>
            </p:cNvCxnSpPr>
            <p:nvPr/>
          </p:nvCxnSpPr>
          <p:spPr>
            <a:xfrm>
              <a:off x="6806160" y="2478600"/>
              <a:ext cx="360" cy="2988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stealth" w="med"/>
            </a:ln>
          </p:spPr>
        </p:cxnSp>
        <p:cxnSp>
          <p:nvCxnSpPr>
            <p:cNvPr id="1410" name="Straight Arrow Connector 17"/>
            <p:cNvCxnSpPr>
              <a:stCxn id="1405" idx="2"/>
              <a:endCxn id="1406" idx="0"/>
            </p:cNvCxnSpPr>
            <p:nvPr/>
          </p:nvCxnSpPr>
          <p:spPr>
            <a:xfrm>
              <a:off x="6806160" y="3135600"/>
              <a:ext cx="360" cy="2952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stealth" w="med"/>
            </a:ln>
          </p:spPr>
        </p:cxnSp>
        <p:cxnSp>
          <p:nvCxnSpPr>
            <p:cNvPr id="1411" name="Straight Arrow Connector 22"/>
            <p:cNvCxnSpPr>
              <a:stCxn id="1406" idx="2"/>
              <a:endCxn id="1407" idx="0"/>
            </p:cNvCxnSpPr>
            <p:nvPr/>
          </p:nvCxnSpPr>
          <p:spPr>
            <a:xfrm>
              <a:off x="6806160" y="3789000"/>
              <a:ext cx="360" cy="2948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stealth" w="med"/>
            </a:ln>
          </p:spPr>
        </p:cxnSp>
        <p:cxnSp>
          <p:nvCxnSpPr>
            <p:cNvPr id="1412" name="Straight Arrow Connector 27"/>
            <p:cNvCxnSpPr>
              <a:stCxn id="1413" idx="4"/>
              <a:endCxn id="1408" idx="0"/>
            </p:cNvCxnSpPr>
            <p:nvPr/>
          </p:nvCxnSpPr>
          <p:spPr>
            <a:xfrm>
              <a:off x="6801120" y="1800000"/>
              <a:ext cx="5400" cy="32040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tailEnd len="med" type="stealth" w="med"/>
            </a:ln>
          </p:spPr>
        </p:cxnSp>
        <p:sp>
          <p:nvSpPr>
            <p:cNvPr id="1413" name="Oval 29"/>
            <p:cNvSpPr/>
            <p:nvPr/>
          </p:nvSpPr>
          <p:spPr>
            <a:xfrm>
              <a:off x="5688360" y="1533600"/>
              <a:ext cx="2225520" cy="266400"/>
            </a:xfrm>
            <a:prstGeom prst="ellipse">
              <a:avLst/>
            </a:prstGeom>
            <a:solidFill>
              <a:srgbClr val="B3B5F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tIns="36000" rIns="36000" bIns="36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HW Start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4" name="Inhaltsplatzhalter 7"/>
          <p:cNvSpPr/>
          <p:nvPr/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has an entry function (usually written in assembly)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Switches the CPU to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Protected Mode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(32 Bit)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Afterward to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Long Mode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(64 Bit)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Performs basic setup (Stack, 1:1-Paging, etc.)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Calls a function written in a high-level language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(often C)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0AA0A805-F1FC-4367-8486-5B9ADC33C72C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Boot process using GRUB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6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GRUB = GNU GRand Unified Bootloader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Offers a boot menu and allows defining boot parameters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 implementation of the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Multiboot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protocol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https://www.gnu.org/software/grub/manual/multiboot/multiboot.html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images are ELF files with a Multiboot record at the beginning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Grub switches to Protected Mode (32-bit), loads the kernel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image defined in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grub.cfg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jumps to it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specified by the Multiboot record, GRUB switches to a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desired graphic mode and can provide system information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GRUB supports classic BIOS and the modern UEFI BIOS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18" name="Picture 2"/>
          <p:cNvPicPr/>
          <p:nvPr/>
        </p:nvPicPr>
        <p:blipFill>
          <a:blip r:embed="rId1"/>
          <a:stretch/>
        </p:blipFill>
        <p:spPr>
          <a:xfrm>
            <a:off x="6156000" y="2696040"/>
            <a:ext cx="2680920" cy="21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9" name="TextBox 2"/>
          <p:cNvSpPr/>
          <p:nvPr/>
        </p:nvSpPr>
        <p:spPr>
          <a:xfrm>
            <a:off x="5076000" y="4936320"/>
            <a:ext cx="2734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Pictures: https://en.wikipedia.org/wiki/GNU_GRUB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0" name="Picture 4"/>
          <p:cNvPicPr/>
          <p:nvPr/>
        </p:nvPicPr>
        <p:blipFill>
          <a:blip r:embed="rId2"/>
          <a:stretch/>
        </p:blipFill>
        <p:spPr>
          <a:xfrm>
            <a:off x="6084000" y="1326600"/>
            <a:ext cx="1050120" cy="7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F8BCA431-09E8-43E9-8490-538759B95A9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Boot process on UEFI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2"/>
          <p:cNvSpPr>
            <a:spLocks noGrp="1"/>
          </p:cNvSpPr>
          <p:nvPr>
            <p:ph type="ftr" idx="72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Boot-Vorgang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Unified Extensible Firmware Interface (UEFI)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Software interface between operating system and hardware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64-bit code instead of 16-bit real mode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Device drivers for pre-boot environment (including a network stack)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Bootmanager, supports disks with a GUID partition table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Filesystem support (FAT32), textual und graphical console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Extensions: can be loaded from persistent memory devices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Supports pre-boot applications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Additional information: </a:t>
            </a:r>
            <a:r>
              <a:rPr lang="de-DE" sz="1600" b="0" u="sng" strike="noStrike">
                <a:solidFill>
                  <a:srgbClr val="0432FF"/>
                </a:solidFill>
                <a:effectLst/>
                <a:uFillTx/>
                <a:latin typeface="Arial"/>
              </a:rPr>
              <a:t>http://software.intel.com/en-us/articles/about-uefi/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D8302214-7966-46C5-8AEB-84CEB64369FD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Boot process using Towboot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2"/>
          <p:cNvSpPr>
            <a:spLocks noGrp="1"/>
          </p:cNvSpPr>
          <p:nvPr>
            <p:ph type="ftr" idx="7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2.3 Boot process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Bootloader developed by Niklas Sombert (HHU, Department: Operating Systems)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Written in Rust, as a UEFI application → Only works on modern UEFI BIOS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Supports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Multiboot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Multiboot2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protocols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images are ELF files with a Multiboot record or some Multiboot2 tags at the beginning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Parses the configuration file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towboot.toml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loads the specified kernel image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SzPct val="75000"/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also switch to a desired graphics mode, if specified in the Multiboot/Multiboot2 header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Open Source: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https://github.com/hhuOS/towboot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HeineOS uses Towboot as its bootloader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Box 6"/>
          <p:cNvSpPr/>
          <p:nvPr/>
        </p:nvSpPr>
        <p:spPr>
          <a:xfrm>
            <a:off x="5076000" y="4936320"/>
            <a:ext cx="2734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Pictures: https://en.wikipedia.org/wiki/GNU_GRUB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0A814085-49E1-43CB-96BC-D43CED797CF8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9" name="PlaceHolder 2"/>
          <p:cNvSpPr>
            <a:spLocks noGrp="1"/>
          </p:cNvSpPr>
          <p:nvPr>
            <p:ph type="ftr" idx="74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Classification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Compiling and Linking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Boot process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Debugging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1" name="Rounded Rectangle 1"/>
          <p:cNvSpPr/>
          <p:nvPr/>
        </p:nvSpPr>
        <p:spPr>
          <a:xfrm>
            <a:off x="372960" y="2914560"/>
            <a:ext cx="3261600" cy="4507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9B4C5E00-6F66-4EF5-9E4D-F213A0776CA4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println!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-Debugging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3" name="PlaceHolder 2"/>
          <p:cNvSpPr>
            <a:spLocks noGrp="1"/>
          </p:cNvSpPr>
          <p:nvPr>
            <p:ph type="ftr" idx="7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 trivial, as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println!()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part of the Rust runtime environment (not in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core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Furthermore calls to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println!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impact execution speed (slow!)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 errors may not occur anymore after inserting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println!()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calls into the code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especially true for OS development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Oftentimes errors lead to immediate reboot, causing the screen to be erased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Resorts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Serial port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PC Speaker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Blinking LED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C562E455-59F2-4F2D-8849-8256DA29B10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Emulators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6" name="PlaceHolder 2"/>
          <p:cNvSpPr>
            <a:spLocks noGrp="1"/>
          </p:cNvSpPr>
          <p:nvPr>
            <p:ph type="ftr" idx="76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Emulate specific hardware in software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 emulators support attaching a debugger, to pause the system and inspect variables and CPU registers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May also influence system behaviour, but is very helpful nonetheless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Caution: Emulator and real hardware may differ in details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Machines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Emulators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not the same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VMware does not emulate an x86 CPU, but uses a real CPU to directly execute code in the VM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641AA841-D57A-404B-979E-3C92B0F99241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br>
              <a:rPr sz="2700"/>
            </a:b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QEMU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9" name="PlaceHolder 2"/>
          <p:cNvSpPr>
            <a:spLocks noGrp="1"/>
          </p:cNvSpPr>
          <p:nvPr>
            <p:ph type="ftr" idx="7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Emulates differenct CPU architectures,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e.g. x86 (also supports multiple cores)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Emulates a full PC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Memory, Devices (even sound and network cards)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Written in C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Useful for OS developers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Debugger support (GDB)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CPU/Memory dump on crash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HeineOS development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41" name="Picture 2"/>
          <p:cNvPicPr/>
          <p:nvPr/>
        </p:nvPicPr>
        <p:blipFill>
          <a:blip r:embed="rId1"/>
          <a:stretch/>
        </p:blipFill>
        <p:spPr>
          <a:xfrm>
            <a:off x="5292000" y="2177640"/>
            <a:ext cx="3617280" cy="270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2" name="TextBox 5"/>
          <p:cNvSpPr/>
          <p:nvPr/>
        </p:nvSpPr>
        <p:spPr>
          <a:xfrm>
            <a:off x="5220000" y="4934520"/>
            <a:ext cx="2518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Pictures: https://en.wikipedia.org/wiki/QEMU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3" name="Picture 2"/>
          <p:cNvPicPr/>
          <p:nvPr/>
        </p:nvPicPr>
        <p:blipFill>
          <a:blip r:embed="rId2"/>
          <a:stretch/>
        </p:blipFill>
        <p:spPr>
          <a:xfrm>
            <a:off x="7561800" y="1350720"/>
            <a:ext cx="1258200" cy="40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9078C2B1-37FA-49B4-9B89-14A7F75382CF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Example: gdb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5" name="PlaceHolder 2"/>
          <p:cNvSpPr>
            <a:spLocks noGrp="1"/>
          </p:cNvSpPr>
          <p:nvPr>
            <p:ph type="ftr" idx="78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gdb = GNU Debugger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Again: </a:t>
            </a:r>
            <a:r>
              <a:rPr lang="de-DE" sz="1800" b="0" i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Hello, World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Notice: Compilers distinguish between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Debug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 und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Release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 builds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The Debug version includes debug information in the program image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For example names of parameters or local variables, etc.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Times New Roman"/>
              </a:rPr>
              <a:t>Release code is usually much faster (compiler optimizations)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47" name="Picture 2"/>
          <p:cNvPicPr/>
          <p:nvPr/>
        </p:nvPicPr>
        <p:blipFill>
          <a:blip r:embed="rId1"/>
          <a:stretch/>
        </p:blipFill>
        <p:spPr>
          <a:xfrm>
            <a:off x="6958080" y="1146240"/>
            <a:ext cx="1599480" cy="99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8" name="TextBox 8"/>
          <p:cNvSpPr/>
          <p:nvPr/>
        </p:nvSpPr>
        <p:spPr>
          <a:xfrm>
            <a:off x="755640" y="2146320"/>
            <a:ext cx="5329440" cy="73728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00FF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fn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 main() {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   println</a:t>
            </a:r>
            <a:r>
              <a:rPr lang="en-GB" sz="1400" b="0" u="none" strike="noStrike">
                <a:solidFill>
                  <a:srgbClr val="0000FF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!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(</a:t>
            </a:r>
            <a:r>
              <a:rPr lang="en-GB" sz="1400" b="0" u="none" strike="noStrike">
                <a:solidFill>
                  <a:srgbClr val="A31515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"hello world"</a:t>
            </a: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);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highlight>
                  <a:srgbClr val="FFFFB3"/>
                </a:highlight>
                <a:uFillTx/>
                <a:latin typeface="Menlo"/>
              </a:rPr>
              <a:t>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Box 1"/>
          <p:cNvSpPr/>
          <p:nvPr/>
        </p:nvSpPr>
        <p:spPr>
          <a:xfrm>
            <a:off x="755640" y="2935800"/>
            <a:ext cx="5329440" cy="306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400" b="0" u="none" strike="noStrike">
                <a:solidFill>
                  <a:srgbClr val="00FA00"/>
                </a:solidFill>
                <a:effectLst/>
                <a:uFillTx/>
                <a:latin typeface="Consolas"/>
              </a:rPr>
              <a:t>$ rustc –g hello.rs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99B4DF24-51FD-4F6F-8761-2FBDDEF4EAC8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Hardware debugging support in x86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2"/>
          <p:cNvSpPr>
            <a:spLocks noGrp="1"/>
          </p:cNvSpPr>
          <p:nvPr>
            <p:ph type="ftr" idx="79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INT3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triggers a </a:t>
            </a:r>
            <a:r>
              <a:rPr lang="de-DE" sz="16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breakpoint interrupt</a:t>
            </a: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(TRAP)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placed inside the code specifically by the user level debugger (e.g., gdb)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TRAP hadler inside the kernel moves control flow to the debugger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Setting </a:t>
            </a: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Trap Flags (TF)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inside the status register (RFLAGS) triggers a</a:t>
            </a:r>
            <a:br>
              <a:rPr sz="1600"/>
            </a:br>
            <a:r>
              <a:rPr lang="de-DE" sz="16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debug interrupt</a:t>
            </a: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 (INT 1)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 after every instruction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Useful for implementing a single step mode in the debugger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The debug registers </a:t>
            </a: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DR0-DR7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(introduced with the i386) can monitor up to 4 breakpoints without manipulating code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Sustantial advantage if code is stored in ROM/FLASH or non-writable memory segments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Used by kernel level debuggers (e.g., kdb)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Only accessible in Ring 0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763C6434-494B-417F-9F8E-E7CFED59D9ED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Debug registers in x86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4" name="PlaceHolder 2"/>
          <p:cNvSpPr>
            <a:spLocks noGrp="1"/>
          </p:cNvSpPr>
          <p:nvPr>
            <p:ph type="ftr" idx="80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5" name=""/>
          <p:cNvPicPr/>
          <p:nvPr/>
        </p:nvPicPr>
        <p:blipFill>
          <a:blip r:embed="rId1"/>
          <a:stretch/>
        </p:blipFill>
        <p:spPr>
          <a:xfrm>
            <a:off x="2376000" y="1044000"/>
            <a:ext cx="3959280" cy="38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9D193CA5-ADCC-467E-82FB-042C33DFE9FF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Debug registers in x86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7" name="PlaceHolder 2"/>
          <p:cNvSpPr>
            <a:spLocks noGrp="1"/>
          </p:cNvSpPr>
          <p:nvPr>
            <p:ph type="ftr" idx="81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8" name=""/>
          <p:cNvPicPr/>
          <p:nvPr/>
        </p:nvPicPr>
        <p:blipFill>
          <a:blip r:embed="rId1"/>
          <a:stretch/>
        </p:blipFill>
        <p:spPr>
          <a:xfrm>
            <a:off x="2376000" y="1044000"/>
            <a:ext cx="3959280" cy="38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759B3E8-1D95-4A09-BB5C-F2A839526E2B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Debug registers in x86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2"/>
          <p:cNvSpPr>
            <a:spLocks noGrp="1"/>
          </p:cNvSpPr>
          <p:nvPr>
            <p:ph type="ftr" idx="82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1" name=""/>
          <p:cNvPicPr/>
          <p:nvPr/>
        </p:nvPicPr>
        <p:blipFill>
          <a:blip r:embed="rId1"/>
          <a:stretch/>
        </p:blipFill>
        <p:spPr>
          <a:xfrm>
            <a:off x="2376000" y="1044000"/>
            <a:ext cx="3959280" cy="38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A1869851-CFC8-4E9C-B64A-E31CA2F275F5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Remote debugging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3" name="PlaceHolder 2"/>
          <p:cNvSpPr>
            <a:spLocks noGrp="1"/>
          </p:cNvSpPr>
          <p:nvPr>
            <p:ph type="ftr" idx="83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Allows debugging on platforms, that do not offer an interactive user interface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Requires a communication connection (Serial port, Ethernet, etc.)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device driver for the communication device is needed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Target platform may also be an emulator (QEMU → TCP)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debugging component on the target platform should be as simple as possible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65" name="Picture 1"/>
          <p:cNvPicPr/>
          <p:nvPr/>
        </p:nvPicPr>
        <p:blipFill>
          <a:blip r:embed="rId1"/>
          <a:stretch/>
        </p:blipFill>
        <p:spPr>
          <a:xfrm>
            <a:off x="2483640" y="3157200"/>
            <a:ext cx="4316760" cy="172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6" name="Rectangle 2"/>
          <p:cNvSpPr/>
          <p:nvPr/>
        </p:nvSpPr>
        <p:spPr>
          <a:xfrm>
            <a:off x="2411640" y="3151080"/>
            <a:ext cx="2518920" cy="142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7" name="TextBox 4"/>
          <p:cNvSpPr/>
          <p:nvPr/>
        </p:nvSpPr>
        <p:spPr>
          <a:xfrm>
            <a:off x="2215440" y="4936320"/>
            <a:ext cx="45756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"/>
          <p:cNvSpPr/>
          <p:nvPr/>
        </p:nvSpPr>
        <p:spPr>
          <a:xfrm>
            <a:off x="2628000" y="4284000"/>
            <a:ext cx="575280" cy="1792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PC</a:t>
            </a:r>
            <a:endParaRPr lang="de-DE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"/>
          <p:cNvSpPr/>
          <p:nvPr/>
        </p:nvSpPr>
        <p:spPr>
          <a:xfrm>
            <a:off x="4500000" y="3024000"/>
            <a:ext cx="2879280" cy="899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"/>
          <p:cNvSpPr/>
          <p:nvPr/>
        </p:nvSpPr>
        <p:spPr>
          <a:xfrm>
            <a:off x="4500000" y="3780000"/>
            <a:ext cx="107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38086774-D358-4150-8A92-5C961DEC8328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Remote debugging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2"/>
          <p:cNvSpPr>
            <a:spLocks noGrp="1"/>
          </p:cNvSpPr>
          <p:nvPr>
            <p:ph type="ftr" idx="84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Communication protocol: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GDB Remote Serial Protocol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(RSP)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Defines the communication interface (GDB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stub)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uses ASCII strings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Message format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: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$&lt;Command/Response&gt;#&lt;Checksum&gt;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Messages are immediately answered with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+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(OK) or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-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(Error)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$g#67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Read all register contents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Answer: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+ $123456789abcdef0...#...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register 1 is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0x12345678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register 2 is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0x9ab...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$G123456789abcdef0...#...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Set all register contents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Answer: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+ $OK#9a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Success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$m4015bc,2#5a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Read 2 byte at memory address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0x4015bc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Answer: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+ $2f86#06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→ Value is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0x2f86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4DADF208-64D4-414F-AA57-1BD615864A29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Remote debugging using QEMU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2"/>
          <p:cNvSpPr>
            <a:spLocks noGrp="1"/>
          </p:cNvSpPr>
          <p:nvPr>
            <p:ph type="ftr" idx="85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2.4 Debugging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76" name=""/>
          <p:cNvPicPr/>
          <p:nvPr/>
        </p:nvPicPr>
        <p:blipFill>
          <a:blip r:embed="rId1"/>
          <a:stretch/>
        </p:blipFill>
        <p:spPr>
          <a:xfrm>
            <a:off x="4500000" y="1080000"/>
            <a:ext cx="4320360" cy="377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7" name=""/>
          <p:cNvPicPr/>
          <p:nvPr/>
        </p:nvPicPr>
        <p:blipFill>
          <a:blip r:embed="rId2"/>
          <a:stretch/>
        </p:blipFill>
        <p:spPr>
          <a:xfrm>
            <a:off x="540000" y="1585080"/>
            <a:ext cx="3779280" cy="309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8" name=""/>
          <p:cNvPicPr/>
          <p:nvPr/>
        </p:nvPicPr>
        <p:blipFill>
          <a:blip r:embed="rId3"/>
          <a:stretch/>
        </p:blipFill>
        <p:spPr>
          <a:xfrm>
            <a:off x="540000" y="1220400"/>
            <a:ext cx="3779280" cy="2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6618E1F2-6115-4D26-8786-837D4370A9A2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2"/>
          <p:cNvSpPr>
            <a:spLocks noGrp="1"/>
          </p:cNvSpPr>
          <p:nvPr>
            <p:ph type="ftr" idx="86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Introduction to OS development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Classification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Compiling and Linking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Boot process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Debugging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2" name="Rounded Rectangle 1"/>
          <p:cNvSpPr/>
          <p:nvPr/>
        </p:nvSpPr>
        <p:spPr>
          <a:xfrm>
            <a:off x="372960" y="3511080"/>
            <a:ext cx="3261600" cy="4305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DDB62490-CB65-4139-8C56-5130C156DA1C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2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2"/>
          <p:cNvSpPr>
            <a:spLocks noGrp="1"/>
          </p:cNvSpPr>
          <p:nvPr>
            <p:ph type="ftr" idx="87"/>
          </p:nvPr>
        </p:nvSpPr>
        <p:spPr>
          <a:xfrm>
            <a:off x="628560" y="4975560"/>
            <a:ext cx="7128360" cy="1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2.5 Summary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960" cy="3706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OS development differs significantly from application development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(Most) libraries are missing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Foundation is formed by the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naked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hardware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First steps are hard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Compiling &amp; Linking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Boot process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initializatzion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Debugging requires infrastructure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Display driver für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print!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-Debugging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GDB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stub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communication device (and driver) for remote debugging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debugging support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AB60861F-936A-4FC7-A037-56C7CA8FAF9B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12242</TotalTime>
  <Application>LibreOffice/26.2.2.2$Linux_X86_64 LibreOffice_project/b8d3d8168498fa6cc231901342a3b8d72dd2bb7e</Application>
  <AppVersion>15.0000</AppVersion>
  <Words>1595</Words>
  <Paragraphs>331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2026-04-16T12:17:27Z</dcterms:modified>
  <cp:revision>1051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Custom</vt:lpwstr>
  </property>
  <property fmtid="{D5CDD505-2E9C-101B-9397-08002B2CF9AE}" pid="4" name="Slides">
    <vt:i4>28</vt:i4>
  </property>
</Properties>
</file>