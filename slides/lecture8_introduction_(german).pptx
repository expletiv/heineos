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262F37-66F1-4AE4-B686-FDFF82A6541B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64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5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6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6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6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6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7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7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8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9" name="Gruppieren 2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9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3" name="Freihandform: Form 25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dt" idx="22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360" cy="54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96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97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5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96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9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0" name="PlaceHolder 1"/>
          <p:cNvSpPr>
            <a:spLocks noGrp="1"/>
          </p:cNvSpPr>
          <p:nvPr>
            <p:ph type="dt" idx="43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36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002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003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7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7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7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8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9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9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0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8" name="PlaceHolder 1"/>
          <p:cNvSpPr>
            <a:spLocks noGrp="1"/>
          </p:cNvSpPr>
          <p:nvPr>
            <p:ph type="dt" idx="46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632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1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11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Freihandform: Form 15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5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60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1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2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2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2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3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3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4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4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2" name="PlaceHolder 1"/>
          <p:cNvSpPr>
            <a:spLocks noGrp="1"/>
          </p:cNvSpPr>
          <p:nvPr>
            <p:ph type="dt" idx="47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960" cy="118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54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55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Freihandform: Form 17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9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64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2" name="Gruppieren 30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9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6" name="PlaceHolder 1"/>
          <p:cNvSpPr>
            <a:spLocks noGrp="1"/>
          </p:cNvSpPr>
          <p:nvPr>
            <p:ph type="dt" idx="48"/>
          </p:nvPr>
        </p:nvSpPr>
        <p:spPr>
          <a:xfrm>
            <a:off x="656496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3320" cy="56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98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99" name="Freihandform: Form 17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Freihandform: Form 1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Freihandform: Form 2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Freihandform: Form 23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800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64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FFA664F-C10E-4889-80D5-142AD8B0F28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79C4C96-C4B2-4465-9FE5-E8D39EEEFCB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3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12C1411-F0F1-4DDF-9F56-D1919460385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1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75681864-FD7B-48EA-A607-06F722C5EBB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10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9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0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0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1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2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8C816E5-BAAF-4561-9602-631FED40A7B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3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4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4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4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5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5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6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8C89A1E-84D9-4394-9639-483B5815205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7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7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7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8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9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9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0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A1610A7-073A-4676-A148-323EE138775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1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1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1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1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1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2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3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3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A7B940E4-5281-4FC4-AA6B-E8C8D783CBE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5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5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5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5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6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7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7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Gruppieren 52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8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8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88" name="Freihandform: Form 3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3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3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3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4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17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ihandform: Form 18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1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98" name="Freihandform: Form 3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2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02" name="Freihandform: Form 3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3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4" name="Freihandform: Form 2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ihandform: Form 2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ihandform: Form 2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08" name="Freihandform: Form 2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2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ihandform: Form 2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ihandform: Form 3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F601411E-39CC-4AE0-82E9-044F6521D6D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16" name="Gerader Verbinder 45"/>
          <p:cNvCxnSpPr/>
          <p:nvPr/>
        </p:nvCxnSpPr>
        <p:spPr>
          <a:xfrm>
            <a:off x="4464000" y="974520"/>
            <a:ext cx="288972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2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2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2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2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3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4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4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865F88A-5436-40C5-B068-0DA1D9D32A7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0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3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E12F81C-0DEC-4A70-9227-2C648651330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2" name="Gruppieren 53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6" name="PlaceHolder 1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317DA79-B721-40D2-93FA-F14C1B10E21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Gerader Verbinder 46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580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85" name="Freihandform: Form 68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69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70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71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72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73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4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4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95" name="Freihandform: Form 66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ihandform: Form 67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7" name="Freihandform: Form 50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99" name="Freihandform: Form 6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6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" name="Freihandform: Form 52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5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5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05" name="Freihandform: Form 6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6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6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6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1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1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1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1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2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3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3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41" name="Gruppieren 54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4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5" name="PlaceHolder 1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5571F1EB-5CDB-4BF0-B47A-32EEE4DA41A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Gerader Verbinder 47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64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9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65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5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55" name="Freihandform: Form 69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70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71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72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73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74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46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4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65" name="Freihandform: Form 67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68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7" name="Freihandform: Form 5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69" name="Freihandform: Form 65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ihandform: Form 66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1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Freihandform: Form 58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59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75" name="Freihandform: Form 61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62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63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64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8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8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8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9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0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0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2A6D6FE-28FF-498D-B4F8-C910EEEA3FC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1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2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2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2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3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3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BE9BAE0-094A-4B62-B4FB-31CC1F731EA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5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6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6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6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7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7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8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EAC8DD9-2AA3-485D-9B2F-556642166A7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9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9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9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0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1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1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2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F682301-F9F0-4029-9176-07587674724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3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3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3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3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4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5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5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244DD5EB-B1F3-4D0F-8DC9-C61F03067AB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1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D226B7B-63AB-4863-B1C1-858D6B8ED8D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9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0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0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0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1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1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2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9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30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3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35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83D0833D-6EE8-442C-9C2E-36BBBC93A7A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3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40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6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50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54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6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60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0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1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1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1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2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2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3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39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4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EE59195-AFFD-41C8-93AF-58F464ABDA9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4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48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4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58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0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62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4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68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0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1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1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1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2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2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3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8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18752E1-F0B7-499A-9D3D-C8AF53B7B7C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4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604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4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4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4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4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5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6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6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A59BF45-8B1E-44A2-88F4-D6C0FE2A0DA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7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9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9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30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9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C237551-92AF-4F1B-8AB9-4F6EFD659F0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msrc.microsoft.com/blog/2019/07/we-need-a-safer-systems-programming-language/" TargetMode="External"/><Relationship Id="rId2" Type="http://schemas.openxmlformats.org/officeDocument/2006/relationships/hyperlink" Target="https://msrc.microsoft.com/blog/2019/07/we-need-a-safer-systems-programming-language/" TargetMode="External"/><Relationship Id="rId3" Type="http://schemas.openxmlformats.org/officeDocument/2006/relationships/hyperlink" Target="https://www.heise.de/news/Rust-Code-im-Linux-Kernel-Merge-steht-laut-Linus-Torvalds-ab-Linux-5-20-bevor-7154453.html" TargetMode="External"/><Relationship Id="rId4" Type="http://schemas.openxmlformats.org/officeDocument/2006/relationships/slideLayout" Target="../slideLayouts/slideLayout29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osdev.org/" TargetMode="External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1134720"/>
            <a:ext cx="4949640" cy="234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und Schutz</a:t>
            </a:r>
            <a:br>
              <a:rPr sz="3600"/>
            </a:b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 Betriebssystemen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 Einführung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871080"/>
            <a:ext cx="4400640" cy="604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A2D6EE0-8DB5-4624-9EC5-922A467C870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6" name="Rounded Rectangle 1"/>
          <p:cNvSpPr/>
          <p:nvPr/>
        </p:nvSpPr>
        <p:spPr>
          <a:xfrm>
            <a:off x="372960" y="1206720"/>
            <a:ext cx="3262680" cy="35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27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5975A12-D884-4FAB-ADE8-ACD2D381D1A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1.1 Organisation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Vorlesung: 1 SWS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Montag, 10:30 – 12:00Uhr, 25.12.01.51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Übung: 3 SWS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Montag, 10:30 – 12:00Uhr, 25.12.01.51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Donnerstag,12:30 – 14:00Uhr, 25.12.01.51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Hauptziel: Jede Person implementiert Schutz- und Isolationsmechanismen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einem 64 Bit Betriebssystem für x86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Implementierung erfolgt in Rust &amp; Assembler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Ausgangspunkt ist das eigene Betriebssystem aus BS-Entwicklung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oder alternativ wird ein einfaches Betriebssystem bereitgestellt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94565878-D757-49C6-8460-769FAE3BBBB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1.1 Organisation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Vorlesungs- und Übungsunterlagen in ILIAS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Rocketchat via ILIAS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Voraussetzungen: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Betriebssystem-Grundkenntnisse empfohlen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Spaß an hardwarenaher Programmierung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Durchhaltevermögen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A49D915-8434-48B2-AD2E-D858B0736D1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Vorlesung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Relevante Inhalte für die Aufgaben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C900947B-2BF3-467D-9537-D68CD151701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Übungen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Ziel: Schutz- und Isolationsmechanismen selbst entwickeln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Wingdings"/>
              </a:rPr>
              <a:t>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verpflichtende Abgabe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Das Betriebssystem muss in Qemu laufen!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Rechner zum Testen auf echter Hardware werden in der Übung bereitgestellt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Aufgaben bauen aufeinander auf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Programmierung erfolgt in Rust und punktuell mit NASM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Für das Debugging verwenden wir GDB und Qemu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92BB177B-F1D5-4246-8869-23187A1006A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Warum Rust 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7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Typsichere, schnelle und moderne Programmiersprache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Bietet eine Compile-Time Garbage Collection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Keine Null-Pointer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Keine kaputten Pointer (sofern nicht unsafe) genutzt wird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Interessante Artikel: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https://msrc.microsoft.com/blog/2019/07/why-rust-for-safe-systems-programming/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2"/>
              </a:rPr>
              <a:t>https://msrc.microsoft.com/blog/2019/07/we-need-a-safer-systems-programming-language/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Linux-Kernel erlaubt inzwischen auch Kernel-Module in Rust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  <a:hlinkClick r:id="rId3"/>
              </a:rPr>
              <a:t>https://www.heise.de/news/Rust-Code-im-Linux-Kernel-Merge-steht-laut-Linus-Torvalds-ab-Linux-5-20-bevor-7154453.html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03625E9-2F83-4B89-B528-5F8646070C7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Prüfung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 ECTS für den Studiengang Master Informatik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Mündliche Prüfung nach Ende der Vorlesungszeit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Prüfung geht „nur“ über das eigene Betriebssystem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der Prüfung muss eine Demo vorgeführt werden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 Quelltext muss mindestens eine Woche vor der Prüfung abgegeben werden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Für die Note 1.0 müssen alle Funktionen aus allen Übungsblättern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vorzeigbar und erklärbar sein.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Die Beantwortung der Fragen zu den Übungsaufgaben fließt auch in die Bewertung ein.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1.1 Organisation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83FA045-B40D-4AB6-922D-703A020CFC1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1" name="Rounded Rectangle 1"/>
          <p:cNvSpPr/>
          <p:nvPr/>
        </p:nvSpPr>
        <p:spPr>
          <a:xfrm>
            <a:off x="372960" y="1782720"/>
            <a:ext cx="3262680" cy="35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42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C1F4097-2370-4CCD-AF18-418AC1CE704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1.2 Lernziele und Nutzen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Vertiefung des Wissens von Betriebssystem-Techniken/-Konzepten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Funktionsweise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Struktur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Implementierung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Schutz- und Isolationsfunktionen in Betriebssystemen verstehen und implementieren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„Weniger auswendig lernen, stattdessen mehr selbst tun“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1.2 Lernziele und Nutzen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4D96560-B252-481C-A865-2BFCB487022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1.2 Lernziele und Nutzen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Schutz- und Isolation auf Betriebssystemebene essentiell wichtig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„If you want to travel around the world and be invited to speak at a lot of different places, just write a UNIX operating system“ - Linus Torvalds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1.2 Lernziele und Nutzen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0D26E49-F9CD-4F61-8FA6-0F50938A098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8" name="Rounded Rectangle 1"/>
          <p:cNvSpPr/>
          <p:nvPr/>
        </p:nvSpPr>
        <p:spPr>
          <a:xfrm>
            <a:off x="372960" y="2359080"/>
            <a:ext cx="3262680" cy="35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49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CFD7215B-2221-4B60-A92F-4645B7B91825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Inhalte der Vorlesung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Einleitung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Segmentierung und Tasks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Systemaufrufe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Isolation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50EE2DDC-EE12-447D-BC3C-0FE99E7F4051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Inhalte der Übungen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Privilegientrennung (User-Level Threads)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Systemaufrufe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Physikalische Speicherverwaltung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(Isolation der User-Stacks)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Prozesse (Isolation von Anwendungen untereinander)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VMAs, User-Level Heaps, dynamisch wachsender User-Stack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Arial"/>
              <a:buAutoNum type="arabicPeriod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Eine eigene Anwendung oder Erweiterung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5FA7ED9-69E7-426D-9E91-D0652672E35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hhuTOS - Ausgangssystem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55" name="Group 1"/>
          <p:cNvGrpSpPr/>
          <p:nvPr/>
        </p:nvGrpSpPr>
        <p:grpSpPr>
          <a:xfrm>
            <a:off x="1541520" y="1742040"/>
            <a:ext cx="5820480" cy="2924640"/>
            <a:chOff x="1541520" y="1742040"/>
            <a:chExt cx="5820480" cy="2924640"/>
          </a:xfrm>
        </p:grpSpPr>
        <p:sp>
          <p:nvSpPr>
            <p:cNvPr id="1356" name="Abgerundetes Rechteck 3"/>
            <p:cNvSpPr/>
            <p:nvPr/>
          </p:nvSpPr>
          <p:spPr>
            <a:xfrm>
              <a:off x="1541520" y="4171680"/>
              <a:ext cx="5820480" cy="4950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BB9D"/>
                </a:gs>
                <a:gs pos="50000">
                  <a:srgbClr val="FBB190"/>
                </a:gs>
                <a:gs pos="100000">
                  <a:srgbClr val="FAA57B"/>
                </a:gs>
              </a:gsLst>
              <a:lin ang="5400000"/>
            </a:gradFill>
            <a:ln>
              <a:solidFill>
                <a:srgbClr val="EE7F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Hardware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7" name="Abgerundetes Rechteck 4"/>
            <p:cNvSpPr/>
            <p:nvPr/>
          </p:nvSpPr>
          <p:spPr>
            <a:xfrm>
              <a:off x="1541520" y="327024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Geräte-Treiber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8" name="Abgerundetes Rechteck 5"/>
            <p:cNvSpPr/>
            <p:nvPr/>
          </p:nvSpPr>
          <p:spPr>
            <a:xfrm>
              <a:off x="1541520" y="1742040"/>
              <a:ext cx="5820480" cy="4950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ADD9D5"/>
                </a:gs>
                <a:gs pos="50000">
                  <a:srgbClr val="A0D2CD"/>
                </a:gs>
                <a:gs pos="100000">
                  <a:srgbClr val="8FCFC8"/>
                </a:gs>
              </a:gsLst>
              <a:lin ang="5400000"/>
            </a:gradFill>
            <a:ln>
              <a:solidFill>
                <a:srgbClr val="57BAB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Anwendungen als Kernel-Threads (nur ein Adressraum für alles)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9" name="Abgerundetes Rechteck 6"/>
            <p:cNvSpPr/>
            <p:nvPr/>
          </p:nvSpPr>
          <p:spPr>
            <a:xfrm>
              <a:off x="3502440" y="327024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Interrupt-Behandlung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Abgerundetes Rechteck 7"/>
            <p:cNvSpPr/>
            <p:nvPr/>
          </p:nvSpPr>
          <p:spPr>
            <a:xfrm>
              <a:off x="3502440" y="239112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Speicher-Verwaltung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Abgerundetes Rechteck 8"/>
            <p:cNvSpPr/>
            <p:nvPr/>
          </p:nvSpPr>
          <p:spPr>
            <a:xfrm>
              <a:off x="5495760" y="3270240"/>
              <a:ext cx="18662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Synchronisierung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Abgerundetes Rechteck 9"/>
            <p:cNvSpPr/>
            <p:nvPr/>
          </p:nvSpPr>
          <p:spPr>
            <a:xfrm>
              <a:off x="5495760" y="2391120"/>
              <a:ext cx="18662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Threads &amp; Scheduler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3" name="Abgerundetes Rechteck 10"/>
            <p:cNvSpPr/>
            <p:nvPr/>
          </p:nvSpPr>
          <p:spPr>
            <a:xfrm>
              <a:off x="1541520" y="239112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Bibliotheken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64" name="Straight Connector 7"/>
          <p:cNvCxnSpPr/>
          <p:nvPr/>
        </p:nvCxnSpPr>
        <p:spPr>
          <a:xfrm>
            <a:off x="651960" y="1570680"/>
            <a:ext cx="7232760" cy="360"/>
          </a:xfrm>
          <a:prstGeom prst="straightConnector1">
            <a:avLst/>
          </a:prstGeom>
          <a:ln w="25400">
            <a:solidFill>
              <a:srgbClr val="000000"/>
            </a:solidFill>
          </a:ln>
        </p:spPr>
      </p:cxnSp>
      <p:sp>
        <p:nvSpPr>
          <p:cNvPr id="1365" name="TextBox 15"/>
          <p:cNvSpPr/>
          <p:nvPr/>
        </p:nvSpPr>
        <p:spPr>
          <a:xfrm>
            <a:off x="651960" y="1570680"/>
            <a:ext cx="732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</a:t>
            </a: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ernel </a:t>
            </a:r>
            <a:br>
              <a:rPr sz="1350"/>
            </a:b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Box 16"/>
          <p:cNvSpPr/>
          <p:nvPr/>
        </p:nvSpPr>
        <p:spPr>
          <a:xfrm>
            <a:off x="641160" y="1062720"/>
            <a:ext cx="6170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</a:t>
            </a:r>
            <a:br>
              <a:rPr sz="1350"/>
            </a:b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95471CC-134E-48C5-AFC8-9AC00C6973EB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hhuTOS - Zielsystem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68" name="Group 1"/>
          <p:cNvGrpSpPr/>
          <p:nvPr/>
        </p:nvGrpSpPr>
        <p:grpSpPr>
          <a:xfrm>
            <a:off x="1415520" y="1422720"/>
            <a:ext cx="5820480" cy="3240000"/>
            <a:chOff x="1415520" y="1422720"/>
            <a:chExt cx="5820480" cy="3240000"/>
          </a:xfrm>
        </p:grpSpPr>
        <p:sp>
          <p:nvSpPr>
            <p:cNvPr id="1369" name="Abgerundetes Rechteck 3"/>
            <p:cNvSpPr/>
            <p:nvPr/>
          </p:nvSpPr>
          <p:spPr>
            <a:xfrm>
              <a:off x="1415520" y="4167720"/>
              <a:ext cx="5820480" cy="4950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BB9D"/>
                </a:gs>
                <a:gs pos="50000">
                  <a:srgbClr val="FBB190"/>
                </a:gs>
                <a:gs pos="100000">
                  <a:srgbClr val="FAA57B"/>
                </a:gs>
              </a:gsLst>
              <a:lin ang="5400000"/>
            </a:gradFill>
            <a:ln>
              <a:solidFill>
                <a:srgbClr val="EE7F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Hardware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Abgerundetes Rechteck 4"/>
            <p:cNvSpPr/>
            <p:nvPr/>
          </p:nvSpPr>
          <p:spPr>
            <a:xfrm>
              <a:off x="1415520" y="326628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Geräte-Treiber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Abgerundetes Rechteck 5"/>
            <p:cNvSpPr/>
            <p:nvPr/>
          </p:nvSpPr>
          <p:spPr>
            <a:xfrm>
              <a:off x="1415520" y="1422720"/>
              <a:ext cx="1675440" cy="49500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ADD9D5"/>
                </a:gs>
                <a:gs pos="50000">
                  <a:srgbClr val="A0D2CD"/>
                </a:gs>
                <a:gs pos="100000">
                  <a:srgbClr val="8FCFC8"/>
                </a:gs>
              </a:gsLst>
              <a:lin ang="5400000"/>
            </a:gradFill>
            <a:ln>
              <a:solidFill>
                <a:srgbClr val="57BAB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Prozess 1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Abgerundetes Rechteck 6"/>
            <p:cNvSpPr/>
            <p:nvPr/>
          </p:nvSpPr>
          <p:spPr>
            <a:xfrm>
              <a:off x="3376080" y="326628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E49D9F"/>
                </a:gs>
                <a:gs pos="50000">
                  <a:srgbClr val="D99092"/>
                </a:gs>
                <a:gs pos="100000">
                  <a:srgbClr val="D97B7E"/>
                </a:gs>
              </a:gsLst>
              <a:lin ang="5400000"/>
            </a:gradFill>
            <a:ln>
              <a:solidFill>
                <a:srgbClr val="BE0A26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Paging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Abgerundetes Rechteck 7"/>
            <p:cNvSpPr/>
            <p:nvPr/>
          </p:nvSpPr>
          <p:spPr>
            <a:xfrm>
              <a:off x="3376080" y="238716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Heap-Verwaltung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Abgerundetes Rechteck 8"/>
            <p:cNvSpPr/>
            <p:nvPr/>
          </p:nvSpPr>
          <p:spPr>
            <a:xfrm>
              <a:off x="5369760" y="3266280"/>
              <a:ext cx="18662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Synchronisierung </a:t>
              </a:r>
              <a:br>
                <a:rPr sz="1350"/>
              </a:b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und IPC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Abgerundetes Rechteck 9"/>
            <p:cNvSpPr/>
            <p:nvPr/>
          </p:nvSpPr>
          <p:spPr>
            <a:xfrm>
              <a:off x="5369760" y="2387160"/>
              <a:ext cx="18662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Threads &amp; Scheduler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Abgerundetes Rechteck 10"/>
            <p:cNvSpPr/>
            <p:nvPr/>
          </p:nvSpPr>
          <p:spPr>
            <a:xfrm>
              <a:off x="1415520" y="2387160"/>
              <a:ext cx="1675440" cy="7333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C4DB9D"/>
                </a:gs>
                <a:gs pos="50000">
                  <a:srgbClr val="B9D090"/>
                </a:gs>
                <a:gs pos="100000">
                  <a:srgbClr val="B1CE7B"/>
                </a:gs>
              </a:gsLst>
              <a:lin ang="5400000"/>
            </a:gradFill>
            <a:ln>
              <a:solidFill>
                <a:srgbClr val="8CB11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Interrupt-Behandlung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77" name="Straight Connector 2"/>
          <p:cNvCxnSpPr/>
          <p:nvPr/>
        </p:nvCxnSpPr>
        <p:spPr>
          <a:xfrm>
            <a:off x="881280" y="2142720"/>
            <a:ext cx="6931440" cy="360"/>
          </a:xfrm>
          <a:prstGeom prst="straightConnector1">
            <a:avLst/>
          </a:prstGeom>
          <a:ln w="25400">
            <a:solidFill>
              <a:srgbClr val="FF0000"/>
            </a:solidFill>
          </a:ln>
        </p:spPr>
      </p:cxnSp>
      <p:sp>
        <p:nvSpPr>
          <p:cNvPr id="1378" name="Abgerundetes Rechteck 5"/>
          <p:cNvSpPr/>
          <p:nvPr/>
        </p:nvSpPr>
        <p:spPr>
          <a:xfrm>
            <a:off x="3376080" y="1422720"/>
            <a:ext cx="1675440" cy="49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DD9D5"/>
              </a:gs>
              <a:gs pos="50000">
                <a:srgbClr val="A0D2CD"/>
              </a:gs>
              <a:gs pos="100000">
                <a:srgbClr val="8FCFC8"/>
              </a:gs>
            </a:gsLst>
            <a:lin ang="5400000"/>
          </a:gradFill>
          <a:ln>
            <a:solidFill>
              <a:srgbClr val="57BAB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Prozess 2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Abgerundetes Rechteck 5"/>
          <p:cNvSpPr/>
          <p:nvPr/>
        </p:nvSpPr>
        <p:spPr>
          <a:xfrm>
            <a:off x="5369760" y="1422720"/>
            <a:ext cx="1866240" cy="495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DD9D5"/>
              </a:gs>
              <a:gs pos="50000">
                <a:srgbClr val="A0D2CD"/>
              </a:gs>
              <a:gs pos="100000">
                <a:srgbClr val="8FCFC8"/>
              </a:gs>
            </a:gsLst>
            <a:lin ang="5400000"/>
          </a:gradFill>
          <a:ln>
            <a:solidFill>
              <a:srgbClr val="57BAB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Prozess 3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TextBox 18"/>
          <p:cNvSpPr/>
          <p:nvPr/>
        </p:nvSpPr>
        <p:spPr>
          <a:xfrm>
            <a:off x="3132000" y="1991160"/>
            <a:ext cx="22809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Systemaufrufsschnittstelle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Box 19"/>
          <p:cNvSpPr/>
          <p:nvPr/>
        </p:nvSpPr>
        <p:spPr>
          <a:xfrm>
            <a:off x="651960" y="2138760"/>
            <a:ext cx="732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K</a:t>
            </a:r>
            <a:r>
              <a:rPr lang="en-DE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ernel </a:t>
            </a:r>
            <a:br>
              <a:rPr sz="1350"/>
            </a:br>
            <a:r>
              <a:rPr lang="en-DE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TextBox 20"/>
          <p:cNvSpPr/>
          <p:nvPr/>
        </p:nvSpPr>
        <p:spPr>
          <a:xfrm>
            <a:off x="641160" y="1630800"/>
            <a:ext cx="6170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User </a:t>
            </a:r>
            <a:br>
              <a:rPr sz="1350"/>
            </a:br>
            <a:r>
              <a:rPr lang="en-DE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mode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1.3 Inhalte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32E646A-0662-4EEE-9668-111E9564C094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4" name="Rounded Rectangle 1"/>
          <p:cNvSpPr/>
          <p:nvPr/>
        </p:nvSpPr>
        <p:spPr>
          <a:xfrm>
            <a:off x="372960" y="2935080"/>
            <a:ext cx="3262680" cy="35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5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151D95B4-E457-4430-884C-B477A7BD4CB0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1.4 Literatur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sng" strike="noStrike">
                <a:solidFill>
                  <a:srgbClr val="0432FF"/>
                </a:solidFill>
                <a:effectLst/>
                <a:uFillTx/>
                <a:latin typeface="Arial"/>
                <a:hlinkClick r:id="rId1"/>
              </a:rPr>
              <a:t>https://OSDev.org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Intel® 64 and IA-32 Architectures Software Developer’s Manual Volume 3 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(3A, 3B, 3C, &amp; 3D): System Programming Guide</a:t>
            </a:r>
            <a:br>
              <a:rPr sz="1600"/>
            </a:br>
            <a:r>
              <a:rPr lang="de-DE" sz="16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https://www.intel.com/content/www/us/en/developer/articles/technical/intel-sdm.html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1.4 Literatur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86E72175-AD6D-461F-A7DF-DD81F3C019C8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Vorschau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9" name="Rounded Rectangle 1"/>
          <p:cNvSpPr/>
          <p:nvPr/>
        </p:nvSpPr>
        <p:spPr>
          <a:xfrm>
            <a:off x="372960" y="3583080"/>
            <a:ext cx="3262680" cy="3596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90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1.1 Organisation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1.2 Lernziele und Nutzen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1.3 Inhalte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1.4 Literatur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 Einführung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5D43DA5C-975A-4C20-9B38-E3FA7EB7C4FE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1.5 Einordnung der Veranstaltung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92" name=""/>
          <p:cNvPicPr/>
          <p:nvPr/>
        </p:nvPicPr>
        <p:blipFill>
          <a:blip r:embed="rId1"/>
          <a:stretch/>
        </p:blipFill>
        <p:spPr>
          <a:xfrm>
            <a:off x="540360" y="1440000"/>
            <a:ext cx="7899480" cy="27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1.5 Einordnung der Veranstaltung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7BF287D-25F4-4066-B129-9CA82253907A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22607</TotalTime>
  <Application>LibreOffice/26.2.4.2$Linux_X86_64 LibreOffice_project/df4f15f06f7b375c1d16aa35fba92d50b262cd01</Application>
  <AppVersion>15.0000</AppVersion>
  <Words>709</Words>
  <Paragraphs>213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2026-07-06T12:40:16Z</cp:lastPrinted>
  <dcterms:modified xsi:type="dcterms:W3CDTF">2026-07-06T12:40:35Z</dcterms:modified>
  <cp:revision>960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Custom</vt:lpwstr>
  </property>
  <property fmtid="{D5CDD505-2E9C-101B-9397-08002B2CF9AE}" pid="4" name="Slides">
    <vt:i4>21</vt:i4>
  </property>
</Properties>
</file>