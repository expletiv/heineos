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47E4D6-D955-4B46-A6E0-B977633B3F05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200" cy="308556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880" cy="298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7280" cy="3491640"/>
          </a:xfrm>
          <a:custGeom>
            <a:avLst/>
            <a:gdLst>
              <a:gd name="textAreaLeft" fmla="*/ 0 w 3167280"/>
              <a:gd name="textAreaRight" fmla="*/ 3168000 w 3167280"/>
              <a:gd name="textAreaTop" fmla="*/ 0 h 3491640"/>
              <a:gd name="textAreaBottom" fmla="*/ 3492360 h 34916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000" cy="5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00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5960" cy="110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24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600" cy="118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280" cy="3825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680" cy="27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2960" cy="5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480" cy="582840"/>
            <a:chOff x="522720" y="385200"/>
            <a:chExt cx="1527480" cy="5828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1280" cy="142560"/>
            </a:xfrm>
            <a:custGeom>
              <a:avLst/>
              <a:gdLst>
                <a:gd name="textAreaLeft" fmla="*/ 0 w 161280"/>
                <a:gd name="textAreaRight" fmla="*/ 162000 w 161280"/>
                <a:gd name="textAreaTop" fmla="*/ 0 h 142560"/>
                <a:gd name="textAreaBottom" fmla="*/ 143280 h 1425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0640" tIns="45000" rIns="8064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840" cy="39672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396720"/>
                <a:gd name="textAreaBottom" fmla="*/ 397440 h 3967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840" cy="513000"/>
            </a:xfrm>
            <a:custGeom>
              <a:avLst/>
              <a:gdLst>
                <a:gd name="textAreaLeft" fmla="*/ 0 w 393840"/>
                <a:gd name="textAreaRight" fmla="*/ 394560 w 393840"/>
                <a:gd name="textAreaTop" fmla="*/ 0 h 513000"/>
                <a:gd name="textAreaBottom" fmla="*/ 513720 h 5130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764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280" cy="2395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99" name="Gruppieren 52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0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0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05" name="Freihandform: Form 3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Freihandform: Form 3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Freihandform: Form 3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Freihandform: Form 3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Freihandform: Form 3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4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1" name="Freihandform: Form 17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ihandform: Form 18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ihandform: Form 1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15" name="Freihandform: Form 3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3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7" name="Freihandform: Form 2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19" name="Freihandform: Form 3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2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ihandform: Form 2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ihandform: Form 2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25" name="Freihandform: Form 2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6" name="Freihandform: Form 2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2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8" name="Freihandform: Form 3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29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4943720-891D-4C8B-BAB4-B362014D274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864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Gerader Verbinder 45"/>
          <p:cNvCxnSpPr/>
          <p:nvPr/>
        </p:nvCxnSpPr>
        <p:spPr>
          <a:xfrm>
            <a:off x="4464000" y="974520"/>
            <a:ext cx="289008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33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64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3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4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4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5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5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36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0A22841-650D-4EB7-B6A1-80F2D00442B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7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3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3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3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3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3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7C66C2A-7638-4CEA-B289-59B165C5332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72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14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7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1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20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6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30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34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5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6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40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4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5" name="Gruppieren 53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4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39091DD-AB23-496E-931D-2F37DECA6B2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52" name="Gerader Verbinder 46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53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440" cy="4914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0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5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5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58" name="Freihandform: Form 68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69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70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71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72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3" name="Freihandform: Form 73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4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ihandform: Form 4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68" name="Freihandform: Form 66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67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50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472" name="Freihandform: Form 6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6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4" name="Freihandform: Form 52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5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ihandform: Form 5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478" name="Freihandform: Form 6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6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6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Freihandform: Form 6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48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48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48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49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0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0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3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14" name="Gruppieren 54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1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8" name="PlaceHolder 1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390F80E-A70C-47A1-A958-0C9C9B63CEC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0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21" name="Gerader Verbinder 47"/>
          <p:cNvCxnSpPr/>
          <p:nvPr/>
        </p:nvCxnSpPr>
        <p:spPr>
          <a:xfrm>
            <a:off x="4625640" y="974520"/>
            <a:ext cx="272844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52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360" cy="2430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360" cy="2420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6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6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26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27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28" name="Freihandform: Form 69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70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71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72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73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74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4" name="Freihandform: Form 45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Freihandform: Form 46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49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38" name="Freihandform: Form 67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8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51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1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42" name="Freihandform: Form 65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3" name="Freihandform: Form 66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4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Freihandform: Form 58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59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7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48" name="Freihandform: Form 61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62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63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64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5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5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5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5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5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56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57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57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276943A-4222-4A88-B196-AEEC4E6D8EE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392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59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9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9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59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59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0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1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1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3F9F76E-C7AD-45F4-8038-000AB5BD02F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36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3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3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3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3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3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4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5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5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ABEB4D7-92DD-4ECB-AA54-6DCC43B7999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2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66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7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67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67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68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68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69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F3A8E12-C81E-4123-9018-30A1B717C7F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0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0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0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0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0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1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2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2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3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E30262D-EBCC-41A0-8D58-73F52A9D90B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3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4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4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4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4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5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5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5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76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6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63EC5EF-4745-42B8-AEAA-95D0F77122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360" cy="3310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7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7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7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7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7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05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1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1136EAF-258B-4195-8417-2386C53775A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0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1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1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2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2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3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9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40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4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45" name="Grafik 11"/>
          <p:cNvSpPr/>
          <p:nvPr/>
        </p:nvSpPr>
        <p:spPr>
          <a:xfrm>
            <a:off x="0" y="0"/>
            <a:ext cx="3731400" cy="4914360"/>
          </a:xfrm>
          <a:custGeom>
            <a:avLst/>
            <a:gdLst>
              <a:gd name="textAreaLeft" fmla="*/ 0 w 3731400"/>
              <a:gd name="textAreaRight" fmla="*/ 3732120 w 3731400"/>
              <a:gd name="textAreaTop" fmla="*/ 0 h 4914360"/>
              <a:gd name="textAreaBottom" fmla="*/ 4915080 h 49143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F1AA85B-6FA4-46B2-9CA1-411FBF60D0E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48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49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50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6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9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60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2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3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64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6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9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870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1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875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8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9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880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881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891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3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4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895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6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7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0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01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2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5" name="Freihandform: Form 44" hidden="1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06" name="Gruppieren 49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0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00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4619C9B-0955-420F-905C-63F26162A67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1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1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15" name="Freihandform: Form 65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66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7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68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69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70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43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44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45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25" name="Freihandform: Form 63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64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7" name="Freihandform: Form 47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29" name="Freihandform: Form 61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Freihandform: Form 62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1" name="Freihandform: Form 53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54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Freihandform: Form 55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35" name="Freihandform: Form 57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58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59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60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4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4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4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4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4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5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6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96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72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768CBD-9997-4268-859F-EBF68597AE3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08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68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97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98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98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99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99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0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0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68909EE-E935-4533-B298-88C9A4DB927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1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1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1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1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2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3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3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4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2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PlaceHolder 3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353CCA3-57BF-4E66-87EF-9AA2FC14F8B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36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9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50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53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54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55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56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1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2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5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066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8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9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070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2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5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076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80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82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9D77074-1103-4202-AC4A-63B4E995433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23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6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087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90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91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092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093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9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1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2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03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5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6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07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9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2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13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ftr" idx="4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4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88BCB20-2960-4749-9EA8-D4D0A94F2A3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24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24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00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26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9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0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31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32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6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8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1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42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4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5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46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7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8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1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52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6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5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4753A62-3D41-4A4B-9EED-2A74D9B479B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6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6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67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168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169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5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8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179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1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2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183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5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8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189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3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B1DDDF5-E014-40AC-B1C9-99C8EC6998E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3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8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9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3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5B12F3A-FC4F-4745-826A-DB2FE4C9FD8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20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9640" cy="3491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1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53C3656-B7B0-4E2F-AA7E-6A0E21A5ACD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9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720" cy="163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8320" cy="197280"/>
            <a:chOff x="-5040" y="4950720"/>
            <a:chExt cx="9148320" cy="19728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4200" cy="197280"/>
            </a:xfrm>
            <a:custGeom>
              <a:avLst/>
              <a:gdLst>
                <a:gd name="textAreaLeft" fmla="*/ 0 w 484200"/>
                <a:gd name="textAreaRight" fmla="*/ 484920 w 48420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920" cy="197280"/>
            </a:xfrm>
            <a:custGeom>
              <a:avLst/>
              <a:gdLst>
                <a:gd name="textAreaLeft" fmla="*/ 0 w 8620920"/>
                <a:gd name="textAreaRight" fmla="*/ 8621640 w 8620920"/>
                <a:gd name="textAreaTop" fmla="*/ 0 h 197280"/>
                <a:gd name="textAreaBottom" fmla="*/ 198000 h 1972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920" cy="16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2800" cy="7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400" cy="620280"/>
            <a:chOff x="7741440" y="394200"/>
            <a:chExt cx="1049400" cy="62028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4160" cy="431640"/>
              <a:chOff x="7741440" y="394200"/>
              <a:chExt cx="884160" cy="43164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480" cy="26784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267840"/>
                  <a:gd name="textAreaBottom" fmla="*/ 268560 h 2678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480" cy="347760"/>
              </a:xfrm>
              <a:custGeom>
                <a:avLst/>
                <a:gdLst>
                  <a:gd name="textAreaLeft" fmla="*/ 0 w 267480"/>
                  <a:gd name="textAreaRight" fmla="*/ 268200 w 267480"/>
                  <a:gd name="textAreaTop" fmla="*/ 0 h 347760"/>
                  <a:gd name="textAreaBottom" fmla="*/ 348480 h 3477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8280" cy="8280"/>
              </a:xfrm>
              <a:custGeom>
                <a:avLst/>
                <a:gdLst>
                  <a:gd name="textAreaLeft" fmla="*/ 0 w 8280"/>
                  <a:gd name="textAreaRight" fmla="*/ 9000 w 8280"/>
                  <a:gd name="textAreaTop" fmla="*/ 0 h 8280"/>
                  <a:gd name="textAreaBottom" fmla="*/ 9000 h 82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4320" tIns="-36000" rIns="432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520" cy="41040"/>
              <a:chOff x="7872120" y="834120"/>
              <a:chExt cx="74520" cy="4104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480" cy="41040"/>
              </a:xfrm>
              <a:custGeom>
                <a:avLst/>
                <a:gdLst>
                  <a:gd name="textAreaLeft" fmla="*/ 0 w 24480"/>
                  <a:gd name="textAreaRight" fmla="*/ 25200 w 24480"/>
                  <a:gd name="textAreaTop" fmla="*/ 0 h 41040"/>
                  <a:gd name="textAreaBottom" fmla="*/ 41760 h 410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2240" tIns="-3240" rIns="1224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480" cy="64800"/>
              <a:chOff x="7979760" y="812160"/>
              <a:chExt cx="78480" cy="6480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840" cy="428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2840"/>
                  <a:gd name="textAreaBottom" fmla="*/ 43560 h 428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840" cy="626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62640"/>
                  <a:gd name="textAreaBottom" fmla="*/ 63360 h 626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18360" rIns="1692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840" cy="57240"/>
            </a:xfrm>
            <a:custGeom>
              <a:avLst/>
              <a:gdLst>
                <a:gd name="textAreaLeft" fmla="*/ 0 w 42840"/>
                <a:gd name="textAreaRight" fmla="*/ 43560 w 42840"/>
                <a:gd name="textAreaTop" fmla="*/ 0 h 57240"/>
                <a:gd name="textAreaBottom" fmla="*/ 57960 h 572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1600" tIns="12960" rIns="216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640" cy="42840"/>
            </a:xfrm>
            <a:custGeom>
              <a:avLst/>
              <a:gdLst>
                <a:gd name="textAreaLeft" fmla="*/ 0 w 35640"/>
                <a:gd name="textAreaRight" fmla="*/ 36360 w 35640"/>
                <a:gd name="textAreaTop" fmla="*/ 0 h 42840"/>
                <a:gd name="textAreaBottom" fmla="*/ 43560 h 428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-1440" rIns="18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480" cy="39240"/>
            </a:xfrm>
            <a:custGeom>
              <a:avLst/>
              <a:gdLst>
                <a:gd name="textAreaLeft" fmla="*/ 0 w 6480"/>
                <a:gd name="textAreaRight" fmla="*/ 7200 w 6480"/>
                <a:gd name="textAreaTop" fmla="*/ 0 h 39240"/>
                <a:gd name="textAreaBottom" fmla="*/ 39960 h 392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240" tIns="-5040" rIns="324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400" cy="180360"/>
              <a:chOff x="7741440" y="834120"/>
              <a:chExt cx="1049400" cy="18036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4560 w 33840"/>
                  <a:gd name="textAreaTop" fmla="*/ 0 h 41040"/>
                  <a:gd name="textAreaBottom" fmla="*/ 41760 h 410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3240" rIns="169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640" cy="42840"/>
              </a:xfrm>
              <a:custGeom>
                <a:avLst/>
                <a:gdLst>
                  <a:gd name="textAreaLeft" fmla="*/ 0 w 35640"/>
                  <a:gd name="textAreaRight" fmla="*/ 36360 w 35640"/>
                  <a:gd name="textAreaTop" fmla="*/ 0 h 42840"/>
                  <a:gd name="textAreaBottom" fmla="*/ 43560 h 428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8000" tIns="-1440" rIns="18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800" cy="62640"/>
              </a:xfrm>
              <a:custGeom>
                <a:avLst/>
                <a:gdLst>
                  <a:gd name="textAreaLeft" fmla="*/ 0 w 883800"/>
                  <a:gd name="textAreaRight" fmla="*/ 884520 w 883800"/>
                  <a:gd name="textAreaTop" fmla="*/ 0 h 62640"/>
                  <a:gd name="textAreaBottom" fmla="*/ 63360 h 626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400" cy="99000"/>
              </a:xfrm>
              <a:custGeom>
                <a:avLst/>
                <a:gdLst>
                  <a:gd name="textAreaLeft" fmla="*/ 0 w 113400"/>
                  <a:gd name="textAreaRight" fmla="*/ 114120 w 113400"/>
                  <a:gd name="textAreaTop" fmla="*/ 0 h 99000"/>
                  <a:gd name="textAreaBottom" fmla="*/ 99720 h 990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880" tIns="45000" rIns="5688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600" cy="294120"/>
          </a:xfrm>
          <a:custGeom>
            <a:avLst/>
            <a:gdLst>
              <a:gd name="textAreaLeft" fmla="*/ 0 w 336600"/>
              <a:gd name="textAreaRight" fmla="*/ 337320 w 336600"/>
              <a:gd name="textAreaTop" fmla="*/ 0 h 294120"/>
              <a:gd name="textAreaBottom" fmla="*/ 294840 h 2941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60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F3FD52A-2EA2-41B7-B094-6DDE977088A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9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720" cy="3491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360" cy="32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86720"/>
            <a:ext cx="4949280" cy="106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and Protection in Operating Systems</a:t>
            </a:r>
            <a:br>
              <a:rPr sz="3600"/>
            </a:br>
            <a:br>
              <a:rPr sz="3600"/>
            </a:b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5. Kernel Isolation in x86-64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400280" cy="6040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Address Space Layout before Meltdown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Inhaltsplatzhalter 7"/>
          <p:cNvSpPr/>
          <p:nvPr/>
        </p:nvSpPr>
        <p:spPr>
          <a:xfrm>
            <a:off x="521640" y="1206720"/>
            <a:ext cx="809568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process has its own address space =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kernel is mapped into every address space =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via segmentation =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Privilege Level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Protection via paging = Kernel is protected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via U/S bit in page tables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Rectangle 1"/>
          <p:cNvSpPr/>
          <p:nvPr/>
        </p:nvSpPr>
        <p:spPr>
          <a:xfrm>
            <a:off x="6765840" y="3566880"/>
            <a:ext cx="1961280" cy="42300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Rectangle 2"/>
          <p:cNvSpPr/>
          <p:nvPr/>
        </p:nvSpPr>
        <p:spPr>
          <a:xfrm>
            <a:off x="6766200" y="2215080"/>
            <a:ext cx="1961640" cy="134604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Box 3"/>
          <p:cNvSpPr/>
          <p:nvPr/>
        </p:nvSpPr>
        <p:spPr>
          <a:xfrm flipV="1">
            <a:off x="6485400" y="3844080"/>
            <a:ext cx="27540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B08B68B-DA39-4BC1-8EF7-8AFD3B4D4E3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0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Discovered in July of 2017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Affects CPUs from Intel, AMD and ARM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Undected for ~20 years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What happens?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Bypasses isolation betwen operating system (kernel mode)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application (user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Enables access to protected kernel memory from user mode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to the memory of other processes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Naming: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Melting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hardware/operating system security barriers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2" name="Picture 1"/>
          <p:cNvPicPr/>
          <p:nvPr/>
        </p:nvPicPr>
        <p:blipFill>
          <a:blip r:embed="rId1"/>
          <a:stretch/>
        </p:blipFill>
        <p:spPr>
          <a:xfrm>
            <a:off x="6660360" y="1440360"/>
            <a:ext cx="1140480" cy="161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2E8B0D7-D368-4F36-B3D6-722575287FE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4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Meltdown is a sidechannel attack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Attackers cannot directly access the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Idea: Use independent events for communication (e.g. light on/off)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Extraction via a secret information channel (originates from embedded systems)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Exploit is based on a combination of different acceleration functions in hardware and operating systems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Parallel and speculative execution of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Caching and TLB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Address spaces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40D9F99-0894-457C-8AA6-0787797F891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Pipelining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7" name="PlaceHolder 2"/>
          <p:cNvSpPr>
            <a:spLocks noGrp="1"/>
          </p:cNvSpPr>
          <p:nvPr>
            <p:ph type="ftr" idx="6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Lukas Iffländer, University Würzburg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Instructions are complex and accessing memory is slow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Pipelining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Decode instructions into micro operations (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Symbol"/>
                <a:ea typeface="Source Han Sans CN"/>
              </a:rPr>
              <a:t>m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OPs) and load data beforehand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Instruction execution workflow: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1. Instruction Fetch (IF)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2. Instruction Decode (IDEC)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3. Instruction Execute (EX)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4. Memory Access (MEM)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5. Result Writeback (WB)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9" name="Picture 4"/>
          <p:cNvPicPr/>
          <p:nvPr/>
        </p:nvPicPr>
        <p:blipFill>
          <a:blip r:embed="rId1"/>
          <a:stretch/>
        </p:blipFill>
        <p:spPr>
          <a:xfrm>
            <a:off x="4295880" y="2719080"/>
            <a:ext cx="3943080" cy="101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FDBD378-C0B1-4A70-8981-A4C37D521F8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Pipelining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2"/>
          <p:cNvSpPr>
            <a:spLocks noGrp="1"/>
          </p:cNvSpPr>
          <p:nvPr>
            <p:ph type="ftr" idx="6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	</a:t>
            </a: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Lukas Iffländer, University Würzburg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42" name="Picture 1"/>
          <p:cNvPicPr/>
          <p:nvPr/>
        </p:nvPicPr>
        <p:blipFill>
          <a:blip r:embed="rId1"/>
          <a:stretch/>
        </p:blipFill>
        <p:spPr>
          <a:xfrm>
            <a:off x="2313000" y="1008000"/>
            <a:ext cx="3986640" cy="386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E4FC10D-C667-4F8B-8675-83EDB37E5EB8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Branch Prediction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2"/>
          <p:cNvSpPr>
            <a:spLocks noGrp="1"/>
          </p:cNvSpPr>
          <p:nvPr>
            <p:ph type="ftr" idx="6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Pipelining → Decode instructions and load data beforehand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When the code branches, it is unclear where the execution path continues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Branch Prediction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Speculative Execution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Changes done by executed code only become visible if the speculation was right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Works well with loops → High probability for another iteration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5B59E39-8C06-47E1-A41B-C6FB63AC246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Out-of-Order Execution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2"/>
          <p:cNvSpPr>
            <a:spLocks noGrp="1"/>
          </p:cNvSpPr>
          <p:nvPr>
            <p:ph type="ftr" idx="6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Clock rates come near physical limits → Parallel execution for better scalability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Moste CPUs since 1998 are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superscalar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superscalar CPU has multiple execution units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Can execute multiple instruction per clock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9" name="Picture 4"/>
          <p:cNvPicPr/>
          <p:nvPr/>
        </p:nvPicPr>
        <p:blipFill>
          <a:blip r:embed="rId1"/>
          <a:stretch/>
        </p:blipFill>
        <p:spPr>
          <a:xfrm>
            <a:off x="1979640" y="2575080"/>
            <a:ext cx="5012280" cy="224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0" name="TextBox 5"/>
          <p:cNvSpPr/>
          <p:nvPr/>
        </p:nvSpPr>
        <p:spPr>
          <a:xfrm>
            <a:off x="2700000" y="4937760"/>
            <a:ext cx="4424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</a:t>
            </a: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https://acl.inf.ethz.ch/teaching/fastcode/2023/slides/03-architecture-core.pdf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94BA4CC-8D7A-4B3E-99C3-1487AC8D741D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Out-of-Order Execution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2" name="PlaceHolder 2"/>
          <p:cNvSpPr>
            <a:spLocks noGrp="1"/>
          </p:cNvSpPr>
          <p:nvPr>
            <p:ph type="ftr" idx="6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Goal: use as all execution units if possible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Distribute all sequential instructions of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thread on multiple execution units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Instruction Level Parallelism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(ILP)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 CPUs use a RISC-microarchitecture internally, decomposing assembly instructions into multiple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ymbol"/>
              </a:rPr>
              <a:t>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ADD EAX, [MEM2]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decomposed into two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Symbol"/>
                <a:ea typeface="Source Han Sans CN"/>
              </a:rPr>
              <a:t>m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OPs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CPU fetches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[MEM2]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while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imul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being executed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Box 1"/>
          <p:cNvSpPr/>
          <p:nvPr/>
        </p:nvSpPr>
        <p:spPr>
          <a:xfrm>
            <a:off x="1800000" y="2670120"/>
            <a:ext cx="3887640" cy="82116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; Example 2.1. Out of order processing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mov eax, [mem1]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imul eax, 5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add eax, [mem2]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Box 4"/>
          <p:cNvSpPr/>
          <p:nvPr/>
        </p:nvSpPr>
        <p:spPr>
          <a:xfrm>
            <a:off x="2627640" y="4938840"/>
            <a:ext cx="45752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Beispiel aus: https://www.agner.org/optimize/microarchitecture.pdf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E9ACA1B-F20C-48A7-B591-27AC3139B28A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Out-of-Order Execution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2"/>
          <p:cNvSpPr>
            <a:spLocks noGrp="1"/>
          </p:cNvSpPr>
          <p:nvPr>
            <p:ph type="ftr" idx="6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Register Renaming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Registers are renamed by the microarchitecture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Internally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Register Alias Table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(RAT) is used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[MEM1]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multiplied by 6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[MEM3]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increased by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Both operations are independent from each other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can be execute out of order through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automatic register renaming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Box 1"/>
          <p:cNvSpPr/>
          <p:nvPr/>
        </p:nvSpPr>
        <p:spPr>
          <a:xfrm>
            <a:off x="5148000" y="1882440"/>
            <a:ext cx="3258000" cy="136980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; Example 2.3. Register renaming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4E8F00"/>
                </a:solidFill>
                <a:effectLst/>
                <a:uFillTx/>
                <a:latin typeface="Courier New"/>
              </a:rPr>
              <a:t>1: mov eax, [mem1]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4E8F00"/>
                </a:solidFill>
                <a:effectLst/>
                <a:uFillTx/>
                <a:latin typeface="Courier New"/>
              </a:rPr>
              <a:t>2: imul eax, 6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4E8F00"/>
                </a:solidFill>
                <a:effectLst/>
                <a:uFillTx/>
                <a:latin typeface="Courier New"/>
              </a:rPr>
              <a:t>3: mov [mem2], eax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432FF"/>
                </a:solidFill>
                <a:effectLst/>
                <a:uFillTx/>
                <a:latin typeface="Courier New"/>
              </a:rPr>
              <a:t>4: mov eax, [mem3]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432FF"/>
                </a:solidFill>
                <a:effectLst/>
                <a:uFillTx/>
                <a:latin typeface="Courier New"/>
              </a:rPr>
              <a:t>5: add eax, 2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432FF"/>
                </a:solidFill>
                <a:effectLst/>
                <a:uFillTx/>
                <a:latin typeface="Courier New"/>
              </a:rPr>
              <a:t>6: mov [mem4], eax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TextBox 3"/>
          <p:cNvSpPr/>
          <p:nvPr/>
        </p:nvSpPr>
        <p:spPr>
          <a:xfrm>
            <a:off x="2627640" y="4938840"/>
            <a:ext cx="457524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Beispiel aus: https://www.agner.org/optimize/microarchitecture.pdf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5F9C8B4-5F0E-4C0B-B54F-C87B19957DB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CPU: Retire in Order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2" name="PlaceHolder 2"/>
          <p:cNvSpPr>
            <a:spLocks noGrp="1"/>
          </p:cNvSpPr>
          <p:nvPr>
            <p:ph type="ftr" idx="6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the end the changes done by the assembly instructions must become visible in the correct order (as dictated by the program) →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Retire in Order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done by the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Reorder Buffer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(ROB):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Monitors correct order of assembly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Manages exception processing (in the right order)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D0C85C7-035F-4876-9AB7-E106312F981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Example: Nehalem Core Pipeline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5" name="PlaceHolder 2"/>
          <p:cNvSpPr>
            <a:spLocks noGrp="1"/>
          </p:cNvSpPr>
          <p:nvPr>
            <p:ph type="ftr" idx="6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6" name="Picture 1"/>
          <p:cNvPicPr/>
          <p:nvPr/>
        </p:nvPicPr>
        <p:blipFill>
          <a:blip r:embed="rId1"/>
          <a:stretch/>
        </p:blipFill>
        <p:spPr>
          <a:xfrm>
            <a:off x="1907640" y="1140120"/>
            <a:ext cx="5079960" cy="343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7" name="TextBox 4"/>
          <p:cNvSpPr/>
          <p:nvPr/>
        </p:nvSpPr>
        <p:spPr>
          <a:xfrm>
            <a:off x="526680" y="4645800"/>
            <a:ext cx="79880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CMR10"/>
              </a:rPr>
              <a:t>High-level diagram of a Nehalem core pipeline, </a:t>
            </a: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CMR12"/>
              </a:rPr>
              <a:t>Michael E. Thomadakis, Ph.D., https://progforperf.github.io/nehalem.pdf 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CMR10"/>
              </a:rPr>
              <a:t> 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54519CF-6F65-40EE-B498-0EB39DB6A193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Example: Out-of-Order Execution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2"/>
          <p:cNvSpPr>
            <a:spLocks noGrp="1"/>
          </p:cNvSpPr>
          <p:nvPr>
            <p:ph type="ftr" idx="6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Inhaltsplatzhalter 7"/>
          <p:cNvSpPr/>
          <p:nvPr/>
        </p:nvSpPr>
        <p:spPr>
          <a:xfrm>
            <a:off x="521640" y="1206720"/>
            <a:ext cx="862164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Cache is completely replaced (e.g., by reading a very large array)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Afterward the following program is executed: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 2 is obviously independent from line 1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TextBox 3"/>
          <p:cNvSpPr/>
          <p:nvPr/>
        </p:nvSpPr>
        <p:spPr>
          <a:xfrm>
            <a:off x="1619640" y="1926720"/>
            <a:ext cx="6262560" cy="45540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1: </a:t>
            </a:r>
            <a:r>
              <a:rPr lang="de-DE" sz="1200" b="1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*(volatile char*) 0;  </a:t>
            </a:r>
            <a:r>
              <a:rPr lang="de-DE" sz="1200" b="0" u="none" strike="noStrike">
                <a:solidFill>
                  <a:srgbClr val="4E8F00"/>
                </a:solidFill>
                <a:effectLst/>
                <a:uFillTx/>
                <a:latin typeface="Courier New"/>
              </a:rPr>
              <a:t>// raise_exception();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2: array[84 * 4096] = 0; </a:t>
            </a:r>
            <a:r>
              <a:rPr lang="de-DE" sz="1200" b="0" u="none" strike="noStrike">
                <a:solidFill>
                  <a:srgbClr val="4E8F00"/>
                </a:solidFill>
                <a:effectLst/>
                <a:uFillTx/>
                <a:latin typeface="Courier New"/>
              </a:rPr>
              <a:t>// access 84 page from array start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Box 5"/>
          <p:cNvSpPr/>
          <p:nvPr/>
        </p:nvSpPr>
        <p:spPr>
          <a:xfrm>
            <a:off x="2520000" y="4939560"/>
            <a:ext cx="4464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Code from: https://www.usenix.org/conference/usenixsecurity18/presentation/lipp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4E8D1D9-466F-4A31-B35E-365131BF9D6B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Example: Out-of-Order Execution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4" name="PlaceHolder 2"/>
          <p:cNvSpPr>
            <a:spLocks noGrp="1"/>
          </p:cNvSpPr>
          <p:nvPr>
            <p:ph type="ftr" idx="7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Inhaltsplatzhalter 7"/>
          <p:cNvSpPr/>
          <p:nvPr/>
        </p:nvSpPr>
        <p:spPr>
          <a:xfrm>
            <a:off x="521640" y="1206720"/>
            <a:ext cx="862164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 the elements of array and measure the access times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access is much faster than the others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→ Instruction in line 2 has been executed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→ Exception (caused by line 1) was thrown afterward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→ Cache is not reset by the exception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   → We can indirectly observe the execution of a volatile instruction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6" name="Picture 4"/>
          <p:cNvPicPr/>
          <p:nvPr/>
        </p:nvPicPr>
        <p:blipFill>
          <a:blip r:embed="rId1"/>
          <a:stretch/>
        </p:blipFill>
        <p:spPr>
          <a:xfrm>
            <a:off x="1763640" y="1638720"/>
            <a:ext cx="4896000" cy="145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7" name="TextBox 5"/>
          <p:cNvSpPr/>
          <p:nvPr/>
        </p:nvSpPr>
        <p:spPr>
          <a:xfrm>
            <a:off x="2520000" y="4939560"/>
            <a:ext cx="4247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https://www.usenix.org/conference/usenixsecurity18/presentation/lipp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14D16DA-56E2-40EC-BABE-7CE44B84D0CB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 Attack (Principle)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9" name="PlaceHolder 2"/>
          <p:cNvSpPr>
            <a:spLocks noGrp="1"/>
          </p:cNvSpPr>
          <p:nvPr>
            <p:ph type="ftr" idx="7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1: Delete the cache by allocating (and reading) a large array in user space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user_addr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the picture)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Rectangle 32"/>
          <p:cNvSpPr/>
          <p:nvPr/>
        </p:nvSpPr>
        <p:spPr>
          <a:xfrm>
            <a:off x="4897080" y="1876680"/>
            <a:ext cx="1266840" cy="33984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2" name="Rectangle 33"/>
          <p:cNvSpPr/>
          <p:nvPr/>
        </p:nvSpPr>
        <p:spPr>
          <a:xfrm>
            <a:off x="4897080" y="2217240"/>
            <a:ext cx="1266840" cy="114912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3" name="Rectangle 34"/>
          <p:cNvSpPr/>
          <p:nvPr/>
        </p:nvSpPr>
        <p:spPr>
          <a:xfrm>
            <a:off x="4897080" y="2477880"/>
            <a:ext cx="1264320" cy="339840"/>
          </a:xfrm>
          <a:prstGeom prst="rect">
            <a:avLst/>
          </a:prstGeom>
          <a:solidFill>
            <a:srgbClr val="0B24F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84" name="TextBox 35"/>
          <p:cNvSpPr/>
          <p:nvPr/>
        </p:nvSpPr>
        <p:spPr>
          <a:xfrm>
            <a:off x="3767760" y="2687400"/>
            <a:ext cx="7498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rgbClr val="0B24FB"/>
                </a:solidFill>
                <a:effectLst/>
                <a:uFillTx/>
                <a:latin typeface="Arial"/>
              </a:rPr>
              <a:t>user_addr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5" name="Straight Arrow Connector 36"/>
          <p:cNvCxnSpPr/>
          <p:nvPr/>
        </p:nvCxnSpPr>
        <p:spPr>
          <a:xfrm>
            <a:off x="4535640" y="2818080"/>
            <a:ext cx="364320" cy="720"/>
          </a:xfrm>
          <a:prstGeom prst="straightConnector1">
            <a:avLst/>
          </a:prstGeom>
          <a:ln w="0">
            <a:solidFill>
              <a:srgbClr val="0B24FB"/>
            </a:solidFill>
            <a:tailEnd len="med" type="triangle" w="med"/>
          </a:ln>
        </p:spPr>
      </p:cxnSp>
      <p:cxnSp>
        <p:nvCxnSpPr>
          <p:cNvPr id="1386" name="Straight Arrow Connector 37"/>
          <p:cNvCxnSpPr>
            <a:stCxn id="1383" idx="2"/>
          </p:cNvCxnSpPr>
          <p:nvPr/>
        </p:nvCxnSpPr>
        <p:spPr>
          <a:xfrm flipV="1">
            <a:off x="5529240" y="2476080"/>
            <a:ext cx="2160" cy="342000"/>
          </a:xfrm>
          <a:prstGeom prst="straightConnector1">
            <a:avLst/>
          </a:prstGeom>
          <a:ln w="0">
            <a:solidFill>
              <a:srgbClr val="FFFFFF"/>
            </a:solidFill>
            <a:tailEnd len="med" type="triangle" w="med"/>
          </a:ln>
        </p:spPr>
      </p:cxnSp>
      <p:sp>
        <p:nvSpPr>
          <p:cNvPr id="1387" name="TextBox 38"/>
          <p:cNvSpPr/>
          <p:nvPr/>
        </p:nvSpPr>
        <p:spPr>
          <a:xfrm>
            <a:off x="5544000" y="2540160"/>
            <a:ext cx="433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read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8" name="Right Brace 39"/>
          <p:cNvSpPr/>
          <p:nvPr/>
        </p:nvSpPr>
        <p:spPr>
          <a:xfrm>
            <a:off x="6197760" y="1876680"/>
            <a:ext cx="167040" cy="33984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83520" tIns="45000" rIns="83520" bIns="45000" anchor="ctr">
            <a:noAutofit/>
          </a:bodyPr>
          <a:p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9" name="Right Brace 40"/>
          <p:cNvSpPr/>
          <p:nvPr/>
        </p:nvSpPr>
        <p:spPr>
          <a:xfrm>
            <a:off x="6206400" y="2217240"/>
            <a:ext cx="167040" cy="114912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83520" tIns="45000" rIns="83520" bIns="45000" anchor="ctr">
            <a:noAutofit/>
          </a:bodyPr>
          <a:p>
            <a:endParaRPr lang="en-US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Box 41"/>
          <p:cNvSpPr/>
          <p:nvPr/>
        </p:nvSpPr>
        <p:spPr>
          <a:xfrm>
            <a:off x="6365520" y="1923840"/>
            <a:ext cx="939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Arial"/>
              </a:rPr>
              <a:t>Kernel Space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TextBox 42"/>
          <p:cNvSpPr/>
          <p:nvPr/>
        </p:nvSpPr>
        <p:spPr>
          <a:xfrm>
            <a:off x="6360840" y="2662560"/>
            <a:ext cx="8409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>
                    <a:lumMod val="50000"/>
                  </a:schemeClr>
                </a:solidFill>
                <a:effectLst/>
                <a:uFillTx/>
                <a:latin typeface="Arial"/>
              </a:rPr>
              <a:t>User Space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56991ED-4EFD-4DA6-858A-A033372F799B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 Attack (Principle)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3" name="PlaceHolder 2"/>
          <p:cNvSpPr>
            <a:spLocks noGrp="1"/>
          </p:cNvSpPr>
          <p:nvPr>
            <p:ph type="ftr" idx="7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2: Execute the following code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kernel_addr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forbidden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accessing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user_addr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allowed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Box 19"/>
          <p:cNvSpPr/>
          <p:nvPr/>
        </p:nvSpPr>
        <p:spPr>
          <a:xfrm>
            <a:off x="7016760" y="1573920"/>
            <a:ext cx="985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k</a:t>
            </a:r>
            <a:r>
              <a:rPr lang="en-DE" sz="12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ernel_addr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6" name="Straight Arrow Connector 20"/>
          <p:cNvCxnSpPr/>
          <p:nvPr/>
        </p:nvCxnSpPr>
        <p:spPr>
          <a:xfrm flipH="1">
            <a:off x="6760080" y="1696680"/>
            <a:ext cx="267840" cy="720"/>
          </a:xfrm>
          <a:prstGeom prst="straightConnector1">
            <a:avLst/>
          </a:prstGeom>
          <a:ln w="0">
            <a:solidFill>
              <a:srgbClr val="FF0000"/>
            </a:solidFill>
            <a:tailEnd len="med" type="triangle" w="med"/>
          </a:ln>
        </p:spPr>
      </p:cxnSp>
      <p:sp>
        <p:nvSpPr>
          <p:cNvPr id="1397" name="TextBox 21"/>
          <p:cNvSpPr/>
          <p:nvPr/>
        </p:nvSpPr>
        <p:spPr>
          <a:xfrm>
            <a:off x="7033680" y="2738520"/>
            <a:ext cx="866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rgbClr val="0B24FB"/>
                </a:solidFill>
                <a:effectLst/>
                <a:uFillTx/>
                <a:latin typeface="Arial"/>
              </a:rPr>
              <a:t>user</a:t>
            </a:r>
            <a:r>
              <a:rPr lang="en-DE" sz="1200" b="0" u="none" strike="noStrike">
                <a:solidFill>
                  <a:srgbClr val="0B24FB"/>
                </a:solidFill>
                <a:effectLst/>
                <a:uFillTx/>
                <a:latin typeface="Arial"/>
              </a:rPr>
              <a:t>_addr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8" name="Straight Arrow Connector 22"/>
          <p:cNvCxnSpPr/>
          <p:nvPr/>
        </p:nvCxnSpPr>
        <p:spPr>
          <a:xfrm flipH="1">
            <a:off x="6764040" y="2858040"/>
            <a:ext cx="253440" cy="4320"/>
          </a:xfrm>
          <a:prstGeom prst="straightConnector1">
            <a:avLst/>
          </a:prstGeom>
          <a:ln w="0">
            <a:solidFill>
              <a:srgbClr val="0B24FB"/>
            </a:solidFill>
            <a:tailEnd len="med" type="triangle" w="med"/>
          </a:ln>
        </p:spPr>
      </p:cxnSp>
      <p:sp>
        <p:nvSpPr>
          <p:cNvPr id="1399" name="Rectangle 23"/>
          <p:cNvSpPr/>
          <p:nvPr/>
        </p:nvSpPr>
        <p:spPr>
          <a:xfrm>
            <a:off x="5495040" y="1494720"/>
            <a:ext cx="1264320" cy="33984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0" name="Rectangle 24"/>
          <p:cNvSpPr/>
          <p:nvPr/>
        </p:nvSpPr>
        <p:spPr>
          <a:xfrm>
            <a:off x="5495040" y="1835640"/>
            <a:ext cx="1264320" cy="114912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25"/>
          <p:cNvSpPr/>
          <p:nvPr/>
        </p:nvSpPr>
        <p:spPr>
          <a:xfrm>
            <a:off x="5492880" y="2096280"/>
            <a:ext cx="1264320" cy="339840"/>
          </a:xfrm>
          <a:prstGeom prst="rect">
            <a:avLst/>
          </a:prstGeom>
          <a:pattFill prst="wdDnDiag">
            <a:fgClr>
              <a:srgbClr val="0B24FB"/>
            </a:fgClr>
            <a:bgClr>
              <a:srgbClr val="FFFFFF"/>
            </a:bgClr>
          </a:patt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2" name="Rectangle 26"/>
          <p:cNvSpPr/>
          <p:nvPr/>
        </p:nvSpPr>
        <p:spPr>
          <a:xfrm>
            <a:off x="5492880" y="1625400"/>
            <a:ext cx="1266840" cy="7092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640" rIns="90000" bIns="2664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3" name="Rectangle 27"/>
          <p:cNvSpPr/>
          <p:nvPr/>
        </p:nvSpPr>
        <p:spPr>
          <a:xfrm>
            <a:off x="5492880" y="2639880"/>
            <a:ext cx="1266840" cy="225360"/>
          </a:xfrm>
          <a:prstGeom prst="rect">
            <a:avLst/>
          </a:prstGeom>
          <a:solidFill>
            <a:srgbClr val="0B24F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4" name="Rectangle 28"/>
          <p:cNvSpPr/>
          <p:nvPr/>
        </p:nvSpPr>
        <p:spPr>
          <a:xfrm>
            <a:off x="5492880" y="2751840"/>
            <a:ext cx="1266840" cy="4500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1405" name="Straight Arrow Connector 29"/>
          <p:cNvCxnSpPr/>
          <p:nvPr/>
        </p:nvCxnSpPr>
        <p:spPr>
          <a:xfrm>
            <a:off x="5196240" y="2797200"/>
            <a:ext cx="297000" cy="7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sp>
        <p:nvSpPr>
          <p:cNvPr id="1406" name="TextBox 30"/>
          <p:cNvSpPr/>
          <p:nvPr/>
        </p:nvSpPr>
        <p:spPr>
          <a:xfrm>
            <a:off x="4746600" y="2688480"/>
            <a:ext cx="455040" cy="272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en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rax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31"/>
          <p:cNvSpPr/>
          <p:nvPr/>
        </p:nvSpPr>
        <p:spPr>
          <a:xfrm>
            <a:off x="1078920" y="3367080"/>
            <a:ext cx="6516720" cy="138420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; user-mode code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1: mov rax, [kernel_addr]       ; access address in kernel space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2: and rax, 0xff                ; use lowest byte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3: mov rbx, [rax*128+user_addr] ; as index in an array in user-space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       ; align the access with cache lines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       ; here 128 bytes per cache line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Box 2"/>
          <p:cNvSpPr/>
          <p:nvPr/>
        </p:nvSpPr>
        <p:spPr>
          <a:xfrm>
            <a:off x="2520360" y="4939920"/>
            <a:ext cx="4464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Code from: https://www.usenix.org/conference/usenixsecurity18/presentation/lipp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1FFD02F-1FA7-4C61-8746-4562E980D2A6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9" name="Picture 1"/>
          <p:cNvPicPr/>
          <p:nvPr/>
        </p:nvPicPr>
        <p:blipFill>
          <a:blip r:embed="rId1"/>
          <a:stretch/>
        </p:blipFill>
        <p:spPr>
          <a:xfrm>
            <a:off x="1835640" y="3390840"/>
            <a:ext cx="4671720" cy="152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 Attack (Principle)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1" name="PlaceHolder 2"/>
          <p:cNvSpPr>
            <a:spLocks noGrp="1"/>
          </p:cNvSpPr>
          <p:nvPr>
            <p:ph type="ftr" idx="7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3: Use a loop to read single bytes with a stride of 128 byte (size of a cache line), starting at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user_addr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 access will be much faster than the others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exactly the cache line that was loaded by the 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forbidden access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way, we can determine the number of the cache line and thus the index used to access the array → This is the 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byte in </a:t>
            </a: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rax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We just read a byte from kernel space!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can be continued indefinetly to read any memory from kernel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9"/>
          <p:cNvSpPr/>
          <p:nvPr/>
        </p:nvSpPr>
        <p:spPr>
          <a:xfrm>
            <a:off x="2520720" y="4940280"/>
            <a:ext cx="4464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 from: https://www.usenix.org/conference/usenixsecurity18/presentation/lipp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F681B85-1233-4692-B0B6-E7CD16FB5123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 Attack (Principle)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5" name="PlaceHolder 2"/>
          <p:cNvSpPr>
            <a:spLocks noGrp="1"/>
          </p:cNvSpPr>
          <p:nvPr>
            <p:ph type="ftr" idx="7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Step 4: Prevent the process from being terminated when the forbidden memory acces is recognized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Simply register a signal handler for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SIGSEV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prevents termination of the process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Determine the index via time measurements (see step 3) inside the handler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 the desired data from kernel space byte by byte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9B56333-86F1-4E4C-AD1E-5B860B653D47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Meltdown Attack (Principle)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8" name="PlaceHolder 2"/>
          <p:cNvSpPr>
            <a:spLocks noGrp="1"/>
          </p:cNvSpPr>
          <p:nvPr>
            <p:ph type="ftr" idx="7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does this work?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Lines 2 and 3 depend on line 1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Speculative Execution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</a:t>
            </a:r>
            <a:r>
              <a:rPr lang="el-GR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μ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OPs for lines 2 and 3 are probably already waiting in the reservation station until data from line 1 is available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soon as the data from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[kernel_addr]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available on the internal data bus, the wating </a:t>
            </a:r>
            <a:r>
              <a:rPr lang="el-GR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μ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OPs are executed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parallel, the result from line 1 is being processed in the retirement unit, where the exception is thrown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the meantime (before the exception is thrown) the cache has already been filled for the </a:t>
            </a:r>
            <a:r>
              <a:rPr lang="el-GR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μ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OPs of line 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exception resets the CPU state, but not the cache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Box 1"/>
          <p:cNvSpPr/>
          <p:nvPr/>
        </p:nvSpPr>
        <p:spPr>
          <a:xfrm>
            <a:off x="5363640" y="1206720"/>
            <a:ext cx="3258360" cy="645480"/>
          </a:xfrm>
          <a:prstGeom prst="rect">
            <a:avLst/>
          </a:prstGeom>
          <a:solidFill>
            <a:srgbClr val="FFFF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rgbClr val="FF0000"/>
                </a:solidFill>
                <a:effectLst/>
                <a:uFillTx/>
                <a:latin typeface="Courier New"/>
              </a:rPr>
              <a:t>1: mov rax, [kernel_addr]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2: and rax, 0xff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3: mov rbx, [rax*128+user_addr]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3BA14E0-CDCD-47FB-978B-EB121F6643DB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Remarks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2"/>
          <p:cNvSpPr>
            <a:spLocks noGrp="1"/>
          </p:cNvSpPr>
          <p:nvPr>
            <p:ph type="ftr" idx="76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 operating systems map the whole physical address space into the kernel space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allows attackers to read the whole memory via meltdown attacks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Private keys of NTFS filesystems were kept in kernel space memory and could be read via meltdown attacks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SIGSEV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expensive, but on fast systems kernel memory can be read at about 500 KB/s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Highly critical security flaw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85554DC-F6D8-4F62-863F-9FFAF166D682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Solution: Kernel Page Table Isolation (KPTI)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2"/>
          <p:cNvSpPr>
            <a:spLocks noGrp="1"/>
          </p:cNvSpPr>
          <p:nvPr>
            <p:ph type="ftr" idx="77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KPTI (formerly KAISER) realizes a fully separated address space for the Linux kernel →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 user application is active, only a minimal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portion of kernel code, needed to switch to the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 space (e.g., for system calls), is mapped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During a system call the kernel is fully mapped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done by setting page directory entries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returning from kernel code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TLB must be flushed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make sure kernel pages are no longer accessible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expensive (up to 30% slower)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7" name="Picture 2"/>
          <p:cNvPicPr/>
          <p:nvPr/>
        </p:nvPicPr>
        <p:blipFill>
          <a:blip r:embed="rId1"/>
          <a:srcRect l="2463" t="13218" r="3148" b="2054"/>
          <a:stretch/>
        </p:blipFill>
        <p:spPr>
          <a:xfrm>
            <a:off x="5160240" y="1854720"/>
            <a:ext cx="3434400" cy="257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8" name="TextBox 10"/>
          <p:cNvSpPr/>
          <p:nvPr/>
        </p:nvSpPr>
        <p:spPr>
          <a:xfrm>
            <a:off x="2521080" y="4940640"/>
            <a:ext cx="4464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 from: https://de.wikipedia.org/wiki/Kernel_page-table_isolation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20F3DF8-293F-4052-B0CE-320531DA55D8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ftr" idx="78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Modern CPUs offer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Context Identifiers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(PCIDs)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12 Bit → 4096 possible PCIDs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Must be activated in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CR4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PCID is stored in bits 11:0 of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CR3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 the MMU to differentiate between TLB entries of multiple address spaces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accessing the TLB, only entries with the current PCID (in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CR3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 are used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way, returning from kernel code does not require flushing the whole TLB anymore!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TLB with PCIDs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6CA41DF-7B48-48A0-84AA-1A3412C89A31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ftr" idx="79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Lipp et.al., „Meltdown: Reading Kernel Memory from User Space“, USENIX Security Symposium, USA, 2018.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Gruss et.al., „KASLR is Dead: Long Live KASLR”, Engineering Secure Software and Systems, Germany, 2017.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Gruss et.al., „Kernel Isolation - From an Academic Idea to an Efficient Patch for Every Computer“, USENIX, 2018, Vol. 43, No. 4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Comprehensive information on Meltdown and Spectre: https://meltdownattack.com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Literature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11564ACC-0C65-49A4-BA44-EFBD54C5D3D5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ftr" idx="80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Many system calls take a pointer to a buffer on the user heap as parameter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Reading: Input buffer (empty, for new data)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Writing: Output buffer (already filled with data)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kernel must allocate a same-sized buffer and copy the data (see next slides)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Reason: At the time the user mode buffer is accessed, an other process may be active and the user mode addresses invalid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Exchanging Data in System Calls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F5E9083-081E-4E6D-8A88-A517338F27DD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ftr" idx="81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no data is available to read, the caller is bloked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a later point in time, an interrupt signals the device driver that new data is available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The waiting thread is deblocked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the time the interrupt occurs, another process may be active and the user mode addresses (i.e., the target buffer) are invalid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Call: Reading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441" name="Group 20"/>
          <p:cNvGrpSpPr/>
          <p:nvPr/>
        </p:nvGrpSpPr>
        <p:grpSpPr>
          <a:xfrm>
            <a:off x="2330280" y="2901960"/>
            <a:ext cx="1122120" cy="1439640"/>
            <a:chOff x="2330280" y="2901960"/>
            <a:chExt cx="1122120" cy="1439640"/>
          </a:xfrm>
        </p:grpSpPr>
        <p:sp>
          <p:nvSpPr>
            <p:cNvPr id="1442" name="Rectangle 1"/>
            <p:cNvSpPr/>
            <p:nvPr/>
          </p:nvSpPr>
          <p:spPr>
            <a:xfrm>
              <a:off x="2513160" y="3550320"/>
              <a:ext cx="791280" cy="64728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Rectangle 4"/>
            <p:cNvSpPr/>
            <p:nvPr/>
          </p:nvSpPr>
          <p:spPr>
            <a:xfrm>
              <a:off x="2513160" y="2901960"/>
              <a:ext cx="791280" cy="64728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TextBox 5"/>
            <p:cNvSpPr/>
            <p:nvPr/>
          </p:nvSpPr>
          <p:spPr>
            <a:xfrm>
              <a:off x="2330280" y="4096080"/>
              <a:ext cx="254520" cy="24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0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5" name="Rectangle 6"/>
            <p:cNvSpPr/>
            <p:nvPr/>
          </p:nvSpPr>
          <p:spPr>
            <a:xfrm>
              <a:off x="2513160" y="3045960"/>
              <a:ext cx="791280" cy="71280"/>
            </a:xfrm>
            <a:prstGeom prst="rect">
              <a:avLst/>
            </a:prstGeom>
            <a:solidFill>
              <a:srgbClr val="0432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6" name="TextBox 7"/>
            <p:cNvSpPr/>
            <p:nvPr/>
          </p:nvSpPr>
          <p:spPr>
            <a:xfrm>
              <a:off x="2441160" y="3577320"/>
              <a:ext cx="1011240" cy="23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sys_</a:t>
              </a:r>
              <a:r>
                <a:rPr lang="en-US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read</a:t>
              </a: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(…) </a:t>
              </a:r>
              <a:endParaRPr lang="de-DE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47" name="Curved Connector 9"/>
            <p:cNvCxnSpPr>
              <a:endCxn id="1445" idx="3"/>
            </p:cNvCxnSpPr>
            <p:nvPr/>
          </p:nvCxnSpPr>
          <p:spPr>
            <a:xfrm flipV="1">
              <a:off x="3161160" y="3081600"/>
              <a:ext cx="143640" cy="611640"/>
            </a:xfrm>
            <a:prstGeom prst="curvedConnector3">
              <a:avLst>
                <a:gd name="adj1" fmla="val 181155"/>
              </a:avLst>
            </a:prstGeom>
            <a:ln w="12700">
              <a:solidFill>
                <a:srgbClr val="0432FF"/>
              </a:solidFill>
              <a:round/>
              <a:tailEnd len="med" type="triangle" w="med"/>
            </a:ln>
          </p:spPr>
        </p:cxnSp>
      </p:grpSp>
      <p:grpSp>
        <p:nvGrpSpPr>
          <p:cNvPr id="1448" name="Group 21"/>
          <p:cNvGrpSpPr/>
          <p:nvPr/>
        </p:nvGrpSpPr>
        <p:grpSpPr>
          <a:xfrm>
            <a:off x="4665240" y="2902320"/>
            <a:ext cx="1122480" cy="1439640"/>
            <a:chOff x="4665240" y="2902320"/>
            <a:chExt cx="1122480" cy="1439640"/>
          </a:xfrm>
        </p:grpSpPr>
        <p:sp>
          <p:nvSpPr>
            <p:cNvPr id="1449" name="Rectangle 22"/>
            <p:cNvSpPr/>
            <p:nvPr/>
          </p:nvSpPr>
          <p:spPr>
            <a:xfrm>
              <a:off x="4848480" y="3550320"/>
              <a:ext cx="791280" cy="64728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0" name="Rectangle 23"/>
            <p:cNvSpPr/>
            <p:nvPr/>
          </p:nvSpPr>
          <p:spPr>
            <a:xfrm>
              <a:off x="4848480" y="2902320"/>
              <a:ext cx="791280" cy="64728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1" name="TextBox 24"/>
            <p:cNvSpPr/>
            <p:nvPr/>
          </p:nvSpPr>
          <p:spPr>
            <a:xfrm>
              <a:off x="4665240" y="4096440"/>
              <a:ext cx="254520" cy="24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0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2" name="TextBox 26"/>
            <p:cNvSpPr/>
            <p:nvPr/>
          </p:nvSpPr>
          <p:spPr>
            <a:xfrm>
              <a:off x="4776480" y="3577680"/>
              <a:ext cx="1011240" cy="23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sys_</a:t>
              </a:r>
              <a:r>
                <a:rPr lang="en-US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read</a:t>
              </a: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(…) </a:t>
              </a:r>
              <a:endParaRPr lang="de-DE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3" name="Rectangle 28"/>
          <p:cNvSpPr/>
          <p:nvPr/>
        </p:nvSpPr>
        <p:spPr>
          <a:xfrm>
            <a:off x="4848480" y="2992680"/>
            <a:ext cx="791280" cy="242640"/>
          </a:xfrm>
          <a:prstGeom prst="rect">
            <a:avLst/>
          </a:prstGeom>
          <a:pattFill prst="wdUpDiag">
            <a:fgClr>
              <a:srgbClr val="0432FF"/>
            </a:fgClr>
            <a:bgClr>
              <a:srgbClr val="FFFFFF"/>
            </a:bgClr>
          </a:patt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4" name="TextBox 29"/>
          <p:cNvSpPr/>
          <p:nvPr/>
        </p:nvSpPr>
        <p:spPr>
          <a:xfrm>
            <a:off x="2549160" y="2675520"/>
            <a:ext cx="791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1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Box 30"/>
          <p:cNvSpPr/>
          <p:nvPr/>
        </p:nvSpPr>
        <p:spPr>
          <a:xfrm>
            <a:off x="4842000" y="2674080"/>
            <a:ext cx="791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2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Lightning Bolt 31"/>
          <p:cNvSpPr/>
          <p:nvPr/>
        </p:nvSpPr>
        <p:spPr>
          <a:xfrm rot="1846800">
            <a:off x="5394960" y="2638440"/>
            <a:ext cx="346680" cy="359640"/>
          </a:xfrm>
          <a:prstGeom prst="lightningBol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7" name="TextBox 52"/>
          <p:cNvSpPr/>
          <p:nvPr/>
        </p:nvSpPr>
        <p:spPr>
          <a:xfrm>
            <a:off x="5018040" y="3804480"/>
            <a:ext cx="66636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Times New Roman"/>
              </a:rPr>
              <a:t>isr(…) 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58" name="Curved Connector 57"/>
          <p:cNvCxnSpPr>
            <a:endCxn id="1453" idx="3"/>
          </p:cNvCxnSpPr>
          <p:nvPr/>
        </p:nvCxnSpPr>
        <p:spPr>
          <a:xfrm flipV="1">
            <a:off x="5424480" y="3114000"/>
            <a:ext cx="215640" cy="823680"/>
          </a:xfrm>
          <a:prstGeom prst="curvedConnector3">
            <a:avLst>
              <a:gd name="adj1" fmla="val 156187"/>
            </a:avLst>
          </a:prstGeom>
          <a:ln w="12700">
            <a:solidFill>
              <a:srgbClr val="0432FF"/>
            </a:solidFill>
            <a:round/>
            <a:tailEnd len="med" type="triangle" w="med"/>
          </a:ln>
        </p:spPr>
      </p:cxnSp>
      <p:cxnSp>
        <p:nvCxnSpPr>
          <p:cNvPr id="1459" name="Straight Arrow Connector 60"/>
          <p:cNvCxnSpPr/>
          <p:nvPr/>
        </p:nvCxnSpPr>
        <p:spPr>
          <a:xfrm>
            <a:off x="2124360" y="4438440"/>
            <a:ext cx="5760720" cy="720"/>
          </a:xfrm>
          <a:prstGeom prst="straightConnector1">
            <a:avLst/>
          </a:prstGeom>
          <a:ln w="12700">
            <a:solidFill>
              <a:schemeClr val="dk1">
                <a:alpha val="99000"/>
              </a:schemeClr>
            </a:solidFill>
            <a:round/>
            <a:tailEnd len="med" type="triangle" w="med"/>
          </a:ln>
        </p:spPr>
      </p:cxnSp>
      <p:sp>
        <p:nvSpPr>
          <p:cNvPr id="1460" name="TextBox 61"/>
          <p:cNvSpPr/>
          <p:nvPr/>
        </p:nvSpPr>
        <p:spPr>
          <a:xfrm>
            <a:off x="7452360" y="4200840"/>
            <a:ext cx="3970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Zeit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TextBox 62"/>
          <p:cNvSpPr/>
          <p:nvPr/>
        </p:nvSpPr>
        <p:spPr>
          <a:xfrm>
            <a:off x="2281680" y="4447080"/>
            <a:ext cx="143208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 blocked,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no data is available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TextBox 63"/>
          <p:cNvSpPr/>
          <p:nvPr/>
        </p:nvSpPr>
        <p:spPr>
          <a:xfrm>
            <a:off x="4339080" y="4428000"/>
            <a:ext cx="2449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has switched to another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thread;</a:t>
            </a:r>
            <a:r>
              <a:rPr lang="en-DE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interrupt occurs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Address of user mode buffer is invalid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TextBox 64"/>
          <p:cNvSpPr/>
          <p:nvPr/>
        </p:nvSpPr>
        <p:spPr>
          <a:xfrm>
            <a:off x="1959120" y="2957400"/>
            <a:ext cx="5238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Puffer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F3CA846-B883-4657-80B0-D3B7E99EC8A2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ftr" idx="82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Call: Reading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466" name="Group 32"/>
          <p:cNvGrpSpPr/>
          <p:nvPr/>
        </p:nvGrpSpPr>
        <p:grpSpPr>
          <a:xfrm>
            <a:off x="1835640" y="2874960"/>
            <a:ext cx="1122480" cy="1439640"/>
            <a:chOff x="1835640" y="2874960"/>
            <a:chExt cx="1122480" cy="1439640"/>
          </a:xfrm>
        </p:grpSpPr>
        <p:sp>
          <p:nvSpPr>
            <p:cNvPr id="1467" name="Rectangle 33"/>
            <p:cNvSpPr/>
            <p:nvPr/>
          </p:nvSpPr>
          <p:spPr>
            <a:xfrm>
              <a:off x="2018880" y="3522960"/>
              <a:ext cx="791280" cy="64728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Rectangle 34"/>
            <p:cNvSpPr/>
            <p:nvPr/>
          </p:nvSpPr>
          <p:spPr>
            <a:xfrm>
              <a:off x="2018880" y="2874960"/>
              <a:ext cx="791280" cy="64728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TextBox 35"/>
            <p:cNvSpPr/>
            <p:nvPr/>
          </p:nvSpPr>
          <p:spPr>
            <a:xfrm>
              <a:off x="1835640" y="4069080"/>
              <a:ext cx="254520" cy="24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0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Rectangle 36"/>
            <p:cNvSpPr/>
            <p:nvPr/>
          </p:nvSpPr>
          <p:spPr>
            <a:xfrm>
              <a:off x="2018880" y="3018960"/>
              <a:ext cx="791280" cy="71280"/>
            </a:xfrm>
            <a:prstGeom prst="rect">
              <a:avLst/>
            </a:prstGeom>
            <a:solidFill>
              <a:srgbClr val="0432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TextBox 37"/>
            <p:cNvSpPr/>
            <p:nvPr/>
          </p:nvSpPr>
          <p:spPr>
            <a:xfrm>
              <a:off x="1946880" y="3550320"/>
              <a:ext cx="1011240" cy="23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sys_</a:t>
              </a:r>
              <a:r>
                <a:rPr lang="en-US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read</a:t>
              </a: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(…) </a:t>
              </a:r>
              <a:endParaRPr lang="de-DE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72" name="Curved Connector 38"/>
            <p:cNvCxnSpPr>
              <a:endCxn id="1470" idx="3"/>
            </p:cNvCxnSpPr>
            <p:nvPr/>
          </p:nvCxnSpPr>
          <p:spPr>
            <a:xfrm flipV="1">
              <a:off x="2666880" y="3054600"/>
              <a:ext cx="143640" cy="611640"/>
            </a:xfrm>
            <a:prstGeom prst="curvedConnector3">
              <a:avLst>
                <a:gd name="adj1" fmla="val 148743"/>
              </a:avLst>
            </a:prstGeom>
            <a:ln w="12700">
              <a:solidFill>
                <a:srgbClr val="0432FF"/>
              </a:solidFill>
              <a:round/>
              <a:tailEnd len="med" type="triangle" w="med"/>
            </a:ln>
          </p:spPr>
        </p:cxnSp>
      </p:grpSp>
      <p:sp>
        <p:nvSpPr>
          <p:cNvPr id="1473" name="TextBox 46"/>
          <p:cNvSpPr/>
          <p:nvPr/>
        </p:nvSpPr>
        <p:spPr>
          <a:xfrm>
            <a:off x="2054880" y="2648160"/>
            <a:ext cx="791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1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4" name="Rectangle 49"/>
          <p:cNvSpPr/>
          <p:nvPr/>
        </p:nvSpPr>
        <p:spPr>
          <a:xfrm>
            <a:off x="2018880" y="4037760"/>
            <a:ext cx="791280" cy="7128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7000" rIns="90000" bIns="27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75" name="Group 55"/>
          <p:cNvGrpSpPr/>
          <p:nvPr/>
        </p:nvGrpSpPr>
        <p:grpSpPr>
          <a:xfrm>
            <a:off x="3853080" y="2647080"/>
            <a:ext cx="1239120" cy="1667520"/>
            <a:chOff x="3853080" y="2647080"/>
            <a:chExt cx="1239120" cy="1667520"/>
          </a:xfrm>
        </p:grpSpPr>
        <p:grpSp>
          <p:nvGrpSpPr>
            <p:cNvPr id="1476" name="Group 39"/>
            <p:cNvGrpSpPr/>
            <p:nvPr/>
          </p:nvGrpSpPr>
          <p:grpSpPr>
            <a:xfrm>
              <a:off x="3853080" y="2875320"/>
              <a:ext cx="1239120" cy="1439280"/>
              <a:chOff x="3853080" y="2875320"/>
              <a:chExt cx="1239120" cy="1439280"/>
            </a:xfrm>
          </p:grpSpPr>
          <p:sp>
            <p:nvSpPr>
              <p:cNvPr id="1477" name="Rectangle 40"/>
              <p:cNvSpPr/>
              <p:nvPr/>
            </p:nvSpPr>
            <p:spPr>
              <a:xfrm>
                <a:off x="4036320" y="3523320"/>
                <a:ext cx="791280" cy="647280"/>
              </a:xfrm>
              <a:prstGeom prst="rect">
                <a:avLst/>
              </a:prstGeom>
              <a:solidFill>
                <a:srgbClr val="FFB3B3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8" name="Rectangle 41"/>
              <p:cNvSpPr/>
              <p:nvPr/>
            </p:nvSpPr>
            <p:spPr>
              <a:xfrm>
                <a:off x="4036320" y="2875320"/>
                <a:ext cx="791280" cy="647280"/>
              </a:xfrm>
              <a:prstGeom prst="rect">
                <a:avLst/>
              </a:prstGeom>
              <a:solidFill>
                <a:srgbClr val="B3B4FF"/>
              </a:solidFill>
              <a:ln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9" name="TextBox 42"/>
              <p:cNvSpPr/>
              <p:nvPr/>
            </p:nvSpPr>
            <p:spPr>
              <a:xfrm>
                <a:off x="3853080" y="4069080"/>
                <a:ext cx="254520" cy="245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686160">
                  <a:lnSpc>
                    <a:spcPct val="100000"/>
                  </a:lnSpc>
                </a:pPr>
                <a:r>
                  <a:rPr lang="en-DE" sz="100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0</a:t>
                </a:r>
                <a:endParaRPr lang="de-DE" sz="10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0" name="TextBox 43"/>
              <p:cNvSpPr/>
              <p:nvPr/>
            </p:nvSpPr>
            <p:spPr>
              <a:xfrm>
                <a:off x="3964320" y="3550680"/>
                <a:ext cx="1011240" cy="230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defTabSz="686160">
                  <a:lnSpc>
                    <a:spcPct val="100000"/>
                  </a:lnSpc>
                </a:pPr>
                <a:r>
                  <a:rPr lang="en-DE" sz="900" b="0" u="none" strike="noStrike">
                    <a:solidFill>
                      <a:schemeClr val="dk1"/>
                    </a:solidFill>
                    <a:effectLst/>
                    <a:uFillTx/>
                    <a:latin typeface="Courier New"/>
                    <a:ea typeface="Times New Roman"/>
                  </a:rPr>
                  <a:t>sys_</a:t>
                </a:r>
                <a:r>
                  <a:rPr lang="en-US" sz="900" b="0" u="none" strike="noStrike">
                    <a:solidFill>
                      <a:schemeClr val="dk1"/>
                    </a:solidFill>
                    <a:effectLst/>
                    <a:uFillTx/>
                    <a:latin typeface="Courier New"/>
                    <a:ea typeface="Times New Roman"/>
                  </a:rPr>
                  <a:t>read</a:t>
                </a:r>
                <a:r>
                  <a:rPr lang="en-DE" sz="900" b="0" u="none" strike="noStrike">
                    <a:solidFill>
                      <a:schemeClr val="dk1"/>
                    </a:solidFill>
                    <a:effectLst/>
                    <a:uFillTx/>
                    <a:latin typeface="Courier New"/>
                    <a:ea typeface="Times New Roman"/>
                  </a:rPr>
                  <a:t>(…) </a:t>
                </a:r>
                <a:endParaRPr lang="de-DE" sz="9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1481" name="Curved Connector 44"/>
              <p:cNvCxnSpPr/>
              <p:nvPr/>
            </p:nvCxnSpPr>
            <p:spPr>
              <a:xfrm>
                <a:off x="4605840" y="3916440"/>
                <a:ext cx="225000" cy="153000"/>
              </a:xfrm>
              <a:prstGeom prst="curvedConnector3">
                <a:avLst>
                  <a:gd name="adj1" fmla="val 216506"/>
                </a:avLst>
              </a:prstGeom>
              <a:ln w="12700">
                <a:solidFill>
                  <a:srgbClr val="FF0000"/>
                </a:solidFill>
                <a:round/>
                <a:tailEnd len="med" type="triangle" w="med"/>
              </a:ln>
            </p:spPr>
          </p:cxnSp>
        </p:grpSp>
        <p:sp>
          <p:nvSpPr>
            <p:cNvPr id="1482" name="Rectangle 45"/>
            <p:cNvSpPr/>
            <p:nvPr/>
          </p:nvSpPr>
          <p:spPr>
            <a:xfrm>
              <a:off x="4036320" y="2965680"/>
              <a:ext cx="791280" cy="242640"/>
            </a:xfrm>
            <a:prstGeom prst="rect">
              <a:avLst/>
            </a:prstGeom>
            <a:pattFill prst="wdUpDiag">
              <a:fgClr>
                <a:srgbClr val="0432FF"/>
              </a:fgClr>
              <a:bgClr>
                <a:srgbClr val="FFFFFF"/>
              </a:bgClr>
            </a:patt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3" name="TextBox 47"/>
            <p:cNvSpPr/>
            <p:nvPr/>
          </p:nvSpPr>
          <p:spPr>
            <a:xfrm>
              <a:off x="4066200" y="2647080"/>
              <a:ext cx="7912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Process 2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4" name="TextBox 8"/>
            <p:cNvSpPr/>
            <p:nvPr/>
          </p:nvSpPr>
          <p:spPr>
            <a:xfrm>
              <a:off x="4235040" y="3781080"/>
              <a:ext cx="666360" cy="23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isr(…) </a:t>
              </a:r>
              <a:endParaRPr lang="de-DE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5" name="Rectangle 10"/>
            <p:cNvSpPr/>
            <p:nvPr/>
          </p:nvSpPr>
          <p:spPr>
            <a:xfrm>
              <a:off x="4038480" y="4033080"/>
              <a:ext cx="791280" cy="7128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86" name="Group 16"/>
          <p:cNvGrpSpPr/>
          <p:nvPr/>
        </p:nvGrpSpPr>
        <p:grpSpPr>
          <a:xfrm>
            <a:off x="5931360" y="2874960"/>
            <a:ext cx="1172880" cy="1439640"/>
            <a:chOff x="5931360" y="2874960"/>
            <a:chExt cx="1172880" cy="1439640"/>
          </a:xfrm>
        </p:grpSpPr>
        <p:sp>
          <p:nvSpPr>
            <p:cNvPr id="1487" name="Rectangle 17"/>
            <p:cNvSpPr/>
            <p:nvPr/>
          </p:nvSpPr>
          <p:spPr>
            <a:xfrm>
              <a:off x="6114600" y="3522960"/>
              <a:ext cx="791280" cy="64728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Rectangle 18"/>
            <p:cNvSpPr/>
            <p:nvPr/>
          </p:nvSpPr>
          <p:spPr>
            <a:xfrm>
              <a:off x="6114600" y="2874960"/>
              <a:ext cx="791280" cy="64728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TextBox 19"/>
            <p:cNvSpPr/>
            <p:nvPr/>
          </p:nvSpPr>
          <p:spPr>
            <a:xfrm>
              <a:off x="5931360" y="4069080"/>
              <a:ext cx="254520" cy="24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0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0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Rectangle 25"/>
            <p:cNvSpPr/>
            <p:nvPr/>
          </p:nvSpPr>
          <p:spPr>
            <a:xfrm>
              <a:off x="6114600" y="3018960"/>
              <a:ext cx="791280" cy="71280"/>
            </a:xfrm>
            <a:prstGeom prst="rect">
              <a:avLst/>
            </a:prstGeom>
            <a:solidFill>
              <a:srgbClr val="0432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TextBox 48"/>
            <p:cNvSpPr/>
            <p:nvPr/>
          </p:nvSpPr>
          <p:spPr>
            <a:xfrm>
              <a:off x="6042600" y="3550320"/>
              <a:ext cx="1011240" cy="23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sys_</a:t>
              </a:r>
              <a:r>
                <a:rPr lang="en-US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read</a:t>
              </a:r>
              <a:r>
                <a:rPr lang="en-DE" sz="900" b="0" u="none" strike="noStrike">
                  <a:solidFill>
                    <a:schemeClr val="dk1"/>
                  </a:solidFill>
                  <a:effectLst/>
                  <a:uFillTx/>
                  <a:latin typeface="Courier New"/>
                  <a:ea typeface="Times New Roman"/>
                </a:rPr>
                <a:t>(…) </a:t>
              </a:r>
              <a:endParaRPr lang="de-DE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92" name="Curved Connector 50"/>
            <p:cNvCxnSpPr>
              <a:stCxn id="1493" idx="3"/>
              <a:endCxn id="1490" idx="3"/>
            </p:cNvCxnSpPr>
            <p:nvPr/>
          </p:nvCxnSpPr>
          <p:spPr>
            <a:xfrm>
              <a:off x="6905880" y="3054600"/>
              <a:ext cx="360" cy="1019160"/>
            </a:xfrm>
            <a:prstGeom prst="curvedConnector3">
              <a:avLst>
                <a:gd name="adj1" fmla="val 55100000"/>
              </a:avLst>
            </a:prstGeom>
            <a:ln w="12700">
              <a:solidFill>
                <a:srgbClr val="0432FF"/>
              </a:solidFill>
              <a:round/>
              <a:tailEnd len="med" type="triangle" w="med"/>
            </a:ln>
          </p:spPr>
        </p:cxnSp>
      </p:grpSp>
      <p:sp>
        <p:nvSpPr>
          <p:cNvPr id="1494" name="TextBox 51"/>
          <p:cNvSpPr/>
          <p:nvPr/>
        </p:nvSpPr>
        <p:spPr>
          <a:xfrm>
            <a:off x="6150600" y="2648160"/>
            <a:ext cx="79128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 1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Rectangle 52"/>
          <p:cNvSpPr/>
          <p:nvPr/>
        </p:nvSpPr>
        <p:spPr>
          <a:xfrm>
            <a:off x="6114600" y="4037760"/>
            <a:ext cx="791280" cy="7128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7000" rIns="90000" bIns="27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5" name="TextBox 54"/>
          <p:cNvSpPr/>
          <p:nvPr/>
        </p:nvSpPr>
        <p:spPr>
          <a:xfrm rot="5400000">
            <a:off x="6964200" y="3434760"/>
            <a:ext cx="55584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200" b="1" u="none" strike="noStrike">
                <a:solidFill>
                  <a:srgbClr val="0432FF"/>
                </a:solidFill>
                <a:effectLst/>
                <a:uFillTx/>
                <a:latin typeface="Courier New"/>
                <a:ea typeface="Times New Roman"/>
              </a:rPr>
              <a:t>copy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TextBox 60"/>
          <p:cNvSpPr/>
          <p:nvPr/>
        </p:nvSpPr>
        <p:spPr>
          <a:xfrm>
            <a:off x="7054560" y="4200840"/>
            <a:ext cx="39708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Zeit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TextBox 61"/>
          <p:cNvSpPr/>
          <p:nvPr/>
        </p:nvSpPr>
        <p:spPr>
          <a:xfrm>
            <a:off x="1835640" y="4447080"/>
            <a:ext cx="143244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 blocked,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no data is available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8" name="TextBox 62"/>
          <p:cNvSpPr/>
          <p:nvPr/>
        </p:nvSpPr>
        <p:spPr>
          <a:xfrm>
            <a:off x="3600000" y="4428000"/>
            <a:ext cx="24494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Scheduler has switched to another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thread;</a:t>
            </a:r>
            <a:r>
              <a:rPr lang="en-DE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interrupt occurs</a:t>
            </a:r>
            <a:br>
              <a:rPr sz="1000"/>
            </a:b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Address of user mode buffer is invalid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9" name="Straight Arrow Connector 68"/>
          <p:cNvCxnSpPr/>
          <p:nvPr/>
        </p:nvCxnSpPr>
        <p:spPr>
          <a:xfrm>
            <a:off x="1764000" y="4438440"/>
            <a:ext cx="5760720" cy="720"/>
          </a:xfrm>
          <a:prstGeom prst="straightConnector1">
            <a:avLst/>
          </a:prstGeom>
          <a:ln w="12700">
            <a:solidFill>
              <a:schemeClr val="dk1">
                <a:alpha val="99000"/>
              </a:schemeClr>
            </a:solidFill>
            <a:round/>
            <a:tailEnd len="med" type="triangle" w="med"/>
          </a:ln>
        </p:spPr>
      </p:cxnSp>
      <p:sp>
        <p:nvSpPr>
          <p:cNvPr id="1500" name="TextBox 69"/>
          <p:cNvSpPr/>
          <p:nvPr/>
        </p:nvSpPr>
        <p:spPr>
          <a:xfrm>
            <a:off x="1527120" y="2935080"/>
            <a:ext cx="51516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Buffer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TextBox 70"/>
          <p:cNvSpPr/>
          <p:nvPr/>
        </p:nvSpPr>
        <p:spPr>
          <a:xfrm>
            <a:off x="1529280" y="3915360"/>
            <a:ext cx="5479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Buffer’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TextBox 71"/>
          <p:cNvSpPr/>
          <p:nvPr/>
        </p:nvSpPr>
        <p:spPr>
          <a:xfrm>
            <a:off x="6120000" y="4437000"/>
            <a:ext cx="7567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Copy data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Inhaltsplatzhalter 1"/>
          <p:cNvSpPr/>
          <p:nvPr/>
        </p:nvSpPr>
        <p:spPr>
          <a:xfrm>
            <a:off x="52200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no data is available to read, the caller is bloked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a later point in time, an interrupt signals the device driver that new data is available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The waiting thread is deblocked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the time the interrupt occurs, another process may be active and the user mode addresses (i.e., the target buffer) are invalid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92BC23A9-5C15-4887-9984-D820DA6AA01B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ftr" idx="83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 with reading, it may not be possible to write the data directly to the device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example, the device may currently be busy with other 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Because of that, the kernel also creates a buffer and copies the user data into it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way, it does not matter whether the process is still active when the target device is ready to receive data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Call: Writing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DB77E50-98FE-4A06-8198-28A31184DA34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ftr" idx="84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 1: Two mappings (UNIX/Linux)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Drive implements 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mmap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function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If an application calls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mmap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 the driver,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it allocates a kernel space buffer and creates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additional mapping in user 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Avoid Double Buffering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0" name="TextBox 6"/>
          <p:cNvSpPr/>
          <p:nvPr/>
        </p:nvSpPr>
        <p:spPr>
          <a:xfrm>
            <a:off x="2860920" y="2863080"/>
            <a:ext cx="136728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Seitentabellen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Rectangle 7"/>
          <p:cNvSpPr/>
          <p:nvPr/>
        </p:nvSpPr>
        <p:spPr>
          <a:xfrm>
            <a:off x="2860920" y="3191760"/>
            <a:ext cx="1367280" cy="99396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User-Space 2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Rectangle 8"/>
          <p:cNvSpPr/>
          <p:nvPr/>
        </p:nvSpPr>
        <p:spPr>
          <a:xfrm>
            <a:off x="2860920" y="4109400"/>
            <a:ext cx="1367280" cy="55332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endParaRPr lang="de-DE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Kernel-Space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3" name="Curved Connector 16"/>
          <p:cNvCxnSpPr>
            <a:stCxn id="1514" idx="3"/>
            <a:endCxn id="1515" idx="1"/>
          </p:cNvCxnSpPr>
          <p:nvPr/>
        </p:nvCxnSpPr>
        <p:spPr>
          <a:xfrm flipV="1">
            <a:off x="4228200" y="3752640"/>
            <a:ext cx="2344320" cy="448200"/>
          </a:xfrm>
          <a:prstGeom prst="curvedConnector3">
            <a:avLst>
              <a:gd name="adj1" fmla="val 50023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cxnSp>
        <p:nvCxnSpPr>
          <p:cNvPr id="1516" name="Curved Connector 18"/>
          <p:cNvCxnSpPr>
            <a:stCxn id="1517" idx="3"/>
            <a:endCxn id="1515" idx="1"/>
          </p:cNvCxnSpPr>
          <p:nvPr/>
        </p:nvCxnSpPr>
        <p:spPr>
          <a:xfrm>
            <a:off x="4220640" y="3419280"/>
            <a:ext cx="2351880" cy="333720"/>
          </a:xfrm>
          <a:prstGeom prst="curvedConnector3">
            <a:avLst>
              <a:gd name="adj1" fmla="val 50015"/>
            </a:avLst>
          </a:prstGeom>
          <a:ln w="0">
            <a:solidFill>
              <a:srgbClr val="000000"/>
            </a:solidFill>
            <a:tailEnd len="lg" type="triangle" w="lg"/>
          </a:ln>
        </p:spPr>
      </p:cxnSp>
      <p:grpSp>
        <p:nvGrpSpPr>
          <p:cNvPr id="1518" name="Group 19"/>
          <p:cNvGrpSpPr/>
          <p:nvPr/>
        </p:nvGrpSpPr>
        <p:grpSpPr>
          <a:xfrm>
            <a:off x="6305400" y="2267640"/>
            <a:ext cx="2095200" cy="2550600"/>
            <a:chOff x="6305400" y="2267640"/>
            <a:chExt cx="2095200" cy="2550600"/>
          </a:xfrm>
        </p:grpSpPr>
        <p:sp>
          <p:nvSpPr>
            <p:cNvPr id="1519" name="Rectangle 20"/>
            <p:cNvSpPr/>
            <p:nvPr/>
          </p:nvSpPr>
          <p:spPr>
            <a:xfrm>
              <a:off x="6563520" y="463644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0" name="Rectangle 22"/>
            <p:cNvSpPr/>
            <p:nvPr/>
          </p:nvSpPr>
          <p:spPr>
            <a:xfrm>
              <a:off x="6563520" y="366948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1" name="TextBox 23"/>
            <p:cNvSpPr/>
            <p:nvPr/>
          </p:nvSpPr>
          <p:spPr>
            <a:xfrm>
              <a:off x="6305400" y="2267640"/>
              <a:ext cx="2095200" cy="52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1" u="none" strike="noStrike">
                  <a:solidFill>
                    <a:schemeClr val="dk1"/>
                  </a:solidFill>
                  <a:effectLst/>
                  <a:uFillTx/>
                  <a:latin typeface="Helvetica Light"/>
                </a:rPr>
                <a:t>Physikalischer Adressraum 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2" name="Rectangle 24"/>
            <p:cNvSpPr/>
            <p:nvPr/>
          </p:nvSpPr>
          <p:spPr>
            <a:xfrm>
              <a:off x="6563520" y="2809080"/>
              <a:ext cx="1565640" cy="29664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 defTabSz="686160">
                <a:lnSpc>
                  <a:spcPct val="100000"/>
                </a:lnSpc>
              </a:pPr>
              <a:r>
                <a:rPr lang="de-DE" sz="140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frei</a:t>
              </a:r>
              <a:endPara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3" name="Rectangle 25"/>
            <p:cNvSpPr/>
            <p:nvPr/>
          </p:nvSpPr>
          <p:spPr>
            <a:xfrm>
              <a:off x="6563520" y="309528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4" name="Rectangle 26"/>
            <p:cNvSpPr/>
            <p:nvPr/>
          </p:nvSpPr>
          <p:spPr>
            <a:xfrm>
              <a:off x="6563520" y="348264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5" name="Rectangle 27"/>
            <p:cNvSpPr/>
            <p:nvPr/>
          </p:nvSpPr>
          <p:spPr>
            <a:xfrm>
              <a:off x="6572160" y="3655080"/>
              <a:ext cx="1565640" cy="19512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5" name="Rectangle 28"/>
            <p:cNvSpPr/>
            <p:nvPr/>
          </p:nvSpPr>
          <p:spPr>
            <a:xfrm>
              <a:off x="6563520" y="4244400"/>
              <a:ext cx="1565640" cy="181800"/>
            </a:xfrm>
            <a:prstGeom prst="rect">
              <a:avLst/>
            </a:prstGeom>
            <a:solidFill>
              <a:srgbClr val="FFB3B3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6" name="Rectangle 29"/>
            <p:cNvSpPr/>
            <p:nvPr/>
          </p:nvSpPr>
          <p:spPr>
            <a:xfrm>
              <a:off x="6563520" y="443880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7" name="Rectangle 30"/>
            <p:cNvSpPr/>
            <p:nvPr/>
          </p:nvSpPr>
          <p:spPr>
            <a:xfrm>
              <a:off x="6563520" y="4044600"/>
              <a:ext cx="1565640" cy="189720"/>
            </a:xfrm>
            <a:prstGeom prst="rect">
              <a:avLst/>
            </a:prstGeom>
            <a:solidFill>
              <a:srgbClr val="B3B4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28" name="Rectangle 32"/>
          <p:cNvSpPr/>
          <p:nvPr/>
        </p:nvSpPr>
        <p:spPr>
          <a:xfrm>
            <a:off x="6563520" y="3849480"/>
            <a:ext cx="1565640" cy="189720"/>
          </a:xfrm>
          <a:prstGeom prst="rect">
            <a:avLst/>
          </a:prstGeom>
          <a:solidFill>
            <a:srgbClr val="B3B4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4" name="Rectangle 36"/>
          <p:cNvSpPr/>
          <p:nvPr/>
        </p:nvSpPr>
        <p:spPr>
          <a:xfrm>
            <a:off x="2876040" y="4157280"/>
            <a:ext cx="1352160" cy="8640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120" rIns="90000" bIns="42120" anchor="ctr">
            <a:noAutofit/>
          </a:bodyPr>
          <a:p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17" name="Rectangle 40"/>
          <p:cNvSpPr/>
          <p:nvPr/>
        </p:nvSpPr>
        <p:spPr>
          <a:xfrm>
            <a:off x="2868480" y="3376080"/>
            <a:ext cx="1352160" cy="86400"/>
          </a:xfrm>
          <a:prstGeom prst="rect">
            <a:avLst/>
          </a:prstGeom>
          <a:solidFill>
            <a:srgbClr val="0432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2120" rIns="90000" bIns="42120" anchor="ctr">
            <a:noAutofit/>
          </a:bodyPr>
          <a:p>
            <a:endParaRPr lang="de-DE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29" name="Rectangle 46"/>
          <p:cNvSpPr/>
          <p:nvPr/>
        </p:nvSpPr>
        <p:spPr>
          <a:xfrm>
            <a:off x="6563520" y="3289680"/>
            <a:ext cx="1565640" cy="181800"/>
          </a:xfrm>
          <a:prstGeom prst="rect">
            <a:avLst/>
          </a:prstGeom>
          <a:solidFill>
            <a:srgbClr val="FFB3B3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665E108-DF88-445F-8BC1-0181B5470993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PlaceHolder 1"/>
          <p:cNvSpPr>
            <a:spLocks noGrp="1"/>
          </p:cNvSpPr>
          <p:nvPr>
            <p:ph type="ftr" idx="85"/>
          </p:nvPr>
        </p:nvSpPr>
        <p:spPr>
          <a:xfrm>
            <a:off x="628560" y="4975560"/>
            <a:ext cx="7129080" cy="1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5. Kernel Isolation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Inhaltsplatzhalter 7"/>
          <p:cNvSpPr/>
          <p:nvPr/>
        </p:nvSpPr>
        <p:spPr>
          <a:xfrm>
            <a:off x="521640" y="1206720"/>
            <a:ext cx="8298360" cy="37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 2: Kernel uses physical addresses (Windows DirectIO)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I/O-Manager creates 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Description List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list of frames that is occupied by the buffer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driver operates directly on the physical addresses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Usually the whole physical address space is mapped 1:1 in kernel space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way, the address calculation is trivial (without page tables):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Lower Half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kernel: physical address = virtual address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4600" lvl="3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Higher Half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kernel: physical address = v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irtual address -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kernel_offset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96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Avoid Double Buffering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DE4AB88-7AFE-492B-BA26-25965FD9A54A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52853</TotalTime>
  <Application>LibreOffice/26.2.4.2$Linux_X86_64 LibreOffice_project/df4f15f06f7b375c1d16aa35fba92d50b262cd01</Application>
  <AppVersion>15.0000</AppVersion>
  <Words>2413</Words>
  <Paragraphs>343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2026-07-09T11:04:08Z</dcterms:modified>
  <cp:revision>1860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