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media/image4.emf" ContentType="image/x-emf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PlaceHolder 4"/>
          <p:cNvSpPr>
            <a:spLocks noGrp="1"/>
          </p:cNvSpPr>
          <p:nvPr>
            <p:ph type="dt" idx="5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5"/>
          <p:cNvSpPr>
            <a:spLocks noGrp="1"/>
          </p:cNvSpPr>
          <p:nvPr>
            <p:ph type="ftr" idx="5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6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564906-29E2-48E3-AF11-4C6F9D59C43D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840" cy="3085200"/>
          </a:xfrm>
          <a:prstGeom prst="rect">
            <a:avLst/>
          </a:prstGeom>
          <a:ln w="0">
            <a:noFill/>
          </a:ln>
        </p:spPr>
      </p:sp>
      <p:sp>
        <p:nvSpPr>
          <p:cNvPr id="14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6920" cy="3491280"/>
          </a:xfrm>
          <a:custGeom>
            <a:avLst/>
            <a:gdLst>
              <a:gd name="textAreaLeft" fmla="*/ 0 w 3166920"/>
              <a:gd name="textAreaRight" fmla="*/ 3168000 w 3166920"/>
              <a:gd name="textAreaTop" fmla="*/ 0 h 3491280"/>
              <a:gd name="textAreaBottom" fmla="*/ 3492360 h 349128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3654360" y="2268000"/>
            <a:ext cx="4399920" cy="106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8520" cy="298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6920" cy="3491280"/>
          </a:xfrm>
          <a:custGeom>
            <a:avLst/>
            <a:gdLst>
              <a:gd name="textAreaLeft" fmla="*/ 0 w 3166920"/>
              <a:gd name="textAreaRight" fmla="*/ 3168000 w 3166920"/>
              <a:gd name="textAreaTop" fmla="*/ 0 h 3491280"/>
              <a:gd name="textAreaBottom" fmla="*/ 3492360 h 349128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526680" y="2899440"/>
            <a:ext cx="6398640" cy="53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6398640" cy="110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/>
          </p:nvPr>
        </p:nvSpPr>
        <p:spPr>
          <a:xfrm>
            <a:off x="526680" y="2331720"/>
            <a:ext cx="4935600" cy="110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5621040" y="1088280"/>
            <a:ext cx="3521880" cy="3825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/>
          </p:nvPr>
        </p:nvSpPr>
        <p:spPr>
          <a:xfrm>
            <a:off x="526680" y="2250360"/>
            <a:ext cx="2829240" cy="118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/>
          </p:nvPr>
        </p:nvSpPr>
        <p:spPr>
          <a:xfrm>
            <a:off x="3546000" y="1088280"/>
            <a:ext cx="5596920" cy="38253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6320" cy="273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/>
          </p:nvPr>
        </p:nvSpPr>
        <p:spPr>
          <a:xfrm>
            <a:off x="526680" y="3818520"/>
            <a:ext cx="5772600" cy="566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7120" cy="582480"/>
            <a:chOff x="522720" y="385200"/>
            <a:chExt cx="1527120" cy="58248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0920" cy="142200"/>
            </a:xfrm>
            <a:custGeom>
              <a:avLst/>
              <a:gdLst>
                <a:gd name="textAreaLeft" fmla="*/ 0 w 160920"/>
                <a:gd name="textAreaRight" fmla="*/ 162000 w 160920"/>
                <a:gd name="textAreaTop" fmla="*/ 0 h 142200"/>
                <a:gd name="textAreaBottom" fmla="*/ 143280 h 14220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640" tIns="45000" rIns="8064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3480" cy="39636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396360"/>
                <a:gd name="textAreaBottom" fmla="*/ 397440 h 39636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3480" cy="512640"/>
            </a:xfrm>
            <a:custGeom>
              <a:avLst/>
              <a:gdLst>
                <a:gd name="textAreaLeft" fmla="*/ 0 w 393480"/>
                <a:gd name="textAreaRight" fmla="*/ 394560 w 393480"/>
                <a:gd name="textAreaTop" fmla="*/ 0 h 512640"/>
                <a:gd name="textAreaBottom" fmla="*/ 513720 h 51264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/>
          </p:nvPr>
        </p:nvSpPr>
        <p:spPr>
          <a:xfrm>
            <a:off x="0" y="1422360"/>
            <a:ext cx="6677280" cy="23950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/>
          </p:nvPr>
        </p:nvSpPr>
        <p:spPr>
          <a:xfrm>
            <a:off x="6741000" y="1422360"/>
            <a:ext cx="2401920" cy="23950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DE02FA8-DA19-4817-B865-5C179555046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0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7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08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09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10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6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7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19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20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2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3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24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6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9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330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4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A6DBEC8-D4C8-487A-926D-4E48DD774E2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3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4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4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5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5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36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69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B0F54451-B492-4E00-A8F1-A5E28629654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100000" cy="3310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37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7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8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38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38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39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39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0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0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6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7" name="PlaceHolder 1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1319B2F-DE1E-4327-A0FA-7F4DF48EB7F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1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3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1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16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2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3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26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7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8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30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2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36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0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41" name="Gruppieren 49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4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640" cy="91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6" name="Grafik 11"/>
          <p:cNvSpPr/>
          <p:nvPr/>
        </p:nvSpPr>
        <p:spPr>
          <a:xfrm>
            <a:off x="0" y="0"/>
            <a:ext cx="3731040" cy="4914000"/>
          </a:xfrm>
          <a:custGeom>
            <a:avLst/>
            <a:gdLst>
              <a:gd name="textAreaLeft" fmla="*/ 0 w 3731040"/>
              <a:gd name="textAreaRight" fmla="*/ 3732120 w 3731040"/>
              <a:gd name="textAreaTop" fmla="*/ 0 h 4914000"/>
              <a:gd name="textAreaBottom" fmla="*/ 4915080 h 491400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 type="ftr" idx="15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16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FEDFA5B-65DF-497C-9F67-47FE8C99A11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4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5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51" name="Freihandform: Form 6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Freihandform: Form 6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Freihandform: Form 6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Freihandform: Form 6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Freihandform: Form 6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Freihandform: Form 7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57" name="Freihandform: Form 43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8" name="Freihandform: Form 44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9" name="Freihandform: Form 45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61" name="Freihandform: Form 6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Freihandform: Form 6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3" name="Freihandform: Form 47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65" name="Freihandform: Form 6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Freihandform: Form 6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7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8" name="Freihandform: Form 5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9" name="Freihandform: Form 5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471" name="Freihandform: Form 5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2" name="Freihandform: Form 5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3" name="Freihandform: Form 5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4" name="Freihandform: Form 6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47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7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8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48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48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8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49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9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49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0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06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507" name="Gruppieren 49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0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640" cy="91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 type="ftr" idx="17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8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A4AB94D-99D3-4E2C-9163-C8F5093E071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51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1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16" name="Freihandform: Form 6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Freihandform: Form 6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Freihandform: Form 6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Freihandform: Form 6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Freihandform: Form 6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Freihandform: Form 7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2" name="Freihandform: Form 43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3" name="Freihandform: Form 44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4" name="Freihandform: Form 45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26" name="Freihandform: Form 6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7" name="Freihandform: Form 6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28" name="Freihandform: Form 47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2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30" name="Freihandform: Form 6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1" name="Freihandform: Form 6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2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3" name="Freihandform: Form 5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4" name="Freihandform: Form 5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3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36" name="Freihandform: Form 5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Freihandform: Form 5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Freihandform: Form 5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Freihandform: Form 6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4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4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4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4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4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5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5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5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6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6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56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71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2"/>
          <p:cNvSpPr>
            <a:spLocks noGrp="1"/>
          </p:cNvSpPr>
          <p:nvPr>
            <p:ph type="sldNum" idx="19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5805F862-150E-401B-8524-698F731F936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PlaceHolder 3"/>
          <p:cNvSpPr>
            <a:spLocks noGrp="1"/>
          </p:cNvSpPr>
          <p:nvPr>
            <p:ph type="ftr" idx="20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PlaceHolder 4"/>
          <p:cNvSpPr>
            <a:spLocks noGrp="1"/>
          </p:cNvSpPr>
          <p:nvPr>
            <p:ph type="body"/>
          </p:nvPr>
        </p:nvSpPr>
        <p:spPr>
          <a:xfrm>
            <a:off x="5488200" y="1422360"/>
            <a:ext cx="36547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532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57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8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8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58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58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59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9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9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59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0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0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0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10" name="PlaceHolder 2"/>
          <p:cNvSpPr>
            <a:spLocks noGrp="1"/>
          </p:cNvSpPr>
          <p:nvPr>
            <p:ph type="sldNum" idx="21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0B78560-B2E7-441A-A3CC-AB543450B45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1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1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1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1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1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2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3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3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3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43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2"/>
          <p:cNvSpPr>
            <a:spLocks noGrp="1"/>
          </p:cNvSpPr>
          <p:nvPr>
            <p:ph type="ftr" idx="22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6" name="PlaceHolder 3"/>
          <p:cNvSpPr>
            <a:spLocks noGrp="1"/>
          </p:cNvSpPr>
          <p:nvPr>
            <p:ph type="sldNum" idx="23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0701072-8899-4E9B-B3D7-C3BA46EBFA6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7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10000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9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5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53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5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5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56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9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0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1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2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3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666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7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8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670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1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72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3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676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80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82" name="PlaceHolder 2"/>
          <p:cNvSpPr>
            <a:spLocks noGrp="1"/>
          </p:cNvSpPr>
          <p:nvPr>
            <p:ph type="ftr" idx="24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PlaceHolder 3"/>
          <p:cNvSpPr>
            <a:spLocks noGrp="1"/>
          </p:cNvSpPr>
          <p:nvPr>
            <p:ph type="sldNum" idx="25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F3AB9D3-B583-46B5-AB08-5CFEB8DF669E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560" cy="3423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5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360" cy="3423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6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687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8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9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90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91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692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693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4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9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0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2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03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5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6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07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8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9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0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1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12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13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17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18" name="Gruppieren 52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1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72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724" name="Freihandform: Form 35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5" name="Freihandform: Form 36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6" name="Freihandform: Form 37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7" name="Freihandform: Form 38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8" name="Freihandform: Form 39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Freihandform: Form 40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0" name="Freihandform: Form 17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1" name="Freihandform: Form 18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2" name="Freihandform: Form 19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34" name="Freihandform: Form 33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ihandform: Form 34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6" name="Freihandform: Form 21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38" name="Freihandform: Form 31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Freihandform: Form 32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40" name="Freihandform: Form 2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1" name="Freihandform: Form 24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2" name="Freihandform: Form 25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4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44" name="Freihandform: Form 27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Freihandform: Form 28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Freihandform: Form 29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Freihandform: Form 30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48" name="Grafik 11"/>
          <p:cNvSpPr/>
          <p:nvPr/>
        </p:nvSpPr>
        <p:spPr>
          <a:xfrm>
            <a:off x="0" y="0"/>
            <a:ext cx="3731040" cy="4914000"/>
          </a:xfrm>
          <a:custGeom>
            <a:avLst/>
            <a:gdLst>
              <a:gd name="textAreaLeft" fmla="*/ 0 w 3731040"/>
              <a:gd name="textAreaRight" fmla="*/ 3732120 w 3731040"/>
              <a:gd name="textAreaTop" fmla="*/ 0 h 4914000"/>
              <a:gd name="textAreaBottom" fmla="*/ 4915080 h 491400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1"/>
          <p:cNvSpPr>
            <a:spLocks noGrp="1"/>
          </p:cNvSpPr>
          <p:nvPr>
            <p:ph type="ftr" idx="26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 type="sldNum" idx="27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2277C2F-411E-499B-9DEF-F8442866A3A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 type="title"/>
          </p:nvPr>
        </p:nvSpPr>
        <p:spPr>
          <a:xfrm>
            <a:off x="4464000" y="330840"/>
            <a:ext cx="288828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752" name="Gerader Verbinder 45"/>
          <p:cNvCxnSpPr/>
          <p:nvPr/>
        </p:nvCxnSpPr>
        <p:spPr>
          <a:xfrm>
            <a:off x="4464000" y="974520"/>
            <a:ext cx="289044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753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788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4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728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5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56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7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8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59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60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761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762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8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9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0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1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772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4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5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776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8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9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0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81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782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3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4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5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6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8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2"/>
          <p:cNvSpPr>
            <a:spLocks noGrp="1"/>
          </p:cNvSpPr>
          <p:nvPr>
            <p:ph type="ftr" idx="28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PlaceHolder 3"/>
          <p:cNvSpPr>
            <a:spLocks noGrp="1"/>
          </p:cNvSpPr>
          <p:nvPr>
            <p:ph type="sldNum" idx="29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8E99CDC-C999-4C1F-8B18-35D04EE4808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5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588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2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16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16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4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79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98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9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0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01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7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8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9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11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2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3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15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6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7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8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9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2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21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25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2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A343600-E288-405F-9668-F9A5F92E803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ftr" idx="31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9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809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3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3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3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3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3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4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5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5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5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5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62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2C6624D-A3DD-47E5-BC0B-ADB70186428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6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984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7" name="PlaceHolder 5"/>
          <p:cNvSpPr>
            <a:spLocks noGrp="1"/>
          </p:cNvSpPr>
          <p:nvPr>
            <p:ph type="body"/>
          </p:nvPr>
        </p:nvSpPr>
        <p:spPr>
          <a:xfrm>
            <a:off x="522360" y="1422360"/>
            <a:ext cx="530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9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870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1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2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73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7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87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876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2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3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4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886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8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890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92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3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9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896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00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2" name="PlaceHolder 2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BE2EB08-6311-4E31-A0C9-3983746A037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ftr" idx="35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4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984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5" name="PlaceHolder 5"/>
          <p:cNvSpPr>
            <a:spLocks noGrp="1"/>
          </p:cNvSpPr>
          <p:nvPr>
            <p:ph type="body"/>
          </p:nvPr>
        </p:nvSpPr>
        <p:spPr>
          <a:xfrm>
            <a:off x="3311640" y="1422360"/>
            <a:ext cx="5309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0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1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1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1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1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92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2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2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92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3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3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93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3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3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40" name="PlaceHolder 2"/>
          <p:cNvSpPr>
            <a:spLocks noGrp="1"/>
          </p:cNvSpPr>
          <p:nvPr>
            <p:ph type="ftr" idx="36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1" name="PlaceHolder 3"/>
          <p:cNvSpPr>
            <a:spLocks noGrp="1"/>
          </p:cNvSpPr>
          <p:nvPr>
            <p:ph type="sldNum" idx="37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E6A5678-3D93-4DAC-B355-33FC35EC31A7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2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3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4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405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2360" cy="1637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6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47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8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9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0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51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52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53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9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0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1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2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963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4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5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66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967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8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69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0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1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72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973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77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79" name="PlaceHolder 2"/>
          <p:cNvSpPr>
            <a:spLocks noGrp="1"/>
          </p:cNvSpPr>
          <p:nvPr>
            <p:ph type="ftr" idx="38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0" name="PlaceHolder 3"/>
          <p:cNvSpPr>
            <a:spLocks noGrp="1"/>
          </p:cNvSpPr>
          <p:nvPr>
            <p:ph type="sldNum" idx="39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3B8D1FE-92FC-4AF9-8AC9-98B93C058C1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1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5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2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8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4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985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6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7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88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89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990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991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2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7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8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9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0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01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2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3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04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05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6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07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8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9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10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11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2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3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4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15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1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2"/>
          <p:cNvSpPr>
            <a:spLocks noGrp="1"/>
          </p:cNvSpPr>
          <p:nvPr>
            <p:ph type="ftr" idx="40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8" name="PlaceHolder 3"/>
          <p:cNvSpPr>
            <a:spLocks noGrp="1"/>
          </p:cNvSpPr>
          <p:nvPr>
            <p:ph type="sldNum" idx="41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80F501F-2961-4534-8BC2-67D9261592C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9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451728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20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3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1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36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2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2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26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27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028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029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0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35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6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7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8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39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0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1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2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43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4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5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6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7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48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49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53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5" name="PlaceHolder 2"/>
          <p:cNvSpPr>
            <a:spLocks noGrp="1"/>
          </p:cNvSpPr>
          <p:nvPr>
            <p:ph type="ftr" idx="42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6" name="PlaceHolder 3"/>
          <p:cNvSpPr>
            <a:spLocks noGrp="1"/>
          </p:cNvSpPr>
          <p:nvPr>
            <p:ph type="sldNum" idx="43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49B5B9B-2DCB-40D2-8952-4E73C4013928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7" name="PlaceHolder 4"/>
          <p:cNvSpPr>
            <a:spLocks noGrp="1"/>
          </p:cNvSpPr>
          <p:nvPr>
            <p:ph type="body"/>
          </p:nvPr>
        </p:nvSpPr>
        <p:spPr>
          <a:xfrm>
            <a:off x="4625640" y="1422360"/>
            <a:ext cx="224100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8" name="PlaceHolder 5"/>
          <p:cNvSpPr>
            <a:spLocks noGrp="1"/>
          </p:cNvSpPr>
          <p:nvPr>
            <p:ph type="body"/>
          </p:nvPr>
        </p:nvSpPr>
        <p:spPr>
          <a:xfrm>
            <a:off x="6921000" y="1422360"/>
            <a:ext cx="2221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3360" cy="34912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60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36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1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62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3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4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65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66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067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068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3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74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5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6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7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078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9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80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1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082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3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84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5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6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87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088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0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1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92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093" name="Gruppieren 53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094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5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6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97" name="PlaceHolder 1"/>
          <p:cNvSpPr>
            <a:spLocks noGrp="1"/>
          </p:cNvSpPr>
          <p:nvPr>
            <p:ph type="ftr" idx="44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8" name="PlaceHolder 2"/>
          <p:cNvSpPr>
            <a:spLocks noGrp="1"/>
          </p:cNvSpPr>
          <p:nvPr>
            <p:ph type="sldNum" idx="45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9E5C036-2F33-4DF2-B90E-C06B20E0C8D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64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00" name="Gerader Verbinder 46"/>
          <p:cNvCxnSpPr/>
          <p:nvPr/>
        </p:nvCxnSpPr>
        <p:spPr>
          <a:xfrm>
            <a:off x="4625640" y="974520"/>
            <a:ext cx="272880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01" name="PlaceHolder 4"/>
          <p:cNvSpPr>
            <a:spLocks noGrp="1"/>
          </p:cNvSpPr>
          <p:nvPr>
            <p:ph type="body"/>
          </p:nvPr>
        </p:nvSpPr>
        <p:spPr>
          <a:xfrm>
            <a:off x="-6120" y="0"/>
            <a:ext cx="4276080" cy="4914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02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6720" cy="3486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3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6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10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0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06" name="Freihandform: Form 68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69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8" name="Freihandform: Form 70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9" name="Freihandform: Form 71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0" name="Freihandform: Form 72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1" name="Freihandform: Form 73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2" name="Freihandform: Form 45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3" name="Freihandform: Form 4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4" name="Freihandform: Form 4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16" name="Freihandform: Form 66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7" name="Freihandform: Form 67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18" name="Freihandform: Form 50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20" name="Freihandform: Form 6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1" name="Freihandform: Form 6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22" name="Freihandform: Form 52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3" name="Freihandform: Form 5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4" name="Freihandform: Form 5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26" name="Freihandform: Form 6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7" name="Freihandform: Form 6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8" name="Freihandform: Form 6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9" name="Freihandform: Form 6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13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3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3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3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3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4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4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5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5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5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61" name="Freihandform: Form 44" hidden="1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62" name="Gruppieren 54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163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4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5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66" name="PlaceHolder 1"/>
          <p:cNvSpPr>
            <a:spLocks noGrp="1"/>
          </p:cNvSpPr>
          <p:nvPr>
            <p:ph type="ftr" idx="46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7" name="PlaceHolder 2"/>
          <p:cNvSpPr>
            <a:spLocks noGrp="1"/>
          </p:cNvSpPr>
          <p:nvPr>
            <p:ph type="sldNum" idx="47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682102C-0A7C-4E25-8253-518BB9AFEF8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8" name="PlaceHolder 3"/>
          <p:cNvSpPr>
            <a:spLocks noGrp="1"/>
          </p:cNvSpPr>
          <p:nvPr>
            <p:ph type="title"/>
          </p:nvPr>
        </p:nvSpPr>
        <p:spPr>
          <a:xfrm>
            <a:off x="4625640" y="330840"/>
            <a:ext cx="272664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1169" name="Gerader Verbinder 47"/>
          <p:cNvCxnSpPr/>
          <p:nvPr/>
        </p:nvCxnSpPr>
        <p:spPr>
          <a:xfrm>
            <a:off x="4625640" y="974520"/>
            <a:ext cx="272880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1170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4275000" cy="2430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71" name="PlaceHolder 5"/>
          <p:cNvSpPr>
            <a:spLocks noGrp="1"/>
          </p:cNvSpPr>
          <p:nvPr>
            <p:ph type="body"/>
          </p:nvPr>
        </p:nvSpPr>
        <p:spPr>
          <a:xfrm>
            <a:off x="0" y="2493720"/>
            <a:ext cx="4275000" cy="2419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72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9240" cy="34866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73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924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174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175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176" name="Freihandform: Form 69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7" name="Freihandform: Form 70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Freihandform: Form 71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Freihandform: Form 72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Freihandform: Form 73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1" name="Freihandform: Form 74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2" name="Freihandform: Form 45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3" name="Freihandform: Form 46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4" name="Freihandform: Form 49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5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186" name="Freihandform: Form 67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7" name="Freihandform: Form 68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88" name="Freihandform: Form 51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89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190" name="Freihandform: Form 65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Freihandform: Form 66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2" name="Freihandform: Form 53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3" name="Freihandform: Form 58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4" name="Freihandform: Form 59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5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196" name="Freihandform: Form 61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7" name="Freihandform: Form 62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8" name="Freihandform: Form 63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Freihandform: Form 64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0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01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3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04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05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06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07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2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3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4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5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16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17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8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19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0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21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2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3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4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5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6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227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0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31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3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3" name="PlaceHolder 2"/>
          <p:cNvSpPr>
            <a:spLocks noGrp="1"/>
          </p:cNvSpPr>
          <p:nvPr>
            <p:ph type="ftr" idx="48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4" name="PlaceHolder 3"/>
          <p:cNvSpPr>
            <a:spLocks noGrp="1"/>
          </p:cNvSpPr>
          <p:nvPr>
            <p:ph type="sldNum" idx="49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E5757A9-4B60-42C7-B810-312B972B232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5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454356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6" name="PlaceHolder 5"/>
          <p:cNvSpPr>
            <a:spLocks noGrp="1"/>
          </p:cNvSpPr>
          <p:nvPr>
            <p:ph type="body"/>
          </p:nvPr>
        </p:nvSpPr>
        <p:spPr>
          <a:xfrm>
            <a:off x="4599360" y="1422360"/>
            <a:ext cx="454356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37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8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39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0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1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2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3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44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45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6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7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1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2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3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4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55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6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7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8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59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1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2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3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4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265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8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69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1" name="PlaceHolder 2"/>
          <p:cNvSpPr>
            <a:spLocks noGrp="1"/>
          </p:cNvSpPr>
          <p:nvPr>
            <p:ph type="ftr" idx="50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2" name="PlaceHolder 3"/>
          <p:cNvSpPr>
            <a:spLocks noGrp="1"/>
          </p:cNvSpPr>
          <p:nvPr>
            <p:ph type="sldNum" idx="51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0549344-C272-45E7-BB34-C587976D87B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3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2977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5"/>
          <p:cNvSpPr>
            <a:spLocks noGrp="1"/>
          </p:cNvSpPr>
          <p:nvPr>
            <p:ph type="body"/>
          </p:nvPr>
        </p:nvSpPr>
        <p:spPr>
          <a:xfrm>
            <a:off x="3032640" y="1422360"/>
            <a:ext cx="307800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5" name="PlaceHolder 6"/>
          <p:cNvSpPr>
            <a:spLocks noGrp="1"/>
          </p:cNvSpPr>
          <p:nvPr>
            <p:ph type="body"/>
          </p:nvPr>
        </p:nvSpPr>
        <p:spPr>
          <a:xfrm>
            <a:off x="6165000" y="1422360"/>
            <a:ext cx="2977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6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7" name="Gruppieren 6"/>
          <p:cNvGrpSpPr/>
          <p:nvPr/>
        </p:nvGrpSpPr>
        <p:grpSpPr>
          <a:xfrm>
            <a:off x="-5040" y="4950720"/>
            <a:ext cx="9147960" cy="196920"/>
            <a:chOff x="-5040" y="4950720"/>
            <a:chExt cx="9147960" cy="196920"/>
          </a:xfrm>
        </p:grpSpPr>
        <p:sp>
          <p:nvSpPr>
            <p:cNvPr id="1278" name="bk object 18"/>
            <p:cNvSpPr/>
            <p:nvPr/>
          </p:nvSpPr>
          <p:spPr>
            <a:xfrm>
              <a:off x="-5040" y="4950720"/>
              <a:ext cx="483840" cy="196920"/>
            </a:xfrm>
            <a:custGeom>
              <a:avLst/>
              <a:gdLst>
                <a:gd name="textAreaLeft" fmla="*/ 0 w 483840"/>
                <a:gd name="textAreaRight" fmla="*/ 484920 w 48384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9" name="bk object 18"/>
            <p:cNvSpPr/>
            <p:nvPr/>
          </p:nvSpPr>
          <p:spPr>
            <a:xfrm>
              <a:off x="522360" y="4950720"/>
              <a:ext cx="8620560" cy="196920"/>
            </a:xfrm>
            <a:custGeom>
              <a:avLst/>
              <a:gdLst>
                <a:gd name="textAreaLeft" fmla="*/ 0 w 8620560"/>
                <a:gd name="textAreaRight" fmla="*/ 8621640 w 8620560"/>
                <a:gd name="textAreaTop" fmla="*/ 0 h 196920"/>
                <a:gd name="textAreaBottom" fmla="*/ 198000 h 19692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0" name="Holder 3"/>
            <p:cNvSpPr/>
            <p:nvPr/>
          </p:nvSpPr>
          <p:spPr>
            <a:xfrm>
              <a:off x="8194680" y="4966200"/>
              <a:ext cx="448560" cy="166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81" name="Gerader Verbinder 11"/>
          <p:cNvCxnSpPr/>
          <p:nvPr/>
        </p:nvCxnSpPr>
        <p:spPr>
          <a:xfrm>
            <a:off x="521280" y="974520"/>
            <a:ext cx="6833160" cy="108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2" name="Grafik 9"/>
          <p:cNvGrpSpPr/>
          <p:nvPr/>
        </p:nvGrpSpPr>
        <p:grpSpPr>
          <a:xfrm>
            <a:off x="7741440" y="394200"/>
            <a:ext cx="1049040" cy="619920"/>
            <a:chOff x="7741440" y="394200"/>
            <a:chExt cx="1049040" cy="619920"/>
          </a:xfrm>
        </p:grpSpPr>
        <p:grpSp>
          <p:nvGrpSpPr>
            <p:cNvPr id="1283" name="Grafik 9"/>
            <p:cNvGrpSpPr/>
            <p:nvPr/>
          </p:nvGrpSpPr>
          <p:grpSpPr>
            <a:xfrm>
              <a:off x="7741440" y="394200"/>
              <a:ext cx="883800" cy="431280"/>
              <a:chOff x="7741440" y="394200"/>
              <a:chExt cx="883800" cy="431280"/>
            </a:xfrm>
          </p:grpSpPr>
          <p:sp>
            <p:nvSpPr>
              <p:cNvPr id="1284" name="Freihandform: Form 20"/>
              <p:cNvSpPr/>
              <p:nvPr/>
            </p:nvSpPr>
            <p:spPr>
              <a:xfrm>
                <a:off x="8358120" y="480600"/>
                <a:ext cx="267120" cy="26748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267480"/>
                  <a:gd name="textAreaBottom" fmla="*/ 268560 h 26748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Freihandform: Form 21"/>
              <p:cNvSpPr/>
              <p:nvPr/>
            </p:nvSpPr>
            <p:spPr>
              <a:xfrm>
                <a:off x="774144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Freihandform: Form 22"/>
              <p:cNvSpPr/>
              <p:nvPr/>
            </p:nvSpPr>
            <p:spPr>
              <a:xfrm>
                <a:off x="8050680" y="394200"/>
                <a:ext cx="267120" cy="347400"/>
              </a:xfrm>
              <a:custGeom>
                <a:avLst/>
                <a:gdLst>
                  <a:gd name="textAreaLeft" fmla="*/ 0 w 267120"/>
                  <a:gd name="textAreaRight" fmla="*/ 268200 w 267120"/>
                  <a:gd name="textAreaTop" fmla="*/ 0 h 347400"/>
                  <a:gd name="textAreaBottom" fmla="*/ 348480 h 34740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3"/>
              <p:cNvSpPr/>
              <p:nvPr/>
            </p:nvSpPr>
            <p:spPr>
              <a:xfrm>
                <a:off x="784800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Freihandform: Form 24"/>
              <p:cNvSpPr/>
              <p:nvPr/>
            </p:nvSpPr>
            <p:spPr>
              <a:xfrm>
                <a:off x="795816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Freihandform: Form 25"/>
              <p:cNvSpPr/>
              <p:nvPr/>
            </p:nvSpPr>
            <p:spPr>
              <a:xfrm>
                <a:off x="8212320" y="817560"/>
                <a:ext cx="7920" cy="7920"/>
              </a:xfrm>
              <a:custGeom>
                <a:avLst/>
                <a:gdLst>
                  <a:gd name="textAreaLeft" fmla="*/ 0 w 7920"/>
                  <a:gd name="textAreaRight" fmla="*/ 9000 w 7920"/>
                  <a:gd name="textAreaTop" fmla="*/ 0 h 7920"/>
                  <a:gd name="textAreaBottom" fmla="*/ 9000 h 792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0" name="Freihandform: Form 26"/>
            <p:cNvSpPr/>
            <p:nvPr/>
          </p:nvSpPr>
          <p:spPr>
            <a:xfrm>
              <a:off x="774144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1" name="Freihandform: Form 27"/>
            <p:cNvSpPr/>
            <p:nvPr/>
          </p:nvSpPr>
          <p:spPr>
            <a:xfrm>
              <a:off x="779976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2" name="Freihandform: Form 28"/>
            <p:cNvSpPr/>
            <p:nvPr/>
          </p:nvSpPr>
          <p:spPr>
            <a:xfrm>
              <a:off x="784908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3" name="Grafik 9"/>
            <p:cNvGrpSpPr/>
            <p:nvPr/>
          </p:nvGrpSpPr>
          <p:grpSpPr>
            <a:xfrm>
              <a:off x="7872120" y="834120"/>
              <a:ext cx="74160" cy="40680"/>
              <a:chOff x="7872120" y="834120"/>
              <a:chExt cx="74160" cy="40680"/>
            </a:xfrm>
          </p:grpSpPr>
          <p:sp>
            <p:nvSpPr>
              <p:cNvPr id="1294" name="Freihandform: Form 30"/>
              <p:cNvSpPr/>
              <p:nvPr/>
            </p:nvSpPr>
            <p:spPr>
              <a:xfrm>
                <a:off x="787212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5" name="Freihandform: Form 31"/>
              <p:cNvSpPr/>
              <p:nvPr/>
            </p:nvSpPr>
            <p:spPr>
              <a:xfrm>
                <a:off x="7922160" y="834120"/>
                <a:ext cx="24120" cy="40680"/>
              </a:xfrm>
              <a:custGeom>
                <a:avLst/>
                <a:gdLst>
                  <a:gd name="textAreaLeft" fmla="*/ 0 w 24120"/>
                  <a:gd name="textAreaRight" fmla="*/ 25200 w 24120"/>
                  <a:gd name="textAreaTop" fmla="*/ 0 h 40680"/>
                  <a:gd name="textAreaBottom" fmla="*/ 41760 h 4068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2240" tIns="-3240" rIns="1224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6" name="Freihandform: Form 32"/>
            <p:cNvSpPr/>
            <p:nvPr/>
          </p:nvSpPr>
          <p:spPr>
            <a:xfrm>
              <a:off x="795924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7" name="Grafik 9"/>
            <p:cNvGrpSpPr/>
            <p:nvPr/>
          </p:nvGrpSpPr>
          <p:grpSpPr>
            <a:xfrm>
              <a:off x="7979760" y="812160"/>
              <a:ext cx="78120" cy="64440"/>
              <a:chOff x="7979760" y="812160"/>
              <a:chExt cx="78120" cy="64440"/>
            </a:xfrm>
          </p:grpSpPr>
          <p:sp>
            <p:nvSpPr>
              <p:cNvPr id="1298" name="Freihandform: Form 34"/>
              <p:cNvSpPr/>
              <p:nvPr/>
            </p:nvSpPr>
            <p:spPr>
              <a:xfrm>
                <a:off x="7979760" y="834120"/>
                <a:ext cx="33480" cy="424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2480"/>
                  <a:gd name="textAreaBottom" fmla="*/ 43560 h 4248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1440" rIns="1692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9" name="Freihandform: Form 35"/>
              <p:cNvSpPr/>
              <p:nvPr/>
            </p:nvSpPr>
            <p:spPr>
              <a:xfrm>
                <a:off x="8024400" y="812160"/>
                <a:ext cx="33480" cy="622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62280"/>
                  <a:gd name="textAreaBottom" fmla="*/ 63360 h 6228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18360" rIns="1692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300" name="Freihandform: Form 36"/>
            <p:cNvSpPr/>
            <p:nvPr/>
          </p:nvSpPr>
          <p:spPr>
            <a:xfrm>
              <a:off x="8106480" y="817920"/>
              <a:ext cx="42480" cy="56880"/>
            </a:xfrm>
            <a:custGeom>
              <a:avLst/>
              <a:gdLst>
                <a:gd name="textAreaLeft" fmla="*/ 0 w 42480"/>
                <a:gd name="textAreaRight" fmla="*/ 43560 w 42480"/>
                <a:gd name="textAreaTop" fmla="*/ 0 h 56880"/>
                <a:gd name="textAreaBottom" fmla="*/ 57960 h 5688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1" name="Freihandform: Form 37"/>
            <p:cNvSpPr/>
            <p:nvPr/>
          </p:nvSpPr>
          <p:spPr>
            <a:xfrm>
              <a:off x="8164800" y="834120"/>
              <a:ext cx="35280" cy="42480"/>
            </a:xfrm>
            <a:custGeom>
              <a:avLst/>
              <a:gdLst>
                <a:gd name="textAreaLeft" fmla="*/ 0 w 35280"/>
                <a:gd name="textAreaRight" fmla="*/ 36360 w 35280"/>
                <a:gd name="textAreaTop" fmla="*/ 0 h 42480"/>
                <a:gd name="textAreaBottom" fmla="*/ 43560 h 4248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2" name="Freihandform: Form 38"/>
            <p:cNvSpPr/>
            <p:nvPr/>
          </p:nvSpPr>
          <p:spPr>
            <a:xfrm>
              <a:off x="8213400" y="835200"/>
              <a:ext cx="6120" cy="38880"/>
            </a:xfrm>
            <a:custGeom>
              <a:avLst/>
              <a:gdLst>
                <a:gd name="textAreaLeft" fmla="*/ 0 w 6120"/>
                <a:gd name="textAreaRight" fmla="*/ 7200 w 6120"/>
                <a:gd name="textAreaTop" fmla="*/ 0 h 38880"/>
                <a:gd name="textAreaBottom" fmla="*/ 39960 h 3888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240" tIns="-5040" rIns="324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3" name="Grafik 9"/>
            <p:cNvGrpSpPr/>
            <p:nvPr/>
          </p:nvGrpSpPr>
          <p:grpSpPr>
            <a:xfrm>
              <a:off x="7741440" y="834120"/>
              <a:ext cx="1049040" cy="180000"/>
              <a:chOff x="7741440" y="834120"/>
              <a:chExt cx="1049040" cy="180000"/>
            </a:xfrm>
          </p:grpSpPr>
          <p:sp>
            <p:nvSpPr>
              <p:cNvPr id="1304" name="Freihandform: Form 40"/>
              <p:cNvSpPr/>
              <p:nvPr/>
            </p:nvSpPr>
            <p:spPr>
              <a:xfrm>
                <a:off x="8236440" y="834120"/>
                <a:ext cx="33480" cy="40680"/>
              </a:xfrm>
              <a:custGeom>
                <a:avLst/>
                <a:gdLst>
                  <a:gd name="textAreaLeft" fmla="*/ 0 w 33480"/>
                  <a:gd name="textAreaRight" fmla="*/ 34560 w 33480"/>
                  <a:gd name="textAreaTop" fmla="*/ 0 h 40680"/>
                  <a:gd name="textAreaBottom" fmla="*/ 41760 h 4068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920" tIns="-3240" rIns="1692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Freihandform: Form 41"/>
              <p:cNvSpPr/>
              <p:nvPr/>
            </p:nvSpPr>
            <p:spPr>
              <a:xfrm>
                <a:off x="8284680" y="834120"/>
                <a:ext cx="35280" cy="42480"/>
              </a:xfrm>
              <a:custGeom>
                <a:avLst/>
                <a:gdLst>
                  <a:gd name="textAreaLeft" fmla="*/ 0 w 35280"/>
                  <a:gd name="textAreaRight" fmla="*/ 36360 w 35280"/>
                  <a:gd name="textAreaTop" fmla="*/ 0 h 42480"/>
                  <a:gd name="textAreaBottom" fmla="*/ 43560 h 4248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Freihandform: Form 42"/>
              <p:cNvSpPr/>
              <p:nvPr/>
            </p:nvSpPr>
            <p:spPr>
              <a:xfrm>
                <a:off x="7741440" y="914040"/>
                <a:ext cx="883440" cy="62280"/>
              </a:xfrm>
              <a:custGeom>
                <a:avLst/>
                <a:gdLst>
                  <a:gd name="textAreaLeft" fmla="*/ 0 w 883440"/>
                  <a:gd name="textAreaRight" fmla="*/ 884520 w 883440"/>
                  <a:gd name="textAreaTop" fmla="*/ 0 h 62280"/>
                  <a:gd name="textAreaBottom" fmla="*/ 63360 h 6228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Freihandform: Form 43"/>
              <p:cNvSpPr/>
              <p:nvPr/>
            </p:nvSpPr>
            <p:spPr>
              <a:xfrm>
                <a:off x="8677440" y="915480"/>
                <a:ext cx="113040" cy="98640"/>
              </a:xfrm>
              <a:custGeom>
                <a:avLst/>
                <a:gdLst>
                  <a:gd name="textAreaLeft" fmla="*/ 0 w 113040"/>
                  <a:gd name="textAreaRight" fmla="*/ 114120 w 113040"/>
                  <a:gd name="textAreaTop" fmla="*/ 0 h 98640"/>
                  <a:gd name="textAreaBottom" fmla="*/ 99720 h 9864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08" name="Freihandform: Form 44"/>
          <p:cNvSpPr/>
          <p:nvPr/>
        </p:nvSpPr>
        <p:spPr>
          <a:xfrm>
            <a:off x="-5040" y="407880"/>
            <a:ext cx="336240" cy="293760"/>
          </a:xfrm>
          <a:custGeom>
            <a:avLst/>
            <a:gdLst>
              <a:gd name="textAreaLeft" fmla="*/ 0 w 336240"/>
              <a:gd name="textAreaRight" fmla="*/ 337320 w 336240"/>
              <a:gd name="textAreaTop" fmla="*/ 0 h 293760"/>
              <a:gd name="textAreaBottom" fmla="*/ 294840 h 29376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0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0" name="PlaceHolder 2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872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1" name="PlaceHolder 3"/>
          <p:cNvSpPr>
            <a:spLocks noGrp="1"/>
          </p:cNvSpPr>
          <p:nvPr>
            <p:ph type="sldNum" idx="53"/>
          </p:nvPr>
        </p:nvSpPr>
        <p:spPr>
          <a:xfrm>
            <a:off x="35640" y="4975560"/>
            <a:ext cx="336240" cy="147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4084F55-BC64-4F7E-BC7A-E432C6EFD1B1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2" name="PlaceHolder 4"/>
          <p:cNvSpPr>
            <a:spLocks noGrp="1"/>
          </p:cNvSpPr>
          <p:nvPr>
            <p:ph type="body"/>
          </p:nvPr>
        </p:nvSpPr>
        <p:spPr>
          <a:xfrm>
            <a:off x="0" y="1422360"/>
            <a:ext cx="9142920" cy="3491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3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100000" cy="323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emf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4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/>
          </p:nvPr>
        </p:nvSpPr>
        <p:spPr>
          <a:xfrm>
            <a:off x="3654360" y="2286720"/>
            <a:ext cx="4948920" cy="1068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Isolation and Protection in Operating Systems</a:t>
            </a:r>
            <a:br>
              <a:rPr sz="3600"/>
            </a:br>
            <a:br>
              <a:rPr sz="3600"/>
            </a:br>
            <a:r>
              <a:rPr lang="de-DE" sz="20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3. System Calls in x86-64</a:t>
            </a:r>
            <a:endParaRPr lang="de-DE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9920" cy="6037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Goal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Until now all user mode threads (Ring 3) can just call all kernel functions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directly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CPU triggers an General Protection Fault (GPF) if a privileged instruction is used inside one of the called kernel function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Usually, kernel code is protected from direct execution in ring 3 via paging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We now want to implement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Calls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, which expose kernel functions for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indirect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and controlled execution in ring 3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4" name="PlaceHolder 8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6B84AFC8-4E41-4C11-A14F-82E6ED69B0EF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System Call Mechanisms in x86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6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Call Gate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Descriptor in the GDT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via a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call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or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jmp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instruction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is switched via the TSS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Trap Gate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Descriptor in the IDT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via a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int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instruction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is switched via the TSS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Fast System Calls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Configured through MSRs (Model Specific Register)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Access via a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syscall/sysret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instruction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Stack must be switched manually by the operating system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7" name="PlaceHolder 9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4781E675-9C45-4633-A2BB-EF67B38CE1C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Call Gate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29" name="Picture 1"/>
          <p:cNvPicPr/>
          <p:nvPr/>
        </p:nvPicPr>
        <p:blipFill>
          <a:blip r:embed="rId1"/>
          <a:stretch/>
        </p:blipFill>
        <p:spPr>
          <a:xfrm>
            <a:off x="3062160" y="1194120"/>
            <a:ext cx="5685480" cy="356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0" name="TextBox 2"/>
          <p:cNvSpPr/>
          <p:nvPr/>
        </p:nvSpPr>
        <p:spPr>
          <a:xfrm>
            <a:off x="6444360" y="3696840"/>
            <a:ext cx="57780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DPL=0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3"/>
          <p:cNvSpPr/>
          <p:nvPr/>
        </p:nvSpPr>
        <p:spPr>
          <a:xfrm>
            <a:off x="6444360" y="2688840"/>
            <a:ext cx="57780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DPL=3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Offset in register and code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segment descriptor are ignored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10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35C6125-FBAB-42CD-822D-996910041681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Interrupt/Trap Gate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Access via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int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instruction 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Example: 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Source Han Sans CN"/>
              </a:rPr>
              <a:t>int 0x80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References a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Trap Gate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with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index 0x80 in the IDT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Offset = Handler address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CN"/>
              </a:rPr>
              <a:t>Segment selector chooses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ource Han Sans CN"/>
              </a:rPr>
              <a:t>a segment descriptor in GDT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36" name="Picture 5"/>
          <p:cNvPicPr/>
          <p:nvPr/>
        </p:nvPicPr>
        <p:blipFill>
          <a:blip r:embed="rId1"/>
          <a:stretch/>
        </p:blipFill>
        <p:spPr>
          <a:xfrm>
            <a:off x="3636000" y="1110960"/>
            <a:ext cx="5226480" cy="36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7" name="PlaceHolder 11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4B216C1-26CF-474E-9777-5593998E0F3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Interrupt/Trap Gate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Gate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Enable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flag is deleted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for interrupt handlers → sequential execution (on single core CPUs)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Trap Gate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Enable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flag is </a:t>
            </a:r>
            <a:r>
              <a:rPr lang="de-DE" sz="14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not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deleted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for system calls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40" name="PlaceHolder 12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8D5F722-BDAA-4F51-AEC7-8488E036877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Interrupts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2" name="PlaceHolder 4"/>
          <p:cNvSpPr/>
          <p:nvPr/>
        </p:nvSpPr>
        <p:spPr>
          <a:xfrm>
            <a:off x="522000" y="1207080"/>
            <a:ext cx="8093520" cy="37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External/Hardware interrupts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a device (e.g., timer)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Come from the outside (from the CPU’s point of view)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Internal/Software interrupts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the CPU itself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Exceptions (see next slides)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Assembly instruction 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INT &lt;nr&gt;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74600" lvl="3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Used for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Calls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(Linux, Windows NT, MacOS, MSDOS)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3" name="PlaceHolder 13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A016048C-FB19-48E9-9A53-E7E0807DC29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Exceptions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5" name="PlaceHolder 5"/>
          <p:cNvSpPr/>
          <p:nvPr/>
        </p:nvSpPr>
        <p:spPr>
          <a:xfrm>
            <a:off x="522000" y="1207080"/>
            <a:ext cx="8093520" cy="37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Fault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Operating system can handle and recover from faults (e.g., Page Fault)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CPU state and the address of the fault triggering instruction are stored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Trap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Triggered by a special instruction (e.g., INT 3 - Breakpoint)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Program can be continued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Abort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Unrecoverable error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Triggers are hard to localize exactly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Cause a reboot (e.g., Double Fault)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PlaceHolder 14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D5F0FC70-B702-43A1-8411-2EB7C53A74A8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Vectors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8" name="PlaceHolder 6"/>
          <p:cNvSpPr/>
          <p:nvPr/>
        </p:nvSpPr>
        <p:spPr>
          <a:xfrm>
            <a:off x="522000" y="1207080"/>
            <a:ext cx="8093520" cy="37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Interrupts and exceptions are identified via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Vector Number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0 – 31 are reserved for exceptions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 – 255 are freely available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Examples for exceptions: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49" name="Table 1"/>
          <p:cNvGraphicFramePr/>
          <p:nvPr/>
        </p:nvGraphicFramePr>
        <p:xfrm>
          <a:off x="899640" y="2755080"/>
          <a:ext cx="7604640" cy="1922040"/>
        </p:xfrm>
        <a:graphic>
          <a:graphicData uri="http://schemas.openxmlformats.org/drawingml/2006/table">
            <a:tbl>
              <a:tblPr/>
              <a:tblGrid>
                <a:gridCol w="768600"/>
                <a:gridCol w="3075480"/>
                <a:gridCol w="854280"/>
                <a:gridCol w="2906640"/>
              </a:tblGrid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Vector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Exception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Vector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Exception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0"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 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	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Division by 0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Debug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NMI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Break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Overflow 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Bounds range exceeded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Illegal instruction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Double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11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12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14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18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…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44280" tIns="0" rIns="44280" bIns="0" anchor="t">
                      <a:noAutofit/>
                    </a:bodyPr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fr-FR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Segment not present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Stack overflow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General protection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Page fault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-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Machine check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228600" indent="-228600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4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. . .</a:t>
                      </a:r>
                      <a:endParaRPr lang="de-D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44280" marR="44280" marT="0" marB="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50" name="PlaceHolder 15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8A4C64AD-F2CC-4B13-801C-5F7EEEFC0209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Stackup Buildup without Ring Change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If the privilege level is not changed, the CPU does not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switch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the stack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interrupt handler operates on the stack of the interrupted thread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happens in HeineOS (all our code runs in ring 0)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Only some exceptions</a:t>
            </a:r>
            <a:br>
              <a:rPr sz="1600"/>
            </a:b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push an error code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353" name="Group 30"/>
          <p:cNvGrpSpPr/>
          <p:nvPr/>
        </p:nvGrpSpPr>
        <p:grpSpPr>
          <a:xfrm>
            <a:off x="2771640" y="2212920"/>
            <a:ext cx="6059520" cy="2522880"/>
            <a:chOff x="2771640" y="2212920"/>
            <a:chExt cx="6059520" cy="2522880"/>
          </a:xfrm>
        </p:grpSpPr>
        <p:grpSp>
          <p:nvGrpSpPr>
            <p:cNvPr id="1354" name="Group 8"/>
            <p:cNvGrpSpPr/>
            <p:nvPr/>
          </p:nvGrpSpPr>
          <p:grpSpPr>
            <a:xfrm>
              <a:off x="3517920" y="2805120"/>
              <a:ext cx="1438920" cy="574920"/>
              <a:chOff x="3517920" y="2805120"/>
              <a:chExt cx="1438920" cy="574920"/>
            </a:xfrm>
          </p:grpSpPr>
          <p:sp>
            <p:nvSpPr>
              <p:cNvPr id="1355" name="Rectangle 2"/>
              <p:cNvSpPr/>
              <p:nvPr/>
            </p:nvSpPr>
            <p:spPr>
              <a:xfrm>
                <a:off x="3517920" y="28051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6" name="Rectangle 4"/>
              <p:cNvSpPr/>
              <p:nvPr/>
            </p:nvSpPr>
            <p:spPr>
              <a:xfrm>
                <a:off x="3517920" y="30931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RFLAGS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57" name="Group 9"/>
            <p:cNvGrpSpPr/>
            <p:nvPr/>
          </p:nvGrpSpPr>
          <p:grpSpPr>
            <a:xfrm>
              <a:off x="3517920" y="3381120"/>
              <a:ext cx="1438920" cy="574920"/>
              <a:chOff x="3517920" y="3381120"/>
              <a:chExt cx="1438920" cy="574920"/>
            </a:xfrm>
          </p:grpSpPr>
          <p:sp>
            <p:nvSpPr>
              <p:cNvPr id="1358" name="Rectangle 10"/>
              <p:cNvSpPr/>
              <p:nvPr/>
            </p:nvSpPr>
            <p:spPr>
              <a:xfrm>
                <a:off x="3517920" y="33811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CS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9" name="Rectangle 11"/>
              <p:cNvSpPr/>
              <p:nvPr/>
            </p:nvSpPr>
            <p:spPr>
              <a:xfrm>
                <a:off x="3517920" y="36691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RIP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60" name="Group 14"/>
            <p:cNvGrpSpPr/>
            <p:nvPr/>
          </p:nvGrpSpPr>
          <p:grpSpPr>
            <a:xfrm>
              <a:off x="3517920" y="3943080"/>
              <a:ext cx="1438920" cy="574920"/>
              <a:chOff x="3517920" y="3943080"/>
              <a:chExt cx="1438920" cy="574920"/>
            </a:xfrm>
          </p:grpSpPr>
          <p:sp>
            <p:nvSpPr>
              <p:cNvPr id="1361" name="Rectangle 15"/>
              <p:cNvSpPr/>
              <p:nvPr/>
            </p:nvSpPr>
            <p:spPr>
              <a:xfrm>
                <a:off x="3517920" y="39430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(error code)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2" name="Rectangle 16"/>
              <p:cNvSpPr/>
              <p:nvPr/>
            </p:nvSpPr>
            <p:spPr>
              <a:xfrm>
                <a:off x="3517920" y="42310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363" name="Straight Connector 18"/>
            <p:cNvCxnSpPr/>
            <p:nvPr/>
          </p:nvCxnSpPr>
          <p:spPr>
            <a:xfrm>
              <a:off x="3517560" y="2574720"/>
              <a:ext cx="1080" cy="2161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364" name="Straight Connector 21"/>
            <p:cNvCxnSpPr/>
            <p:nvPr/>
          </p:nvCxnSpPr>
          <p:spPr>
            <a:xfrm>
              <a:off x="4957920" y="2574720"/>
              <a:ext cx="1080" cy="2161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365" name="TextBox 22"/>
            <p:cNvSpPr/>
            <p:nvPr/>
          </p:nvSpPr>
          <p:spPr>
            <a:xfrm>
              <a:off x="2771640" y="2212920"/>
              <a:ext cx="280512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0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     Stack of the interrupted thread</a:t>
              </a:r>
              <a:endPara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366" name="Straight Connector 23"/>
            <p:cNvCxnSpPr/>
            <p:nvPr/>
          </p:nvCxnSpPr>
          <p:spPr>
            <a:xfrm flipH="1">
              <a:off x="4957920" y="3092760"/>
              <a:ext cx="564120" cy="108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367" name="TextBox 27"/>
            <p:cNvSpPr/>
            <p:nvPr/>
          </p:nvSpPr>
          <p:spPr>
            <a:xfrm>
              <a:off x="5494680" y="2949120"/>
              <a:ext cx="333648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RSP before transferring 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368" name="Straight Connector 28"/>
            <p:cNvCxnSpPr/>
            <p:nvPr/>
          </p:nvCxnSpPr>
          <p:spPr>
            <a:xfrm flipH="1">
              <a:off x="4944960" y="4224960"/>
              <a:ext cx="564120" cy="108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369" name="TextBox 29"/>
            <p:cNvSpPr/>
            <p:nvPr/>
          </p:nvSpPr>
          <p:spPr>
            <a:xfrm>
              <a:off x="5513040" y="4080960"/>
              <a:ext cx="319392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RSP after transferring 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70" name="PlaceHolder 16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E53C701-974B-47DD-B10E-1E2AC196F2C9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Stack Buildup with Ring Change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2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stack is read from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State Segment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(see last chapter)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373" name="Group 1"/>
          <p:cNvGrpSpPr/>
          <p:nvPr/>
        </p:nvGrpSpPr>
        <p:grpSpPr>
          <a:xfrm>
            <a:off x="5436000" y="1710720"/>
            <a:ext cx="3822480" cy="2829240"/>
            <a:chOff x="5436000" y="1710720"/>
            <a:chExt cx="3822480" cy="2829240"/>
          </a:xfrm>
        </p:grpSpPr>
        <p:grpSp>
          <p:nvGrpSpPr>
            <p:cNvPr id="1374" name="Group 8"/>
            <p:cNvGrpSpPr/>
            <p:nvPr/>
          </p:nvGrpSpPr>
          <p:grpSpPr>
            <a:xfrm>
              <a:off x="5436000" y="2609280"/>
              <a:ext cx="1438920" cy="574920"/>
              <a:chOff x="5436000" y="2609280"/>
              <a:chExt cx="1438920" cy="574920"/>
            </a:xfrm>
          </p:grpSpPr>
          <p:sp>
            <p:nvSpPr>
              <p:cNvPr id="1375" name="Rectangle 2"/>
              <p:cNvSpPr/>
              <p:nvPr/>
            </p:nvSpPr>
            <p:spPr>
              <a:xfrm>
                <a:off x="5436000" y="26092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RSP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6" name="Rectangle 4"/>
              <p:cNvSpPr/>
              <p:nvPr/>
            </p:nvSpPr>
            <p:spPr>
              <a:xfrm>
                <a:off x="5436000" y="28972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RFLAGS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77" name="Group 9"/>
            <p:cNvGrpSpPr/>
            <p:nvPr/>
          </p:nvGrpSpPr>
          <p:grpSpPr>
            <a:xfrm>
              <a:off x="5436000" y="3185280"/>
              <a:ext cx="1438920" cy="574920"/>
              <a:chOff x="5436000" y="3185280"/>
              <a:chExt cx="1438920" cy="574920"/>
            </a:xfrm>
          </p:grpSpPr>
          <p:sp>
            <p:nvSpPr>
              <p:cNvPr id="1378" name="Rectangle 10"/>
              <p:cNvSpPr/>
              <p:nvPr/>
            </p:nvSpPr>
            <p:spPr>
              <a:xfrm>
                <a:off x="5436000" y="31852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CS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9" name="Rectangle 11"/>
              <p:cNvSpPr/>
              <p:nvPr/>
            </p:nvSpPr>
            <p:spPr>
              <a:xfrm>
                <a:off x="5436000" y="347328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RIP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80" name="Group 14"/>
            <p:cNvGrpSpPr/>
            <p:nvPr/>
          </p:nvGrpSpPr>
          <p:grpSpPr>
            <a:xfrm>
              <a:off x="5436000" y="3747240"/>
              <a:ext cx="1438920" cy="574920"/>
              <a:chOff x="5436000" y="3747240"/>
              <a:chExt cx="1438920" cy="574920"/>
            </a:xfrm>
          </p:grpSpPr>
          <p:sp>
            <p:nvSpPr>
              <p:cNvPr id="1381" name="Rectangle 15"/>
              <p:cNvSpPr/>
              <p:nvPr/>
            </p:nvSpPr>
            <p:spPr>
              <a:xfrm>
                <a:off x="5436000" y="374724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pPr algn="ctr" defTabSz="686160">
                  <a:lnSpc>
                    <a:spcPct val="100000"/>
                  </a:lnSpc>
                </a:pPr>
                <a:r>
                  <a:rPr lang="en-DE" sz="1350" b="0" u="none" strike="noStrike">
                    <a:solidFill>
                      <a:schemeClr val="dk1"/>
                    </a:solidFill>
                    <a:effectLst/>
                    <a:uFillTx/>
                    <a:latin typeface="Arial"/>
                  </a:rPr>
                  <a:t>(error code)</a:t>
                </a:r>
                <a:endParaRPr lang="de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2" name="Rectangle 16"/>
              <p:cNvSpPr/>
              <p:nvPr/>
            </p:nvSpPr>
            <p:spPr>
              <a:xfrm>
                <a:off x="5436000" y="403524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383" name="Straight Connector 18"/>
            <p:cNvCxnSpPr/>
            <p:nvPr/>
          </p:nvCxnSpPr>
          <p:spPr>
            <a:xfrm>
              <a:off x="5436000" y="2100960"/>
              <a:ext cx="1080" cy="24393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384" name="Straight Connector 21"/>
            <p:cNvCxnSpPr/>
            <p:nvPr/>
          </p:nvCxnSpPr>
          <p:spPr>
            <a:xfrm>
              <a:off x="6876000" y="2100960"/>
              <a:ext cx="1080" cy="243936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385" name="TextBox 22"/>
            <p:cNvSpPr/>
            <p:nvPr/>
          </p:nvSpPr>
          <p:spPr>
            <a:xfrm>
              <a:off x="5436000" y="1710720"/>
              <a:ext cx="1438920" cy="295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Handler Stack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386" name="Straight Connector 28"/>
            <p:cNvCxnSpPr/>
            <p:nvPr/>
          </p:nvCxnSpPr>
          <p:spPr>
            <a:xfrm flipH="1">
              <a:off x="6863040" y="4029120"/>
              <a:ext cx="564120" cy="108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387" name="TextBox 29"/>
            <p:cNvSpPr/>
            <p:nvPr/>
          </p:nvSpPr>
          <p:spPr>
            <a:xfrm>
              <a:off x="7431120" y="3885120"/>
              <a:ext cx="182736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RSP after transferring</a:t>
              </a:r>
              <a:br>
                <a:rPr sz="1350"/>
              </a:b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388" name="Group 3"/>
          <p:cNvGrpSpPr/>
          <p:nvPr/>
        </p:nvGrpSpPr>
        <p:grpSpPr>
          <a:xfrm>
            <a:off x="628560" y="1721160"/>
            <a:ext cx="4772160" cy="2540880"/>
            <a:chOff x="628560" y="1721160"/>
            <a:chExt cx="4772160" cy="2540880"/>
          </a:xfrm>
        </p:grpSpPr>
        <p:grpSp>
          <p:nvGrpSpPr>
            <p:cNvPr id="1389" name="Group 5"/>
            <p:cNvGrpSpPr/>
            <p:nvPr/>
          </p:nvGrpSpPr>
          <p:grpSpPr>
            <a:xfrm>
              <a:off x="1435680" y="2331360"/>
              <a:ext cx="1438920" cy="574920"/>
              <a:chOff x="1435680" y="2331360"/>
              <a:chExt cx="1438920" cy="574920"/>
            </a:xfrm>
          </p:grpSpPr>
          <p:sp>
            <p:nvSpPr>
              <p:cNvPr id="1390" name="Rectangle 36"/>
              <p:cNvSpPr/>
              <p:nvPr/>
            </p:nvSpPr>
            <p:spPr>
              <a:xfrm>
                <a:off x="1435680" y="233136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1" name="Rectangle 37"/>
              <p:cNvSpPr/>
              <p:nvPr/>
            </p:nvSpPr>
            <p:spPr>
              <a:xfrm>
                <a:off x="1435680" y="261936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92" name="Group 17"/>
            <p:cNvGrpSpPr/>
            <p:nvPr/>
          </p:nvGrpSpPr>
          <p:grpSpPr>
            <a:xfrm>
              <a:off x="1435680" y="2907360"/>
              <a:ext cx="1438920" cy="574920"/>
              <a:chOff x="1435680" y="2907360"/>
              <a:chExt cx="1438920" cy="574920"/>
            </a:xfrm>
          </p:grpSpPr>
          <p:sp>
            <p:nvSpPr>
              <p:cNvPr id="1393" name="Rectangle 34"/>
              <p:cNvSpPr/>
              <p:nvPr/>
            </p:nvSpPr>
            <p:spPr>
              <a:xfrm>
                <a:off x="1435680" y="290736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4" name="Rectangle 35"/>
              <p:cNvSpPr/>
              <p:nvPr/>
            </p:nvSpPr>
            <p:spPr>
              <a:xfrm>
                <a:off x="1435680" y="319536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1395" name="Group 19"/>
            <p:cNvGrpSpPr/>
            <p:nvPr/>
          </p:nvGrpSpPr>
          <p:grpSpPr>
            <a:xfrm>
              <a:off x="1435680" y="3469320"/>
              <a:ext cx="1438920" cy="574920"/>
              <a:chOff x="1435680" y="3469320"/>
              <a:chExt cx="1438920" cy="574920"/>
            </a:xfrm>
          </p:grpSpPr>
          <p:sp>
            <p:nvSpPr>
              <p:cNvPr id="1396" name="Rectangle 32"/>
              <p:cNvSpPr/>
              <p:nvPr/>
            </p:nvSpPr>
            <p:spPr>
              <a:xfrm>
                <a:off x="1435680" y="34693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7" name="Rectangle 33"/>
              <p:cNvSpPr/>
              <p:nvPr/>
            </p:nvSpPr>
            <p:spPr>
              <a:xfrm>
                <a:off x="1435680" y="3757320"/>
                <a:ext cx="1438920" cy="2869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en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cxnSp>
          <p:nvCxnSpPr>
            <p:cNvPr id="1398" name="Straight Connector 20"/>
            <p:cNvCxnSpPr/>
            <p:nvPr/>
          </p:nvCxnSpPr>
          <p:spPr>
            <a:xfrm>
              <a:off x="1435320" y="2100960"/>
              <a:ext cx="1080" cy="2161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cxnSp>
          <p:nvCxnSpPr>
            <p:cNvPr id="1399" name="Straight Connector 24"/>
            <p:cNvCxnSpPr/>
            <p:nvPr/>
          </p:nvCxnSpPr>
          <p:spPr>
            <a:xfrm>
              <a:off x="2875680" y="2100960"/>
              <a:ext cx="1080" cy="216144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</a:ln>
          </p:spPr>
        </p:cxnSp>
        <p:sp>
          <p:nvSpPr>
            <p:cNvPr id="1400" name="TextBox 25"/>
            <p:cNvSpPr/>
            <p:nvPr/>
          </p:nvSpPr>
          <p:spPr>
            <a:xfrm>
              <a:off x="628560" y="1721160"/>
              <a:ext cx="3222360" cy="288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00" b="1" u="none" strike="noStrike">
                  <a:solidFill>
                    <a:schemeClr val="dk1"/>
                  </a:solidFill>
                  <a:effectLst/>
                  <a:uFillTx/>
                  <a:latin typeface="Arial"/>
                </a:rPr>
                <a:t>       Stack of the interrupted thread</a:t>
              </a:r>
              <a:endParaRPr lang="de-DE" sz="1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01" name="Straight Connector 26"/>
            <p:cNvCxnSpPr/>
            <p:nvPr/>
          </p:nvCxnSpPr>
          <p:spPr>
            <a:xfrm flipH="1">
              <a:off x="2867400" y="2618640"/>
              <a:ext cx="564120" cy="1080"/>
            </a:xfrm>
            <a:prstGeom prst="straightConnector1">
              <a:avLst/>
            </a:prstGeom>
            <a:ln w="12700">
              <a:solidFill>
                <a:srgbClr val="000000"/>
              </a:solidFill>
              <a:round/>
              <a:tailEnd len="med" type="triangle" w="med"/>
            </a:ln>
          </p:spPr>
        </p:cxnSp>
        <p:sp>
          <p:nvSpPr>
            <p:cNvPr id="1402" name="TextBox 31"/>
            <p:cNvSpPr/>
            <p:nvPr/>
          </p:nvSpPr>
          <p:spPr>
            <a:xfrm>
              <a:off x="3430800" y="2431080"/>
              <a:ext cx="1969920" cy="500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tIns="45000" rIns="90000" bIns="45000" anchor="t">
              <a:spAutoFit/>
            </a:bodyPr>
            <a:p>
              <a:pPr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RSP before transferring</a:t>
              </a:r>
              <a:br>
                <a:rPr sz="1350"/>
              </a:br>
              <a:r>
                <a:rPr lang="en-DE" sz="1350" b="0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control to handler</a:t>
              </a:r>
              <a:endParaRPr lang="de-DE" sz="1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03" name="Rectangle 40"/>
          <p:cNvSpPr/>
          <p:nvPr/>
        </p:nvSpPr>
        <p:spPr>
          <a:xfrm>
            <a:off x="5436000" y="2318040"/>
            <a:ext cx="1438920" cy="286920"/>
          </a:xfrm>
          <a:prstGeom prst="rect">
            <a:avLst/>
          </a:prstGeom>
          <a:solidFill>
            <a:schemeClr val="bg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PlaceHolder 17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6FCF6E07-106F-4387-A98F-E91DDF6D007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IDT: Typical Example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406" name="Bild 289"/>
          <p:cNvPicPr/>
          <p:nvPr/>
        </p:nvPicPr>
        <p:blipFill>
          <a:blip r:embed="rId1"/>
          <a:stretch/>
        </p:blipFill>
        <p:spPr>
          <a:xfrm>
            <a:off x="6156000" y="1072440"/>
            <a:ext cx="1924200" cy="380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7" name="TextBox 1"/>
          <p:cNvSpPr/>
          <p:nvPr/>
        </p:nvSpPr>
        <p:spPr>
          <a:xfrm>
            <a:off x="6028560" y="1926720"/>
            <a:ext cx="5587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0x80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8" name="TextBox 2"/>
          <p:cNvSpPr/>
          <p:nvPr/>
        </p:nvSpPr>
        <p:spPr>
          <a:xfrm>
            <a:off x="6044760" y="2910600"/>
            <a:ext cx="470520" cy="20664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r"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0x20 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7"/>
          <p:cNvSpPr/>
          <p:nvPr/>
        </p:nvSpPr>
        <p:spPr>
          <a:xfrm>
            <a:off x="522000" y="1207080"/>
            <a:ext cx="8093520" cy="37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Entries 0-31 are reserved for x86 CPU exceptions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Either DPL=0 or DPL=3, depending on use case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Entries 32-47 for external interrupts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IRQs have DPL=0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IRQ 0 != Vector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calls via trap gate (entry 0x80)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DPL=3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Replaced by SYSENTER/SYSEXIT in modern operatings systems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faster, avoids interrupt overhead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  <a:tabLst>
                <a:tab pos="0" algn="l"/>
              </a:tabLst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0" name="PlaceHolder 18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1119E6E0-60B3-4840-84D9-D76C720445CA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System Call via Trap Gate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412" name=""/>
          <p:cNvPicPr/>
          <p:nvPr/>
        </p:nvPicPr>
        <p:blipFill>
          <a:blip r:embed="rId1"/>
          <a:stretch/>
        </p:blipFill>
        <p:spPr>
          <a:xfrm>
            <a:off x="1722960" y="1008000"/>
            <a:ext cx="5439600" cy="390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3" name="PlaceHolder 19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72026BE-C3AE-4A79-A183-3263D396F370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600" cy="45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Fast System Calls (syscall/sysret)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5320" cy="370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 Model Specific 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Registers (MSRs)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Require specific GDT layout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Stack muste be switched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manually in syscall handler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 FS und GS registers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Only base address is used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Typically the GS base address</a:t>
            </a:r>
            <a:br>
              <a:rPr sz="1400"/>
            </a:b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points to the kernel stack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416" name="Picture 3"/>
          <p:cNvPicPr/>
          <p:nvPr/>
        </p:nvPicPr>
        <p:blipFill>
          <a:blip r:embed="rId1"/>
          <a:stretch/>
        </p:blipFill>
        <p:spPr>
          <a:xfrm>
            <a:off x="3276000" y="1278720"/>
            <a:ext cx="5471640" cy="336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7" name="PlaceHolder 20"/>
          <p:cNvSpPr/>
          <p:nvPr/>
        </p:nvSpPr>
        <p:spPr>
          <a:xfrm>
            <a:off x="628920" y="4975920"/>
            <a:ext cx="712692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System Calls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CE52227-44A5-41D6-9B22-7BECE0D082FF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35079</TotalTime>
  <Application>LibreOffice/26.2.4.2$Linux_X86_64 LibreOffice_project/df4f15f06f7b375c1d16aa35fba92d50b262cd01</Application>
  <AppVersion>15.0000</AppVersion>
  <Words>824</Words>
  <Paragraphs>185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cp:lastPrinted>2026-07-06T14:15:35Z</cp:lastPrinted>
  <dcterms:modified xsi:type="dcterms:W3CDTF">2026-07-06T14:16:16Z</dcterms:modified>
  <cp:revision>1531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Custom</vt:lpwstr>
  </property>
  <property fmtid="{D5CDD505-2E9C-101B-9397-08002B2CF9AE}" pid="4" name="Slides">
    <vt:i4>16</vt:i4>
  </property>
</Properties>
</file>