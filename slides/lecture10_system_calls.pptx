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media/image4.emf" ContentType="image/x-emf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PlaceHolder 4"/>
          <p:cNvSpPr>
            <a:spLocks noGrp="1"/>
          </p:cNvSpPr>
          <p:nvPr>
            <p:ph type="dt" idx="5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5"/>
          <p:cNvSpPr>
            <a:spLocks noGrp="1"/>
          </p:cNvSpPr>
          <p:nvPr>
            <p:ph type="ftr" idx="5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6"/>
          <p:cNvSpPr>
            <a:spLocks noGrp="1"/>
          </p:cNvSpPr>
          <p:nvPr>
            <p:ph type="sldNum" idx="5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E5277B8-F7C4-4125-B453-5627278AA9D2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7280" cy="3491640"/>
          </a:xfrm>
          <a:custGeom>
            <a:avLst/>
            <a:gdLst>
              <a:gd name="textAreaLeft" fmla="*/ 0 w 3167280"/>
              <a:gd name="textAreaRight" fmla="*/ 3168000 w 3167280"/>
              <a:gd name="textAreaTop" fmla="*/ 0 h 3491640"/>
              <a:gd name="textAreaBottom" fmla="*/ 3492360 h 34916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400280" cy="10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7280" cy="3491640"/>
          </a:xfrm>
          <a:custGeom>
            <a:avLst/>
            <a:gdLst>
              <a:gd name="textAreaLeft" fmla="*/ 0 w 3167280"/>
              <a:gd name="textAreaRight" fmla="*/ 3168000 w 3167280"/>
              <a:gd name="textAreaTop" fmla="*/ 0 h 3491640"/>
              <a:gd name="textAreaBottom" fmla="*/ 3492360 h 34916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526680" y="2899440"/>
            <a:ext cx="639900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639900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493596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621040" y="1088280"/>
            <a:ext cx="3522240" cy="3825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26680" y="2250360"/>
            <a:ext cx="2829600" cy="118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3546000" y="1088280"/>
            <a:ext cx="5597280" cy="3825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/>
          </p:nvPr>
        </p:nvSpPr>
        <p:spPr>
          <a:xfrm>
            <a:off x="526680" y="3818520"/>
            <a:ext cx="577296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0" y="1422360"/>
            <a:ext cx="6677640" cy="239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6741000" y="1422360"/>
            <a:ext cx="2402280" cy="239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99" name="Gruppieren 52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0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0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05" name="Freihandform: Form 3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Freihandform: Form 3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Freihandform: Form 3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Freihandform: Form 3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Freihandform: Form 3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Freihandform: Form 4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1" name="Freihandform: Form 17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Freihandform: Form 18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ihandform: Form 19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15" name="Freihandform: Form 3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3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7" name="Freihandform: Form 21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19" name="Freihandform: Form 3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3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1" name="Freihandform: Form 2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Freihandform: Form 2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Freihandform: Form 2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325" name="Freihandform: Form 2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Freihandform: Form 2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ihandform: Form 2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Freihandform: Form 3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29" name="Grafik 11"/>
          <p:cNvSpPr/>
          <p:nvPr/>
        </p:nvSpPr>
        <p:spPr>
          <a:xfrm>
            <a:off x="0" y="0"/>
            <a:ext cx="3731400" cy="4914360"/>
          </a:xfrm>
          <a:custGeom>
            <a:avLst/>
            <a:gdLst>
              <a:gd name="textAreaLeft" fmla="*/ 0 w 3731400"/>
              <a:gd name="textAreaRight" fmla="*/ 3732120 w 3731400"/>
              <a:gd name="textAreaTop" fmla="*/ 0 h 4914360"/>
              <a:gd name="textAreaBottom" fmla="*/ 4915080 h 49143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1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5CEBBC2-B444-4FA6-A5E5-00EB64CC52D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title"/>
          </p:nvPr>
        </p:nvSpPr>
        <p:spPr>
          <a:xfrm>
            <a:off x="4464000" y="330840"/>
            <a:ext cx="288864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3" name="Gerader Verbinder 45"/>
          <p:cNvCxnSpPr/>
          <p:nvPr/>
        </p:nvCxnSpPr>
        <p:spPr>
          <a:xfrm>
            <a:off x="4464000" y="974520"/>
            <a:ext cx="289008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334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24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764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3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4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4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5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5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36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6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95B52BA-1EFB-4E81-BCFB-FE9D42DB9C7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4517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3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72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F4E68E8-E605-4ADC-B3DE-2318F7C8031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224136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 type="body"/>
          </p:nvPr>
        </p:nvSpPr>
        <p:spPr>
          <a:xfrm>
            <a:off x="6921000" y="1422360"/>
            <a:ext cx="2222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3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72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14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7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8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19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20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6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9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30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3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434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6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40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4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45" name="Gruppieren 53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46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PlaceHolder 1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821CB37-AAE6-454A-9AA8-FF7B2B88A6D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70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2" name="Gerader Verbinder 46"/>
          <p:cNvCxnSpPr/>
          <p:nvPr/>
        </p:nvCxnSpPr>
        <p:spPr>
          <a:xfrm>
            <a:off x="4625640" y="974520"/>
            <a:ext cx="272844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53" name="PlaceHolder 4"/>
          <p:cNvSpPr>
            <a:spLocks noGrp="1"/>
          </p:cNvSpPr>
          <p:nvPr>
            <p:ph type="body"/>
          </p:nvPr>
        </p:nvSpPr>
        <p:spPr>
          <a:xfrm>
            <a:off x="-6120" y="0"/>
            <a:ext cx="4276440" cy="4914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08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5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58" name="Freihandform: Form 68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Freihandform: Form 69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Freihandform: Form 70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Freihandform: Form 71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ihandform: Form 72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3" name="Freihandform: Form 73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4" name="Freihandform: Form 45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Freihandform: Form 4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Freihandform: Form 4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68" name="Freihandform: Form 66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67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50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472" name="Freihandform: Form 6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3" name="Freihandform: Form 6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4" name="Freihandform: Form 52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Freihandform: Form 5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Freihandform: Form 5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78" name="Freihandform: Form 6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6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Freihandform: Form 6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Freihandform: Form 6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8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8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8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8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8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9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0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0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14" name="Gruppieren 54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1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8" name="PlaceHolder 1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4A088B6-64FC-4C2F-9778-8CAB0AD6F2F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70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1" name="Gerader Verbinder 47"/>
          <p:cNvCxnSpPr/>
          <p:nvPr/>
        </p:nvCxnSpPr>
        <p:spPr>
          <a:xfrm>
            <a:off x="4625640" y="974520"/>
            <a:ext cx="272844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522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4275360" cy="2430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5"/>
          <p:cNvSpPr>
            <a:spLocks noGrp="1"/>
          </p:cNvSpPr>
          <p:nvPr>
            <p:ph type="body"/>
          </p:nvPr>
        </p:nvSpPr>
        <p:spPr>
          <a:xfrm>
            <a:off x="0" y="2493720"/>
            <a:ext cx="4275360" cy="2420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60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6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2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28" name="Freihandform: Form 69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70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71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72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Freihandform: Form 73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Freihandform: Form 74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4" name="Freihandform: Form 45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Freihandform: Form 46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Freihandform: Form 49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538" name="Freihandform: Form 67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Freihandform: Form 68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0" name="Freihandform: Form 51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42" name="Freihandform: Form 65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Freihandform: Form 66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4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Freihandform: Form 58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Freihandform: Form 59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48" name="Freihandform: Form 61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62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63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64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5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5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5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5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5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56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7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7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8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4CA0D71-5486-485B-BAC0-5BB5D212B21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454392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5"/>
          <p:cNvSpPr>
            <a:spLocks noGrp="1"/>
          </p:cNvSpPr>
          <p:nvPr>
            <p:ph type="body"/>
          </p:nvPr>
        </p:nvSpPr>
        <p:spPr>
          <a:xfrm>
            <a:off x="4599360" y="1422360"/>
            <a:ext cx="454392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9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94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95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96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97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8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3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6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07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9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0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11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3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6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17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1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5C82336-33F0-4C50-831E-BC6143E3B37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2978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5"/>
          <p:cNvSpPr>
            <a:spLocks noGrp="1"/>
          </p:cNvSpPr>
          <p:nvPr>
            <p:ph type="body"/>
          </p:nvPr>
        </p:nvSpPr>
        <p:spPr>
          <a:xfrm>
            <a:off x="3032640" y="1422360"/>
            <a:ext cx="307836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6"/>
          <p:cNvSpPr>
            <a:spLocks noGrp="1"/>
          </p:cNvSpPr>
          <p:nvPr>
            <p:ph type="body"/>
          </p:nvPr>
        </p:nvSpPr>
        <p:spPr>
          <a:xfrm>
            <a:off x="6165000" y="1422360"/>
            <a:ext cx="2978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63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3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3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63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63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4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5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5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2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2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6E71441-B177-4490-BEF2-ADC1E869CFC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9143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66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7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7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67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67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8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8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9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9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560850C-6D91-4396-8E5E-29650105E99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0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0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0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0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0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1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2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2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3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4D2F17E-B990-4BED-8A15-18489D5BF15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3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4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4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4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4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5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5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6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68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28004C0-D5A1-487A-A41D-CBD0766D697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360" cy="331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0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1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2D8CA96-794E-4678-BAC8-4A02AAC02D6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0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1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1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1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1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2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2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3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39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40" name="Gruppieren 49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4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00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Grafik 11"/>
          <p:cNvSpPr/>
          <p:nvPr/>
        </p:nvSpPr>
        <p:spPr>
          <a:xfrm>
            <a:off x="0" y="0"/>
            <a:ext cx="3731400" cy="4914360"/>
          </a:xfrm>
          <a:custGeom>
            <a:avLst/>
            <a:gdLst>
              <a:gd name="textAreaLeft" fmla="*/ 0 w 3731400"/>
              <a:gd name="textAreaRight" fmla="*/ 3732120 w 3731400"/>
              <a:gd name="textAreaTop" fmla="*/ 0 h 4914360"/>
              <a:gd name="textAreaBottom" fmla="*/ 4915080 h 49143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4BFBDBD-CB75-4491-97A7-C8145B44A02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48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49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50" name="Freihandform: Form 6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6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Freihandform: Form 6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ihandform: Form 6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Freihandform: Form 6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Freihandform: Form 7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6" name="Freihandform: Form 43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Freihandform: Form 44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Freihandform: Form 45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9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60" name="Freihandform: Form 6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6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2" name="Freihandform: Form 47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3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64" name="Freihandform: Form 6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Freihandform: Form 6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6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Freihandform: Form 5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Freihandform: Form 5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9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70" name="Freihandform: Form 5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Freihandform: Form 5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5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6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5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06" name="Gruppieren 49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0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00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374A5EE-AB8D-4AE8-9C29-391CDB5D674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1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1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15" name="Freihandform: Form 6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6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6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6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6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7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43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44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45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25" name="Freihandform: Form 6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6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7" name="Freihandform: Form 47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29" name="Freihandform: Form 6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Freihandform: Form 6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1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Freihandform: Form 5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Freihandform: Form 5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35" name="Freihandform: Form 5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5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5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ihandform: Form 6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4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4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4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4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4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5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6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6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2"/>
          <p:cNvSpPr>
            <a:spLocks noGrp="1"/>
          </p:cNvSpPr>
          <p:nvPr>
            <p:ph type="sldNum" idx="35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4757ADF-8247-4246-9D76-BCA599377CB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ftr" idx="3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PlaceHolder 4"/>
          <p:cNvSpPr>
            <a:spLocks noGrp="1"/>
          </p:cNvSpPr>
          <p:nvPr>
            <p:ph type="body"/>
          </p:nvPr>
        </p:nvSpPr>
        <p:spPr>
          <a:xfrm>
            <a:off x="5488200" y="1422360"/>
            <a:ext cx="36550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568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7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8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8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9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9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0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0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2"/>
          <p:cNvSpPr>
            <a:spLocks noGrp="1"/>
          </p:cNvSpPr>
          <p:nvPr>
            <p:ph type="sldNum" idx="37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19973B0-A1EB-4FB8-B587-61992AC134D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12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3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15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1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1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18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1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3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4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28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0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032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4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5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38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9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42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2"/>
          <p:cNvSpPr>
            <a:spLocks noGrp="1"/>
          </p:cNvSpPr>
          <p:nvPr>
            <p:ph type="ftr" idx="3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39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2B3AED5-D58C-48A7-A748-AB30751D4B1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36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4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5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5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5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5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6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06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7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79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PlaceHolder 2"/>
          <p:cNvSpPr>
            <a:spLocks noGrp="1"/>
          </p:cNvSpPr>
          <p:nvPr>
            <p:ph type="ftr" idx="4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PlaceHolder 3"/>
          <p:cNvSpPr>
            <a:spLocks noGrp="1"/>
          </p:cNvSpPr>
          <p:nvPr>
            <p:ph type="sldNum" idx="41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59CB8EA-C9F3-48A0-AEA7-09411DD56BB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920" cy="3423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720" cy="3423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86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8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89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90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91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92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3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8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9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1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02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3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4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5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06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7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8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9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1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12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3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4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5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16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PlaceHolder 2"/>
          <p:cNvSpPr>
            <a:spLocks noGrp="1"/>
          </p:cNvSpPr>
          <p:nvPr>
            <p:ph type="ftr" idx="4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sldNum" idx="43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0833215-B643-451B-8047-7C6BA1A5EDB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9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24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20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20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12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2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13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13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4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4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5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PlaceHolder 2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99BD983-2772-42EF-B76D-C534262F371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PlaceHolder 3"/>
          <p:cNvSpPr>
            <a:spLocks noGrp="1"/>
          </p:cNvSpPr>
          <p:nvPr>
            <p:ph type="ftr" idx="4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809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1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162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5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6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16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168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4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78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9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0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82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3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4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6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88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2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PlaceHolder 2"/>
          <p:cNvSpPr>
            <a:spLocks noGrp="1"/>
          </p:cNvSpPr>
          <p:nvPr>
            <p:ph type="sldNum" idx="4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D207691-62C6-4D75-BED4-5C4717C27CB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PlaceHolder 3"/>
          <p:cNvSpPr>
            <a:spLocks noGrp="1"/>
          </p:cNvSpPr>
          <p:nvPr>
            <p:ph type="ftr" idx="4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20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PlaceHolder 5"/>
          <p:cNvSpPr>
            <a:spLocks noGrp="1"/>
          </p:cNvSpPr>
          <p:nvPr>
            <p:ph type="body"/>
          </p:nvPr>
        </p:nvSpPr>
        <p:spPr>
          <a:xfrm>
            <a:off x="522360" y="1422360"/>
            <a:ext cx="530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0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0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0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1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2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22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PlaceHolder 2"/>
          <p:cNvSpPr>
            <a:spLocks noGrp="1"/>
          </p:cNvSpPr>
          <p:nvPr>
            <p:ph type="sldNum" idx="4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707A1C0-4474-41EB-B8FE-4A47F5C9F24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PlaceHolder 3"/>
          <p:cNvSpPr>
            <a:spLocks noGrp="1"/>
          </p:cNvSpPr>
          <p:nvPr>
            <p:ph type="ftr" idx="4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20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PlaceHolder 5"/>
          <p:cNvSpPr>
            <a:spLocks noGrp="1"/>
          </p:cNvSpPr>
          <p:nvPr>
            <p:ph type="body"/>
          </p:nvPr>
        </p:nvSpPr>
        <p:spPr>
          <a:xfrm>
            <a:off x="3311640" y="1422360"/>
            <a:ext cx="530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3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4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4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5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5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26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8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2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PlaceHolder 3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A2F0DA6-A881-428F-A108-54B04221932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27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7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8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8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8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9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9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30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2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PlaceHolder 3"/>
          <p:cNvSpPr>
            <a:spLocks noGrp="1"/>
          </p:cNvSpPr>
          <p:nvPr>
            <p:ph type="sldNum" idx="53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5D793BA-B890-4A30-9A1C-3EB78CDF58D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9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/>
          </p:nvPr>
        </p:nvSpPr>
        <p:spPr>
          <a:xfrm>
            <a:off x="3654360" y="2286720"/>
            <a:ext cx="4949280" cy="10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Isolation and Protection in Operating Systems</a:t>
            </a:r>
            <a:br>
              <a:rPr sz="3600"/>
            </a:br>
            <a:br>
              <a:rPr sz="3600"/>
            </a:b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3. System Calls in x86-64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400280" cy="6040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Goal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Until now all user mode threads (Ring 3) can just call all kernel functions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</a:rPr>
              <a:t>directly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CPU triggers an General Protection Fault (GPF) if a privileged instruction is used inside one of the called kernel function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Usually, kernel code is protected from direct execution in ring 3 via paging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now want to implement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 Calls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which expose kernel functions for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</a:rPr>
              <a:t>indirect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controlled execution in ring 3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8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3E631763-2CD0-4715-84E1-5C2921C2095F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System Call Mechanisms in x86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Call Gate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Descriptor in the GDT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 via a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call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or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jmp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instruction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Stack is switched via the TSS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Trap Gate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Descriptor in the IDT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 via a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int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instruction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Stack is switched via the TSS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Fast System Calls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Configured through MSRs (Model Specific Register)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Access via a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syscall/sysret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instruction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Stack must be switched manually by the operating system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PlaceHolder 9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EF99C617-BC31-43D3-8F24-EE2F38F5D06B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Call Gate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9" name="Picture 1"/>
          <p:cNvPicPr/>
          <p:nvPr/>
        </p:nvPicPr>
        <p:blipFill>
          <a:blip r:embed="rId1"/>
          <a:stretch/>
        </p:blipFill>
        <p:spPr>
          <a:xfrm>
            <a:off x="3062160" y="1194120"/>
            <a:ext cx="5685840" cy="356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0" name="TextBox 2"/>
          <p:cNvSpPr/>
          <p:nvPr/>
        </p:nvSpPr>
        <p:spPr>
          <a:xfrm>
            <a:off x="6444360" y="3696840"/>
            <a:ext cx="5781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DPL=0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Box 3"/>
          <p:cNvSpPr/>
          <p:nvPr/>
        </p:nvSpPr>
        <p:spPr>
          <a:xfrm>
            <a:off x="6444360" y="2688840"/>
            <a:ext cx="5781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DPL=3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Offset in register and code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 descriptor are ignored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10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39682957-2B4F-4B4E-9829-4244707FF82B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Interrupt/Trap Gate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Access via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int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instruction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int 0x80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References a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Trap Gate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with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index 0x80 in the IDT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Offset = Handler address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 selector chooses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segment descriptor in GDT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6" name="Picture 5"/>
          <p:cNvPicPr/>
          <p:nvPr/>
        </p:nvPicPr>
        <p:blipFill>
          <a:blip r:embed="rId1"/>
          <a:stretch/>
        </p:blipFill>
        <p:spPr>
          <a:xfrm>
            <a:off x="3636000" y="1110960"/>
            <a:ext cx="5226840" cy="367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7" name="PlaceHolder 11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9615528A-661E-4F71-8843-ECC7032E1A0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Interrupt/Trap Gate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Gate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Enable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flag is deleted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for interrupt handlers → sequential execution (on single core CPUs)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Trap Gate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Enable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flag is </a:t>
            </a: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</a:rPr>
              <a:t>not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deleted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for system calls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PlaceHolder 12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C6321B46-5C0C-4DFB-ABFB-D9999D94CC09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Interrupts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PlaceHolder 4"/>
          <p:cNvSpPr txBox="1"/>
          <p:nvPr/>
        </p:nvSpPr>
        <p:spPr>
          <a:xfrm>
            <a:off x="522000" y="120708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External/Hardware interrupts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Triggered by a device (e.g., timer)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Come from the outside (from the CPU’s point of view)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Internal/Software interrupts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Triggered by the CPU itself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Exceptions (see next slides)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Assembly instruction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INT &lt;nr&gt;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for </a:t>
            </a: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 Calls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(Linux, Windows NT, MacOS, MSDOS)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PlaceHolder 13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C326D476-FD7F-494B-A380-132AFA36DE79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Exceptions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PlaceHolder 5"/>
          <p:cNvSpPr txBox="1"/>
          <p:nvPr/>
        </p:nvSpPr>
        <p:spPr>
          <a:xfrm>
            <a:off x="522000" y="120708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Fault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Operating system can handle and recover from faults (e.g., Page Fault)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 state and the address of the fault triggering instruction are stored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Trap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Triggered by a special instruction (e.g., INT 3 - Breakpoint)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Program can be continued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Abort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Unrecoverable error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Triggers are hard to localize exactly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Cause a reboot (e.g., Double Fault)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PlaceHolder 14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53A92019-A24E-446A-A752-6E63F30FF031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Vectors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PlaceHolder 6"/>
          <p:cNvSpPr txBox="1"/>
          <p:nvPr/>
        </p:nvSpPr>
        <p:spPr>
          <a:xfrm>
            <a:off x="522000" y="120708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Interrupts and exceptions are identified via a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Vector Number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 – 31 are reserved for exceptions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32 – 255 are freely available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Examples for exceptions: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49" name="Table 1"/>
          <p:cNvGraphicFramePr/>
          <p:nvPr/>
        </p:nvGraphicFramePr>
        <p:xfrm>
          <a:off x="899640" y="2755080"/>
          <a:ext cx="7604640" cy="1922040"/>
        </p:xfrm>
        <a:graphic>
          <a:graphicData uri="http://schemas.openxmlformats.org/drawingml/2006/table">
            <a:tbl>
              <a:tblPr/>
              <a:tblGrid>
                <a:gridCol w="768600"/>
                <a:gridCol w="3075480"/>
                <a:gridCol w="854280"/>
                <a:gridCol w="2906640"/>
              </a:tblGrid>
              <a:tr h="0"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Vector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Exception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Vector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Exception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0"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 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Division by 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Debug 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NMI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Break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Overflow 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Bounds range exceeded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Illegal instruction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Double fault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…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Segment not present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Stack overflow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General protection fault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Page fault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Machine check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 . .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50" name="PlaceHolder 15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E73E0666-A14D-49C9-BFFB-2B82D701BF70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Stackup Buildup without Ring Change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 privilege level is not changed, the CPU does not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</a:rPr>
              <a:t>switch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the stack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interrupt handler operates on the stack of the interrupted thread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happens in HeineOS (all our code runs in ring 0)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Only some exceptions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push an error code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53" name="Group 30"/>
          <p:cNvGrpSpPr/>
          <p:nvPr/>
        </p:nvGrpSpPr>
        <p:grpSpPr>
          <a:xfrm>
            <a:off x="2771640" y="2212920"/>
            <a:ext cx="6059520" cy="2522520"/>
            <a:chOff x="2771640" y="2212920"/>
            <a:chExt cx="6059520" cy="2522520"/>
          </a:xfrm>
        </p:grpSpPr>
        <p:grpSp>
          <p:nvGrpSpPr>
            <p:cNvPr id="1354" name="Group 8"/>
            <p:cNvGrpSpPr/>
            <p:nvPr/>
          </p:nvGrpSpPr>
          <p:grpSpPr>
            <a:xfrm>
              <a:off x="3517920" y="2805120"/>
              <a:ext cx="1439280" cy="575280"/>
              <a:chOff x="3517920" y="2805120"/>
              <a:chExt cx="1439280" cy="575280"/>
            </a:xfrm>
          </p:grpSpPr>
          <p:sp>
            <p:nvSpPr>
              <p:cNvPr id="1355" name="Rectangle 2"/>
              <p:cNvSpPr/>
              <p:nvPr/>
            </p:nvSpPr>
            <p:spPr>
              <a:xfrm>
                <a:off x="3517920" y="280512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6" name="Rectangle 4"/>
              <p:cNvSpPr/>
              <p:nvPr/>
            </p:nvSpPr>
            <p:spPr>
              <a:xfrm>
                <a:off x="3517920" y="309312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RFLAGS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57" name="Group 9"/>
            <p:cNvGrpSpPr/>
            <p:nvPr/>
          </p:nvGrpSpPr>
          <p:grpSpPr>
            <a:xfrm>
              <a:off x="3517920" y="3381120"/>
              <a:ext cx="1439280" cy="575280"/>
              <a:chOff x="3517920" y="3381120"/>
              <a:chExt cx="1439280" cy="575280"/>
            </a:xfrm>
          </p:grpSpPr>
          <p:sp>
            <p:nvSpPr>
              <p:cNvPr id="1358" name="Rectangle 10"/>
              <p:cNvSpPr/>
              <p:nvPr/>
            </p:nvSpPr>
            <p:spPr>
              <a:xfrm>
                <a:off x="3517920" y="338112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CS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9" name="Rectangle 11"/>
              <p:cNvSpPr/>
              <p:nvPr/>
            </p:nvSpPr>
            <p:spPr>
              <a:xfrm>
                <a:off x="3517920" y="366912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RIP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60" name="Group 14"/>
            <p:cNvGrpSpPr/>
            <p:nvPr/>
          </p:nvGrpSpPr>
          <p:grpSpPr>
            <a:xfrm>
              <a:off x="3517920" y="3943080"/>
              <a:ext cx="1439280" cy="575280"/>
              <a:chOff x="3517920" y="3943080"/>
              <a:chExt cx="1439280" cy="575280"/>
            </a:xfrm>
          </p:grpSpPr>
          <p:sp>
            <p:nvSpPr>
              <p:cNvPr id="1361" name="Rectangle 15"/>
              <p:cNvSpPr/>
              <p:nvPr/>
            </p:nvSpPr>
            <p:spPr>
              <a:xfrm>
                <a:off x="3517920" y="394308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(error code)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2" name="Rectangle 16"/>
              <p:cNvSpPr/>
              <p:nvPr/>
            </p:nvSpPr>
            <p:spPr>
              <a:xfrm>
                <a:off x="3517920" y="423108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1363" name="Straight Connector 18"/>
            <p:cNvCxnSpPr/>
            <p:nvPr/>
          </p:nvCxnSpPr>
          <p:spPr>
            <a:xfrm>
              <a:off x="3517560" y="2574720"/>
              <a:ext cx="720" cy="21610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364" name="Straight Connector 21"/>
            <p:cNvCxnSpPr/>
            <p:nvPr/>
          </p:nvCxnSpPr>
          <p:spPr>
            <a:xfrm>
              <a:off x="4957920" y="2574720"/>
              <a:ext cx="720" cy="21610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sp>
          <p:nvSpPr>
            <p:cNvPr id="1365" name="TextBox 22"/>
            <p:cNvSpPr/>
            <p:nvPr/>
          </p:nvSpPr>
          <p:spPr>
            <a:xfrm>
              <a:off x="2771640" y="2212920"/>
              <a:ext cx="2805480" cy="28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00" b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     Stack of the interrupted thread</a:t>
              </a:r>
              <a:endParaRPr lang="de-DE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66" name="Straight Connector 23"/>
            <p:cNvCxnSpPr/>
            <p:nvPr/>
          </p:nvCxnSpPr>
          <p:spPr>
            <a:xfrm flipH="1">
              <a:off x="4957920" y="3092760"/>
              <a:ext cx="563760" cy="7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367" name="TextBox 27"/>
            <p:cNvSpPr/>
            <p:nvPr/>
          </p:nvSpPr>
          <p:spPr>
            <a:xfrm>
              <a:off x="5494680" y="2949120"/>
              <a:ext cx="3336480" cy="29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RSP before transferring control to handler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68" name="Straight Connector 28"/>
            <p:cNvCxnSpPr/>
            <p:nvPr/>
          </p:nvCxnSpPr>
          <p:spPr>
            <a:xfrm flipH="1">
              <a:off x="4944960" y="4224960"/>
              <a:ext cx="563760" cy="7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369" name="TextBox 29"/>
            <p:cNvSpPr/>
            <p:nvPr/>
          </p:nvSpPr>
          <p:spPr>
            <a:xfrm>
              <a:off x="5513040" y="4080960"/>
              <a:ext cx="3193920" cy="29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RSP after transferring control to handler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0" name="PlaceHolder 16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4DB0DC32-B60B-40EE-8FAB-68BC5FDA638E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Stack Buildup with Ring Change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New stack is read from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Task State Segment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(see last chapter)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3" name="Group 1"/>
          <p:cNvGrpSpPr/>
          <p:nvPr/>
        </p:nvGrpSpPr>
        <p:grpSpPr>
          <a:xfrm>
            <a:off x="5436000" y="1710720"/>
            <a:ext cx="3822480" cy="2828880"/>
            <a:chOff x="5436000" y="1710720"/>
            <a:chExt cx="3822480" cy="2828880"/>
          </a:xfrm>
        </p:grpSpPr>
        <p:grpSp>
          <p:nvGrpSpPr>
            <p:cNvPr id="1374" name="Group 8"/>
            <p:cNvGrpSpPr/>
            <p:nvPr/>
          </p:nvGrpSpPr>
          <p:grpSpPr>
            <a:xfrm>
              <a:off x="5436000" y="2609280"/>
              <a:ext cx="1439280" cy="575280"/>
              <a:chOff x="5436000" y="2609280"/>
              <a:chExt cx="1439280" cy="575280"/>
            </a:xfrm>
          </p:grpSpPr>
          <p:sp>
            <p:nvSpPr>
              <p:cNvPr id="1375" name="Rectangle 2"/>
              <p:cNvSpPr/>
              <p:nvPr/>
            </p:nvSpPr>
            <p:spPr>
              <a:xfrm>
                <a:off x="5436000" y="260928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RSP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6" name="Rectangle 4"/>
              <p:cNvSpPr/>
              <p:nvPr/>
            </p:nvSpPr>
            <p:spPr>
              <a:xfrm>
                <a:off x="5436000" y="289728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RFLAGS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77" name="Group 9"/>
            <p:cNvGrpSpPr/>
            <p:nvPr/>
          </p:nvGrpSpPr>
          <p:grpSpPr>
            <a:xfrm>
              <a:off x="5436000" y="3185280"/>
              <a:ext cx="1439280" cy="575280"/>
              <a:chOff x="5436000" y="3185280"/>
              <a:chExt cx="1439280" cy="575280"/>
            </a:xfrm>
          </p:grpSpPr>
          <p:sp>
            <p:nvSpPr>
              <p:cNvPr id="1378" name="Rectangle 10"/>
              <p:cNvSpPr/>
              <p:nvPr/>
            </p:nvSpPr>
            <p:spPr>
              <a:xfrm>
                <a:off x="5436000" y="318528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CS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9" name="Rectangle 11"/>
              <p:cNvSpPr/>
              <p:nvPr/>
            </p:nvSpPr>
            <p:spPr>
              <a:xfrm>
                <a:off x="5436000" y="347328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RIP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80" name="Group 14"/>
            <p:cNvGrpSpPr/>
            <p:nvPr/>
          </p:nvGrpSpPr>
          <p:grpSpPr>
            <a:xfrm>
              <a:off x="5436000" y="3747240"/>
              <a:ext cx="1439280" cy="575280"/>
              <a:chOff x="5436000" y="3747240"/>
              <a:chExt cx="1439280" cy="575280"/>
            </a:xfrm>
          </p:grpSpPr>
          <p:sp>
            <p:nvSpPr>
              <p:cNvPr id="1381" name="Rectangle 15"/>
              <p:cNvSpPr/>
              <p:nvPr/>
            </p:nvSpPr>
            <p:spPr>
              <a:xfrm>
                <a:off x="5436000" y="374724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(error code)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2" name="Rectangle 16"/>
              <p:cNvSpPr/>
              <p:nvPr/>
            </p:nvSpPr>
            <p:spPr>
              <a:xfrm>
                <a:off x="5436000" y="403524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1383" name="Straight Connector 18"/>
            <p:cNvCxnSpPr/>
            <p:nvPr/>
          </p:nvCxnSpPr>
          <p:spPr>
            <a:xfrm>
              <a:off x="5436000" y="2100960"/>
              <a:ext cx="720" cy="24390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384" name="Straight Connector 21"/>
            <p:cNvCxnSpPr/>
            <p:nvPr/>
          </p:nvCxnSpPr>
          <p:spPr>
            <a:xfrm>
              <a:off x="6876000" y="2100960"/>
              <a:ext cx="720" cy="24390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sp>
          <p:nvSpPr>
            <p:cNvPr id="1385" name="TextBox 22"/>
            <p:cNvSpPr/>
            <p:nvPr/>
          </p:nvSpPr>
          <p:spPr>
            <a:xfrm>
              <a:off x="5436000" y="1710720"/>
              <a:ext cx="1439280" cy="29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Handler Stack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86" name="Straight Connector 28"/>
            <p:cNvCxnSpPr/>
            <p:nvPr/>
          </p:nvCxnSpPr>
          <p:spPr>
            <a:xfrm flipH="1">
              <a:off x="6863040" y="4029120"/>
              <a:ext cx="563760" cy="7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387" name="TextBox 29"/>
            <p:cNvSpPr/>
            <p:nvPr/>
          </p:nvSpPr>
          <p:spPr>
            <a:xfrm>
              <a:off x="7431120" y="3885120"/>
              <a:ext cx="1827360" cy="50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RSP after transferring</a:t>
              </a:r>
              <a:br>
                <a:rPr sz="1350"/>
              </a:br>
              <a:r>
                <a:rPr lang="en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control to handler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88" name="Group 3"/>
          <p:cNvGrpSpPr/>
          <p:nvPr/>
        </p:nvGrpSpPr>
        <p:grpSpPr>
          <a:xfrm>
            <a:off x="628560" y="1721160"/>
            <a:ext cx="4772160" cy="2540520"/>
            <a:chOff x="628560" y="1721160"/>
            <a:chExt cx="4772160" cy="2540520"/>
          </a:xfrm>
        </p:grpSpPr>
        <p:grpSp>
          <p:nvGrpSpPr>
            <p:cNvPr id="1389" name="Group 5"/>
            <p:cNvGrpSpPr/>
            <p:nvPr/>
          </p:nvGrpSpPr>
          <p:grpSpPr>
            <a:xfrm>
              <a:off x="1435680" y="2331360"/>
              <a:ext cx="1439280" cy="575280"/>
              <a:chOff x="1435680" y="2331360"/>
              <a:chExt cx="1439280" cy="575280"/>
            </a:xfrm>
          </p:grpSpPr>
          <p:sp>
            <p:nvSpPr>
              <p:cNvPr id="1390" name="Rectangle 36"/>
              <p:cNvSpPr/>
              <p:nvPr/>
            </p:nvSpPr>
            <p:spPr>
              <a:xfrm>
                <a:off x="1435680" y="233136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1" name="Rectangle 37"/>
              <p:cNvSpPr/>
              <p:nvPr/>
            </p:nvSpPr>
            <p:spPr>
              <a:xfrm>
                <a:off x="1435680" y="261936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92" name="Group 17"/>
            <p:cNvGrpSpPr/>
            <p:nvPr/>
          </p:nvGrpSpPr>
          <p:grpSpPr>
            <a:xfrm>
              <a:off x="1435680" y="2907360"/>
              <a:ext cx="1439280" cy="575280"/>
              <a:chOff x="1435680" y="2907360"/>
              <a:chExt cx="1439280" cy="575280"/>
            </a:xfrm>
          </p:grpSpPr>
          <p:sp>
            <p:nvSpPr>
              <p:cNvPr id="1393" name="Rectangle 34"/>
              <p:cNvSpPr/>
              <p:nvPr/>
            </p:nvSpPr>
            <p:spPr>
              <a:xfrm>
                <a:off x="1435680" y="290736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4" name="Rectangle 35"/>
              <p:cNvSpPr/>
              <p:nvPr/>
            </p:nvSpPr>
            <p:spPr>
              <a:xfrm>
                <a:off x="1435680" y="319536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95" name="Group 19"/>
            <p:cNvGrpSpPr/>
            <p:nvPr/>
          </p:nvGrpSpPr>
          <p:grpSpPr>
            <a:xfrm>
              <a:off x="1435680" y="3469320"/>
              <a:ext cx="1439280" cy="575280"/>
              <a:chOff x="1435680" y="3469320"/>
              <a:chExt cx="1439280" cy="575280"/>
            </a:xfrm>
          </p:grpSpPr>
          <p:sp>
            <p:nvSpPr>
              <p:cNvPr id="1396" name="Rectangle 32"/>
              <p:cNvSpPr/>
              <p:nvPr/>
            </p:nvSpPr>
            <p:spPr>
              <a:xfrm>
                <a:off x="1435680" y="346932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7" name="Rectangle 33"/>
              <p:cNvSpPr/>
              <p:nvPr/>
            </p:nvSpPr>
            <p:spPr>
              <a:xfrm>
                <a:off x="1435680" y="3757320"/>
                <a:ext cx="1439280" cy="2872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1398" name="Straight Connector 20"/>
            <p:cNvCxnSpPr/>
            <p:nvPr/>
          </p:nvCxnSpPr>
          <p:spPr>
            <a:xfrm>
              <a:off x="1435320" y="2100960"/>
              <a:ext cx="720" cy="21610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399" name="Straight Connector 24"/>
            <p:cNvCxnSpPr/>
            <p:nvPr/>
          </p:nvCxnSpPr>
          <p:spPr>
            <a:xfrm>
              <a:off x="2875680" y="2100960"/>
              <a:ext cx="720" cy="21610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sp>
          <p:nvSpPr>
            <p:cNvPr id="1400" name="TextBox 25"/>
            <p:cNvSpPr/>
            <p:nvPr/>
          </p:nvSpPr>
          <p:spPr>
            <a:xfrm>
              <a:off x="628560" y="1721160"/>
              <a:ext cx="3222720" cy="28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00" b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       Stack of the interrupted thread</a:t>
              </a:r>
              <a:endParaRPr lang="de-DE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01" name="Straight Connector 26"/>
            <p:cNvCxnSpPr/>
            <p:nvPr/>
          </p:nvCxnSpPr>
          <p:spPr>
            <a:xfrm flipH="1">
              <a:off x="2867400" y="2618640"/>
              <a:ext cx="563760" cy="7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402" name="TextBox 31"/>
            <p:cNvSpPr/>
            <p:nvPr/>
          </p:nvSpPr>
          <p:spPr>
            <a:xfrm>
              <a:off x="3430800" y="2431080"/>
              <a:ext cx="1969920" cy="50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RSP before transferring</a:t>
              </a:r>
              <a:br>
                <a:rPr sz="1350"/>
              </a:br>
              <a:r>
                <a:rPr lang="en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control to handler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03" name="Rectangle 40"/>
          <p:cNvSpPr/>
          <p:nvPr/>
        </p:nvSpPr>
        <p:spPr>
          <a:xfrm>
            <a:off x="5436000" y="2318040"/>
            <a:ext cx="1439280" cy="28728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PlaceHolder 17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13FE7A26-970B-4874-83AF-4993339CD8B4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IDT: Typical Example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6" name="Bild 289"/>
          <p:cNvPicPr/>
          <p:nvPr/>
        </p:nvPicPr>
        <p:blipFill>
          <a:blip r:embed="rId1"/>
          <a:stretch/>
        </p:blipFill>
        <p:spPr>
          <a:xfrm>
            <a:off x="6156000" y="1072440"/>
            <a:ext cx="1924560" cy="380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7" name="TextBox 1"/>
          <p:cNvSpPr/>
          <p:nvPr/>
        </p:nvSpPr>
        <p:spPr>
          <a:xfrm>
            <a:off x="6028560" y="1926720"/>
            <a:ext cx="5590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0x80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TextBox 2"/>
          <p:cNvSpPr/>
          <p:nvPr/>
        </p:nvSpPr>
        <p:spPr>
          <a:xfrm>
            <a:off x="6044760" y="2910600"/>
            <a:ext cx="470880" cy="2070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0x20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PlaceHolder 7"/>
          <p:cNvSpPr txBox="1"/>
          <p:nvPr/>
        </p:nvSpPr>
        <p:spPr>
          <a:xfrm>
            <a:off x="522000" y="120708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Entries 0-31 are reserved for x86 CPU exceptions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Either DPL=0 or DPL=3, depending on use case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Entries 32-47 for external interrupts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IRQs have DPL=0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IRQ 0 != Vector 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 calls via trap gate (entry 0x80)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DPL=3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Replaced by SYSENTER/SYSEXIT in modern operatings systems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faster, avoids interrupt overhead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PlaceHolder 18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88F1490A-D0C1-4C69-B725-2727C9157BE8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System Call via Trap Gate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2" name=""/>
          <p:cNvPicPr/>
          <p:nvPr/>
        </p:nvPicPr>
        <p:blipFill>
          <a:blip r:embed="rId1"/>
          <a:stretch/>
        </p:blipFill>
        <p:spPr>
          <a:xfrm>
            <a:off x="1722960" y="1008000"/>
            <a:ext cx="5439960" cy="390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3" name="PlaceHolder 19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E24A062F-A0C9-46C4-BC3B-848AF185008A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Fast System Calls (syscall/sysret)</a:t>
            </a:r>
            <a:endParaRPr lang="de-D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 Model Specific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Registers (MSRs)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Require specific GDT layout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Stack muste be switched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manually in syscall handler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 FS und GS registers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base address is used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Typically the GS base address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points to the kernel stack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6" name="Picture 3"/>
          <p:cNvPicPr/>
          <p:nvPr/>
        </p:nvPicPr>
        <p:blipFill>
          <a:blip r:embed="rId1"/>
          <a:stretch/>
        </p:blipFill>
        <p:spPr>
          <a:xfrm>
            <a:off x="3276000" y="1278720"/>
            <a:ext cx="5472000" cy="336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7" name="PlaceHolder 20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System Calls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76233249-D094-4A3C-906A-0F16A1BE64D2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35079</TotalTime>
  <Application>LibreOffice/26.2.4.2$Linux_X86_64 LibreOffice_project/df4f15f06f7b375c1d16aa35fba92d50b262cd01</Application>
  <AppVersion>15.0000</AppVersion>
  <Words>824</Words>
  <Paragraphs>185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cp:lastPrinted>2026-07-06T14:15:35Z</cp:lastPrinted>
  <dcterms:modified xsi:type="dcterms:W3CDTF">2026-07-06T14:16:16Z</dcterms:modified>
  <cp:revision>1531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Custom</vt:lpwstr>
  </property>
  <property fmtid="{D5CDD505-2E9C-101B-9397-08002B2CF9AE}" pid="4" name="Slides">
    <vt:i4>16</vt:i4>
  </property>
</Properties>
</file>