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996DA6D-4761-4D43-A4CF-A4DD1CFAD7AE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399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52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8640" cy="5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864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560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188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240" cy="118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692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2600" cy="56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728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192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3FB617E-A9BD-4EEC-B765-B68D08E8D9F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0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8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09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10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20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2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3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24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6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30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61141D8-6C40-426C-825B-EFE2A16CCF0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057FF64-45EA-4CF9-9D6D-5BEFBF3C17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000" cy="331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7849138-2CA2-42A5-BEDC-7A742C2935E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1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1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2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3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3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0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1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4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46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E03D855-75E2-424B-9554-94FF034A35A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4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5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51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7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61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3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65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7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71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6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7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0B1A2EE-24E2-412B-B9FD-106B31FD652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16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2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26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8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30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36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ADE63CC-246E-4913-A8DF-C50901FB793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47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32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78D3D1B-BA16-45AE-BEAA-AC556618BE1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1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1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1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1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2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3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3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E985787-7AFE-4CB0-91AB-B9DC9CB63FA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00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5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5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5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5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5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6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7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7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 type="ftr" idx="2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2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6345DFD-D416-4516-BF06-76160E466A9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8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9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9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0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0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1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7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18" name="Gruppieren 52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1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24" name="Freihandform: Form 3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3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3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3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4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17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18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1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34" name="Freihandform: Form 3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2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38" name="Freihandform: Form 3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2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2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2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4" name="Freihandform: Form 2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3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ftr" idx="2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sldNum" idx="2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7FCF0F6-2C34-4209-B945-E0B6AB6132E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828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52" name="Gerader Verbinder 45"/>
          <p:cNvCxnSpPr/>
          <p:nvPr/>
        </p:nvCxnSpPr>
        <p:spPr>
          <a:xfrm>
            <a:off x="4464000" y="974520"/>
            <a:ext cx="289044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53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28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5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6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6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6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7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7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8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 type="ftr" idx="2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2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09074AF-27ED-4C78-B628-DCE0C568829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9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0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0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1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1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2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C16DE81-5C5B-4D20-B45A-BFAA57F2DB5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3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3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3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3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4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5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5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2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7F2FD8D-C2AE-406D-861B-D3F32E49EEC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7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7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8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9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9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A466EF2-D1F9-4B70-AB90-3B06417F0D0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1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1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2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2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3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3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2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21E7488-4D6C-4459-BCB1-D6B58459BDD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3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4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5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5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6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6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7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5F82FEB-F1CE-4E1B-AA08-9452D6D63ED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8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9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9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0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0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1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17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4B4FFD7-DFCA-4495-8F99-AA37B6CBF76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7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5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68DB904-0714-4A7D-BB9C-DBE6336BF10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1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6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6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6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7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8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8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93" name="Gruppieren 53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9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7" name="PlaceHolder 1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E948BCB-50C2-483B-8986-3A801158C1C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00" name="Gerader Verbinder 46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01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080" cy="491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72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0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06" name="Freihandform: Form 68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69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70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Freihandform: Form 71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Freihandform: Form 72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Freihandform: Form 73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4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4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16" name="Freihandform: Form 66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Freihandform: Form 67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8" name="Freihandform: Form 50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0" name="Freihandform: Form 6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6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2" name="Freihandform: Form 52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Freihandform: Form 5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Freihandform: Form 5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26" name="Freihandform: Form 6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6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6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Freihandform: Form 6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3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3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3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3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4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5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5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1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62" name="Gruppieren 54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6" name="PlaceHolder 1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6C50AD9-A3F2-4A4F-A074-4692E8E5351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69" name="Gerader Verbinder 47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70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000" cy="2430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000" cy="2419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24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73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2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76" name="Freihandform: Form 69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Freihandform: Form 70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71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72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73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74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Freihandform: Form 46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4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86" name="Freihandform: Form 67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Freihandform: Form 68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8" name="Freihandform: Form 5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90" name="Freihandform: Form 65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66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Freihandform: Form 58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Freihandform: Form 59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96" name="Freihandform: Form 61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Freihandform: Form 62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Freihandform: Form 63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64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85A1D1C-85B6-42C4-9AF5-14A18A78281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CEC802F-C32E-4E59-88C2-19EC81581C8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960" tIns="-36000" rIns="396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240" tIns="12960" rIns="2124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-1440" rIns="1764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7640" tIns="-1440" rIns="1764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tIns="45000" rIns="5652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8009E7F-C362-414A-B4CB-D4EB2791A40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2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516528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Coroutines and Threads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920" cy="6037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br>
              <a:rPr sz="1600"/>
            </a:b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Coroutines and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Parallelism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Coroutines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5" name="Rounded Rectangle 1"/>
          <p:cNvSpPr/>
          <p:nvPr/>
        </p:nvSpPr>
        <p:spPr>
          <a:xfrm>
            <a:off x="372960" y="1146240"/>
            <a:ext cx="2397960" cy="4197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CD65D25-9968-4E66-8E52-44BEB8A2A5E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Motivation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5.1 Motivation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want to execute functions in parallel (asynchronous)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Receive network message, or read data from a hard disk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4BDF205-9116-4B16-BCDE-DC8283916CF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Coroutines and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Parallelism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Coroutines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2" name="Rounded Rectangle 2"/>
          <p:cNvSpPr/>
          <p:nvPr/>
        </p:nvSpPr>
        <p:spPr>
          <a:xfrm>
            <a:off x="372960" y="1722240"/>
            <a:ext cx="2397960" cy="4197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D6A21C6-FA1F-44B8-9791-B4A6F3CE140E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Parallelism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Given: Functions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Goal: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f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and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should run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interlaced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35" name="Bild 1"/>
          <p:cNvPicPr/>
          <p:nvPr/>
        </p:nvPicPr>
        <p:blipFill>
          <a:blip r:embed="rId1"/>
          <a:stretch/>
        </p:blipFill>
        <p:spPr>
          <a:xfrm>
            <a:off x="1547640" y="1958400"/>
            <a:ext cx="5934240" cy="28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6" name="Fußzeilenplatzhalter 1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0077792-88BA-4932-804E-7E5313308AE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Parallelism: Experiment 1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8" name="Bild 2"/>
          <p:cNvPicPr/>
          <p:nvPr/>
        </p:nvPicPr>
        <p:blipFill>
          <a:blip r:embed="rId1"/>
          <a:srcRect l="0" t="4012" r="0" b="0"/>
          <a:stretch/>
        </p:blipFill>
        <p:spPr>
          <a:xfrm>
            <a:off x="1115640" y="1062720"/>
            <a:ext cx="6489720" cy="38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9" name="Fußzeilenplatzhalter 2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Obviously does not work...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8165BD9-38AA-426F-B557-98EDAF8DD5D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Parallelism: Experiment 2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3" name="Bild 3"/>
          <p:cNvPicPr/>
          <p:nvPr/>
        </p:nvPicPr>
        <p:blipFill>
          <a:blip r:embed="rId1"/>
          <a:stretch/>
        </p:blipFill>
        <p:spPr>
          <a:xfrm>
            <a:off x="1200240" y="1050120"/>
            <a:ext cx="6169320" cy="38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4" name="Fußzeilenplatzhalter 3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not work either...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896890C-9ADE-4B9B-B774-BB26D6C2601F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Parallelism: Experiment 3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8" name="Bild 4"/>
          <p:cNvPicPr/>
          <p:nvPr/>
        </p:nvPicPr>
        <p:blipFill>
          <a:blip r:embed="rId1"/>
          <a:srcRect l="0" t="1592" r="0" b="0"/>
          <a:stretch/>
        </p:blipFill>
        <p:spPr>
          <a:xfrm>
            <a:off x="1426320" y="1062720"/>
            <a:ext cx="6290280" cy="38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9" name="Fußzeilenplatzhalter 4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"/>
          <p:cNvSpPr/>
          <p:nvPr/>
        </p:nvSpPr>
        <p:spPr>
          <a:xfrm>
            <a:off x="1440000" y="4140000"/>
            <a:ext cx="25192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Does not work at all!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E352743-D6A2-44CE-A9AE-6C7F35D7D52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Virtual Parallelism: Experiment 4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53" name="Bild 5"/>
          <p:cNvPicPr/>
          <p:nvPr/>
        </p:nvPicPr>
        <p:blipFill>
          <a:blip r:embed="rId1"/>
          <a:stretch/>
        </p:blipFill>
        <p:spPr>
          <a:xfrm>
            <a:off x="1187640" y="1046160"/>
            <a:ext cx="6569640" cy="38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4" name="Fußzeilenplatzhalter 5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"/>
          <p:cNvSpPr/>
          <p:nvPr/>
        </p:nvSpPr>
        <p:spPr>
          <a:xfrm>
            <a:off x="3636000" y="2470320"/>
            <a:ext cx="1439280" cy="76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"/>
          <p:cNvSpPr/>
          <p:nvPr/>
        </p:nvSpPr>
        <p:spPr>
          <a:xfrm>
            <a:off x="3636000" y="2470320"/>
            <a:ext cx="14392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works!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"/>
          <p:cNvSpPr/>
          <p:nvPr/>
        </p:nvSpPr>
        <p:spPr>
          <a:xfrm>
            <a:off x="3600000" y="1440000"/>
            <a:ext cx="143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8910956-6F3C-4934-9F33-6D1C4D17E6E1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First Conclusion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29764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Virtual parallelism cannot be achieved using function calls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Simple function calls (experiment 1 and 2) → Always execute the function fully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Recursive function calls (experiment 3) → Same, leading to endless recursion and stack overflow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Functions must be able to be exited and continued during execution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Somewhat like in experiment 4...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Instruction pointer stored in global variables and resumed using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goto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...but without the involved problems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Direct jumps out of and into functions are undefind behaviour in C! (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goto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with pointers is a GCC feature)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Function state does not only consist of the instruction pointer – What about CPU registers and stack?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0" name="Fußzeilenplatzhalter 6"/>
          <p:cNvSpPr/>
          <p:nvPr/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5.2 Virtual Parallelism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058BBF-85DA-4F68-AAA7-5CD818D99E7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2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Coroutines and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Parallelism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Coroutines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4" name="Rounded Rectangle 2"/>
          <p:cNvSpPr/>
          <p:nvPr/>
        </p:nvSpPr>
        <p:spPr>
          <a:xfrm>
            <a:off x="372960" y="2359080"/>
            <a:ext cx="2397960" cy="4197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2C91B7C-137A-46D0-994A-49FBED5B4798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Definitions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5.3 Coroutines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Coroutine: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Function that can be interrupted and continued at a later point in time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coroutine has its own register set and stack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Similar to a thread, but not known to scheduler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concept of coroutines comes from programming languages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E.g., Kotlin, Rust, Python, Simula-67, …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2FC2E27-89F3-4B01-B4BD-1C5DA04CC45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Sequential execution of Coroutines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5.3 Coroutines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Coroutines are executed in sequence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State of each coroutine is conserved across entry/exit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coroutines have equal rights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Order of execution is determined by the coroutines themselves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Either static (HeineOS)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 dynamic (active coroutine decides which one is next)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Order of execution is programmed, contrary to a dynamic schedule (determined by a scheduler)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F1320CE-EE8D-44E0-86DC-B8C73475939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Coroutines in HeineOS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5.3 Coroutines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implement a static schedule → Coroutines are linked in a cycle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coroutines simply calls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switch()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switch to next coroutine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implement coroutines as a preliminary stage for cooperative/preemptive 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74" name=""/>
          <p:cNvPicPr/>
          <p:nvPr/>
        </p:nvPicPr>
        <p:blipFill>
          <a:blip r:embed="rId1"/>
          <a:stretch/>
        </p:blipFill>
        <p:spPr>
          <a:xfrm>
            <a:off x="1326240" y="1836000"/>
            <a:ext cx="6053760" cy="205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EB0C083-8D39-4823-BDE8-95FE31A71E2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Coroutines and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Parallelism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Coroutines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8" name="Rounded Rectangle 2"/>
          <p:cNvSpPr/>
          <p:nvPr/>
        </p:nvSpPr>
        <p:spPr>
          <a:xfrm>
            <a:off x="372960" y="2935080"/>
            <a:ext cx="2397960" cy="4197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C284810-C68F-4C54-97A4-91C68106D25A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Threads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15400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thread is a coroutine, which is known to the scheduler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manages threads and decides, when each thread may run (see next chapter)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thread belongs to a process (address space)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HeineOS only has one process (Kernel) → Only one address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Concept origins: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Multithreading is historically (rather) an operating system feature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Coroutines are historically (rather) a programming language feature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1" name="PlaceHolder 4"/>
          <p:cNvSpPr/>
          <p:nvPr/>
        </p:nvSpPr>
        <p:spPr>
          <a:xfrm>
            <a:off x="628920" y="4975920"/>
            <a:ext cx="71287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5.4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8B97AA6-8ADB-4F4C-A85B-DDDC33855559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Lightweight Threads / Fibers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5.4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 programming languages support corotines through the compiler, combined with runtime function to enable asynchronous programming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Primary use: Blocking I/O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 call blocks, the CPU is implicitly handed off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executor is responsible for switching to the next coroutine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Coroutines are not statically linked in this case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Rust: async &amp; await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Java: Project Loom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A02CB41-64F0-4AA2-8942-114B1F489C19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Corutines and Threads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Motivation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Virtual Parallelism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Coroutines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8" name="Rounded Rectangle 2"/>
          <p:cNvSpPr/>
          <p:nvPr/>
        </p:nvSpPr>
        <p:spPr>
          <a:xfrm>
            <a:off x="372960" y="3522240"/>
            <a:ext cx="2397960" cy="41976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2FF9455-4196-4919-AFC5-2EEBE9335C2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5.5 Summary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Coroutines are functions, that can be interrupted in their execution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Similar to a thread, but not known to the operating system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Threads are coroutines, that are managed by the operating system’s scheduler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implement coroutines as a preliminary stage to our cooperative/preemptive threads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B00EA9E-55E1-457D-8582-91BF2521783D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87676</TotalTime>
  <Application>LibreOffice/26.2.3.2$Linux_X86_64 LibreOffice_project/7d74455cffae7a589951233f185ae0303c082020</Application>
  <AppVersion>15.0000</AppVersion>
  <Words>653</Words>
  <Paragraphs>168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2026-05-19T14:36:37Z</dcterms:modified>
  <cp:revision>1710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Custom</vt:lpwstr>
  </property>
  <property fmtid="{D5CDD505-2E9C-101B-9397-08002B2CF9AE}" pid="4" name="Slides">
    <vt:i4>19</vt:i4>
  </property>
</Properties>
</file>