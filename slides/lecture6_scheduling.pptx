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7.wmf" ContentType="image/x-wmf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98AB80-A409-4DAB-8861-1A64784E6454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5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6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6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6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7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7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8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9" name="Gruppieren 2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9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3" name="Freihandform: Form 25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dt" idx="22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360" cy="54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9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9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96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0" name="PlaceHolder 1"/>
          <p:cNvSpPr>
            <a:spLocks noGrp="1"/>
          </p:cNvSpPr>
          <p:nvPr>
            <p:ph type="dt" idx="43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36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00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00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PlaceHolder 1"/>
          <p:cNvSpPr>
            <a:spLocks noGrp="1"/>
          </p:cNvSpPr>
          <p:nvPr>
            <p:ph type="dt" idx="46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1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11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1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2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2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2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3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3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4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2" name="PlaceHolder 1"/>
          <p:cNvSpPr>
            <a:spLocks noGrp="1"/>
          </p:cNvSpPr>
          <p:nvPr>
            <p:ph type="dt" idx="47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54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55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9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2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9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PlaceHolder 1"/>
          <p:cNvSpPr>
            <a:spLocks noGrp="1"/>
          </p:cNvSpPr>
          <p:nvPr>
            <p:ph type="dt" idx="48"/>
          </p:nvPr>
        </p:nvSpPr>
        <p:spPr>
          <a:xfrm>
            <a:off x="656496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3320" cy="5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9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99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4807619-9C73-475D-84A5-6D40C405345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03E86D7-6FC0-432C-8DE1-4CE00A0F6C5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5E094AF-AAC3-4E08-8C05-1615F530E68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283EE1B-85B9-4858-89F9-7F0A43F93D2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0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D1AC14F-38A0-4107-A837-78A398EFA29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3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4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4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4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5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5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6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56AB2DEC-3145-40F7-8618-436EE699F8A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3FC8751-5FF9-4D7D-AD53-1B21C582D99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0323662-6E4B-4251-8C6B-B040954BDF0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5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5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5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6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7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7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88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98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02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08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88E0C6A-E9FE-48D0-BB34-AD9F2605C3E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16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2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2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2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2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3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4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4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F875915-52F8-4339-A323-01658FE904F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0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50DD61EC-744D-4995-9E13-B3E839384F0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PlaceHolder 1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7779271-2EB5-4D1C-AADB-61C3255965E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580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8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9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9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0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1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1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1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1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2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3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3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4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6502181-5F2B-4FB1-BABB-D245EA7BDD7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64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9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65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5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55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65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7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69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75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246A4B99-03DD-41D4-80E1-89DA5BA926A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2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2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3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3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D510340F-5311-4100-80C5-37D5355E077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5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6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6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7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7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8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AC4915F-1984-462C-93A1-4CCC4209BC1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9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9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9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0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1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1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2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72DBE42-F683-4A0F-80AF-65467F740A8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3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3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3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3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4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5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5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C1026CD-7DEA-4425-A04F-B45B92C6342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B32C10D-658F-4157-B048-B1FDCBCAD06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0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0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1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1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2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9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0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3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35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A2CF0F7-8A01-4723-9B5E-06F87C9C8DA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3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40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50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54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6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60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0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1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1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1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2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3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39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CAA4443-2E15-490E-A198-44C7462BAAB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4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48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58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0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2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4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68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0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1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1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1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2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2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3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8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8F8B980-0EFF-4166-A0B3-938C8BB8CF4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D88502E3-449D-400F-A4BD-7853CA0A96C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FA66D93-7AFA-41DA-B179-6B9B80E8506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9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516600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35244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6. Scheduling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640" cy="604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br>
              <a:rPr sz="1600"/>
            </a:b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 &amp; Definitions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 Switching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Scheduler in HeineOS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4" name="Rounded Rectangle 1"/>
          <p:cNvSpPr/>
          <p:nvPr/>
        </p:nvSpPr>
        <p:spPr>
          <a:xfrm>
            <a:off x="372960" y="1146240"/>
            <a:ext cx="2687040" cy="4204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25" name="Fußzeilenplatzhalter 1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3F4A4CBF-AD7A-4D34-B889-1C41C9C4A7D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Motivation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6.1 Motivation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Goal: Run application as independent threads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want a dynamic (not static!) schedule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can either yield the CPU voluntarily, or the scheduler withdraws it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the operating system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Decides which thread runs next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 thread blocks, the scheduler automatically switches to the next one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109A7EF9-3145-47C6-97AF-00F72D72C57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Definitions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6.1 Motivation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Cooperative Multithreading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must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yield the CPU voluntarily, as the operating system cannot withdraw it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Preemptive Multithreading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: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Threads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yield the CPU voluntarily, but the operating system is also able to withdraw forcefully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604275B4-683D-49F9-A351-8623CB55E87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Definitions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6.1 Motivation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Adress Space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Accessible memory at a given point in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Address space, thread(s) and metadata (program that is currently being executed and its data)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Independent activity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Always tied to a process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shares data, code and resources with threads of the same process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Separate register set and stack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(Sometimes called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lightweight process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B07E2512-3A0A-42F6-A60F-F488351DB46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 &amp; Definitions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 Switching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Scheduler in HeineOS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7" name="Rounded Rectangle 2"/>
          <p:cNvSpPr/>
          <p:nvPr/>
        </p:nvSpPr>
        <p:spPr>
          <a:xfrm>
            <a:off x="372960" y="1722240"/>
            <a:ext cx="2398680" cy="4204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8" name="Fußzeilenplatzhalter 2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4BF758F4-0C17-4465-B904-E9789159848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Cooperative Thread Switching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0" name=""/>
          <p:cNvPicPr/>
          <p:nvPr/>
        </p:nvPicPr>
        <p:blipFill>
          <a:blip r:embed="rId1"/>
          <a:stretch/>
        </p:blipFill>
        <p:spPr>
          <a:xfrm>
            <a:off x="756000" y="1080000"/>
            <a:ext cx="7740000" cy="38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" name="Fußzeilenplatzhalter 4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6.2 Thread Switching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E3B44161-155B-458F-B7C6-F23C22B6388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Preemptive Thread Switching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How can the operating system withdraw the CPU from a thread?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Use the timer interrupt (PIT)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Timer trigger periodic interrupts (e.g., every 1 ms)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Timer interval is programmable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timer interrupt is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tick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Switch threads after a certain amount of ticks (e.g. 10)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4" name="Fußzeilenplatzhalter 5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6.2 Thread Switching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5068DE4D-FE82-4758-ACDB-1ED8278667F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Preemptive Thread Switching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6" name=""/>
          <p:cNvPicPr/>
          <p:nvPr/>
        </p:nvPicPr>
        <p:blipFill>
          <a:blip r:embed="rId1"/>
          <a:stretch/>
        </p:blipFill>
        <p:spPr>
          <a:xfrm>
            <a:off x="540000" y="1080000"/>
            <a:ext cx="8280000" cy="38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7" name="Fußzeilenplatzhalter 6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6.2 Thread Switching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5F7BDEF-D7C5-4125-AD66-15D3DF276D7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 &amp; Definitions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 Switching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Scheduler in HeineOS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0" name="Rounded Rectangle 2"/>
          <p:cNvSpPr/>
          <p:nvPr/>
        </p:nvSpPr>
        <p:spPr>
          <a:xfrm>
            <a:off x="372960" y="2359080"/>
            <a:ext cx="2398680" cy="4204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51" name="Fußzeilenplatzhalter 3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C453A14B-B8EF-4754-A39C-80B9480BECF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Scheduler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Usually, many threads wait for the CPU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Deciding which thread is next must be quick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manages all waiting threads in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Ready Queue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practice, multiple queues (for different priorities) or trees are used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Blocked threads are not stored in the ready, as always skipping them causes overhead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4" name="Fußzeilenplatzhalter 7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104EB2E3-CE60-470C-95C0-43CCBA9FD48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Scheduling Goals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Fairness: Each thread should get (on average) the same amount of CPU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Waiting time: Minimal time spent in ready queue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Throughput: Maximum number of threads per time unit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…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7" name="Fußzeilenplatzhalter 8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2CE2F086-29FF-4907-8FD7-4DFF517B3227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First Come First Served (FCFS)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2"/>
          <p:cNvSpPr>
            <a:spLocks noGrp="1"/>
          </p:cNvSpPr>
          <p:nvPr>
            <p:ph/>
          </p:nvPr>
        </p:nvSpPr>
        <p:spPr>
          <a:xfrm>
            <a:off x="521640" y="1008000"/>
            <a:ext cx="8096040" cy="3967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are processed in the same order they arrive in the ready queue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ownership until end or voluntary yield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Good case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Worst case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Disadvantage: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Convoy effect = Short threads bank up behind a long thread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0" name="Fußzeilenplatzhalter 9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1" name=""/>
          <p:cNvPicPr/>
          <p:nvPr/>
        </p:nvPicPr>
        <p:blipFill>
          <a:blip r:embed="rId1"/>
          <a:stretch/>
        </p:blipFill>
        <p:spPr>
          <a:xfrm>
            <a:off x="2844000" y="1656000"/>
            <a:ext cx="3185640" cy="140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2" name=""/>
          <p:cNvPicPr/>
          <p:nvPr/>
        </p:nvPicPr>
        <p:blipFill>
          <a:blip r:embed="rId2"/>
          <a:stretch/>
        </p:blipFill>
        <p:spPr>
          <a:xfrm>
            <a:off x="2844000" y="3213360"/>
            <a:ext cx="3204000" cy="141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86EF174F-8B7E-4074-99BF-AD7E9545AA2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Round Robin (RR)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Goal: Equal division of CPU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Common strategy: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are processed in order of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their arrival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thread is preempted after a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fixed time slice (e.g., 10-100 ms) and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enqueued at the end of the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ready queue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Right choice of time slice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Reasonable proportion between time slice and time needed for context switch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Large time slices reduce context switches, but increas latency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5" name="Fußzeilenplatzhalter 10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6" name=""/>
          <p:cNvPicPr/>
          <p:nvPr/>
        </p:nvPicPr>
        <p:blipFill>
          <a:blip r:embed="rId1"/>
          <a:stretch/>
        </p:blipFill>
        <p:spPr>
          <a:xfrm>
            <a:off x="4046760" y="1440000"/>
            <a:ext cx="5025240" cy="213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8E37A852-6DEF-4FEE-BF40-3174D38A4290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Scheduling with Priorities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It is desirable to distinguish threads by their importance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Assign a priority number to each thread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prefers threads with higher priorites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Implementation: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ready queue per priority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Allows fast retrieval of right thread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TCB = Thread Control Block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Information about the thread: ID, Stack, etc.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69" name="Picture 3"/>
          <p:cNvPicPr/>
          <p:nvPr/>
        </p:nvPicPr>
        <p:blipFill>
          <a:blip r:embed="rId1"/>
          <a:srcRect l="31092" t="40250" r="0" b="0"/>
          <a:stretch/>
        </p:blipFill>
        <p:spPr>
          <a:xfrm>
            <a:off x="3907080" y="2450880"/>
            <a:ext cx="4626360" cy="219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0" name="Fußzeilenplatzhalter 11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7020000" y="2450880"/>
            <a:ext cx="1597680" cy="429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7020000" y="2520000"/>
            <a:ext cx="1620000" cy="38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Priorities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"/>
          <p:cNvSpPr/>
          <p:nvPr/>
        </p:nvSpPr>
        <p:spPr>
          <a:xfrm>
            <a:off x="7020000" y="4140000"/>
            <a:ext cx="1597680" cy="429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7020000" y="4209120"/>
            <a:ext cx="1620000" cy="38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 Priorities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7E10BD19-F9AD-4EBD-AA77-EAABFB963F6E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Feedback Scheduling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Feedback → Dynamic adaption of scheduling criteria, depending on thread behaviour (e.g., CPU usage, sleep time)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Adaptation is possible via priority, ready queue insertion (beginning or end) and time slice length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Two fundamental strategies: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Bump up priority of waiting threads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Downgrade priority of CPU intensive threads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7" name="TextBox 1"/>
          <p:cNvSpPr/>
          <p:nvPr/>
        </p:nvSpPr>
        <p:spPr>
          <a:xfrm>
            <a:off x="4371120" y="-381960"/>
            <a:ext cx="1843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8" name="Fußzeilenplatzhalter 13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2ED8BF4-1242-40FA-ABFD-F47D37297BF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Idle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all threads are waiting, the CPU is free and an idle thread runs: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May not stop, has lowest priority and is interruptible at any time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Busy looping can be avoided using special instructions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Example: „HLT“ (x86): stops CPU; (Timer-) interrupt wakes cpu up again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Idle times can also be used for: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Defragment filesystems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Garbage collection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Software updates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…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1"/>
          <p:cNvSpPr/>
          <p:nvPr/>
        </p:nvSpPr>
        <p:spPr>
          <a:xfrm>
            <a:off x="4371120" y="-381960"/>
            <a:ext cx="1843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2" name="Fußzeilenplatzhalter 14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630AE411-E2CB-41BD-A563-C3FEA506CC18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Multicore Aspects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Arbitrary assignment of threads to CPU cores is bad: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thread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has lastly used core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there is a chance that parts of its address space are still inside the cache/TLB of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(If another thread of the same address space was the last active one on this core)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wants to achive an even load across all CPU cores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Core affinity allows defining preferences for specific cores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weaken priorities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1"/>
          <p:cNvSpPr/>
          <p:nvPr/>
        </p:nvSpPr>
        <p:spPr>
          <a:xfrm>
            <a:off x="4371120" y="-381960"/>
            <a:ext cx="1843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6" name="Fußzeilenplatzhalter 15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6.3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30E00AC4-25FC-4CFF-BA0D-7F265E1F26A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 &amp; Definitions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 Switching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Scheduler in HeineOS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9" name="Rounded Rectangle 2"/>
          <p:cNvSpPr/>
          <p:nvPr/>
        </p:nvSpPr>
        <p:spPr>
          <a:xfrm>
            <a:off x="395640" y="2935080"/>
            <a:ext cx="2520000" cy="4204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0" name="Fußzeilenplatzhalter 16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D90AD2DB-6005-4557-9DBF-5B93C444525C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Cooperative Scheduling in HeineOS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Cooperative FCFS scheduler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Single ready queue without priorities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thread is not in ready queue, managed in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SchedulerState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struct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Next thread to run is always the one at the ready queue’s head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that have just run or freshly arrive are always enqued at the ready queue’s tail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Box 1"/>
          <p:cNvSpPr/>
          <p:nvPr/>
        </p:nvSpPr>
        <p:spPr>
          <a:xfrm>
            <a:off x="4371120" y="-381960"/>
            <a:ext cx="1843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4" name="Fußzeilenplatzhalter 17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6.4 Scheduler in HeineOS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BE6EBD8E-80B6-4495-A982-768A21B2A452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 &amp; Definitions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 Switching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Scheduler in HeineOS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7" name="Rounded Rectangle 2"/>
          <p:cNvSpPr/>
          <p:nvPr/>
        </p:nvSpPr>
        <p:spPr>
          <a:xfrm>
            <a:off x="372960" y="3522240"/>
            <a:ext cx="2398680" cy="4204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8" name="Fußzeilenplatzhalter 18"/>
          <p:cNvSpPr txBox="1"/>
          <p:nvPr/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6. Scheduling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BD0480FB-36C2-4C47-87C4-496700CA8EA6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Summary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allow concurrency in applications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one thread is blocked, another can run on the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decides which thread runs next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preemptive multithreading, threads are forcefully switched using the timer interrupt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822DAE4A-1890-4CD9-A625-46745383E381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88936</TotalTime>
  <Application>LibreOffice/26.2.3.2$Linux_X86_64 LibreOffice_project/7d74455cffae7a589951233f185ae0303c082020</Application>
  <AppVersion>15.0000</AppVersion>
  <Words>1140</Words>
  <Paragraphs>242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2026-05-20T15:11:25Z</dcterms:modified>
  <cp:revision>1835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Custom</vt:lpwstr>
  </property>
  <property fmtid="{D5CDD505-2E9C-101B-9397-08002B2CF9AE}" pid="4" name="Slides">
    <vt:i4>23</vt:i4>
  </property>
</Properties>
</file>