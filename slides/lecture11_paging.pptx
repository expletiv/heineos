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media/image5.emf" ContentType="image/x-emf"/>
  <Override PartName="/ppt/media/image7.emf" ContentType="image/x-emf"/>
  <Override PartName="/ppt/media/image8.emf" ContentType="image/x-emf"/>
  <Override PartName="/ppt/media/image9.emf" ContentType="image/x-emf"/>
  <Override PartName="/ppt/media/image10.emf" ContentType="image/x-emf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33164B-3E12-4B0E-975B-1974B1F7FE81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400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9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900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596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224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600" cy="118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728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296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764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228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99" name="Gruppieren 52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0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0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05" name="Freihandform: Form 3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Freihandform: Form 3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Freihandform: Form 3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Freihandform: Form 3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Freihandform: Form 3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Freihandform: Form 4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1" name="Freihandform: Form 17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ihandform: Form 18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ihandform: Form 1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15" name="Freihandform: Form 3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3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7" name="Freihandform: Form 2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19" name="Freihandform: Form 3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3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1" name="Freihandform: Form 2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Freihandform: Form 2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Freihandform: Form 2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25" name="Freihandform: Form 2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ihandform: Form 2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ihandform: Form 2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ihandform: Form 3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29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1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78E8E51-0FE4-4DFC-9C91-4625F29D158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864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333" name="Gerader Verbinder 45"/>
          <p:cNvCxnSpPr/>
          <p:nvPr/>
        </p:nvCxnSpPr>
        <p:spPr>
          <a:xfrm>
            <a:off x="4464000" y="974520"/>
            <a:ext cx="289008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64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3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4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4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5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5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6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4B8D7BA-ACCE-4C45-8426-3EE2412B259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7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58C8E1A-2506-420C-9CAD-2A6459DC72C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2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1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7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1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20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6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30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34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6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40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4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5" name="Gruppieren 53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4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4DF9D7A-D4C2-4621-A8FF-C91208EE6C1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Gerader Verbinder 46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53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440" cy="491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08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5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5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58" name="Freihandform: Form 68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69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ihandform: Form 70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ihandform: Form 71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72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Freihandform: Form 73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ihandform: Form 4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Freihandform: Form 4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68" name="Freihandform: Form 66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67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50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72" name="Freihandform: Form 6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ihandform: Form 6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4" name="Freihandform: Form 52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Freihandform: Form 5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ihandform: Form 5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78" name="Freihandform: Form 6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6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Freihandform: Form 6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Freihandform: Form 6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8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8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8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8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9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0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0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4" name="Gruppieren 54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1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8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95E0881-81F2-4C62-80B5-43F9FADDDA6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21" name="Gerader Verbinder 47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52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360" cy="2430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360" cy="2420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60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6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2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2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28" name="Freihandform: Form 69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70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71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72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73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74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Freihandform: Form 46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Freihandform: Form 4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38" name="Freihandform: Form 67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68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0" name="Freihandform: Form 5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42" name="Freihandform: Form 65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ihandform: Form 66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4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Freihandform: Form 58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Freihandform: Form 59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48" name="Freihandform: Form 61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62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63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64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5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5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5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5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5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6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7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7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524A346-1C4E-4719-AF75-6B18C6DE96C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9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9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9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9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9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0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1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1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D1BE841-64A3-4DDD-AF16-87CC42251FF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3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3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3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3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3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5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5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ACF9C96-5237-4FE1-8C65-C166E47EC42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3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7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7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7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8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9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9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EF02DA6-01EE-4F03-9F6D-4A11366B0E4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0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0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0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0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0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3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ABD6D7D-EC04-4953-998D-D111A23BA5A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3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4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4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4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4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5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5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6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6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0FABDE5-511C-4669-B63D-869BC7DA9E8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360" cy="331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1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0047B1D-0935-4964-AF86-4A292ADDE68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1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1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2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2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3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3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40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4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45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B7FC98E-20DC-4C97-A3CB-960F2CBA957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4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4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50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6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60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2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64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6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70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06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0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4CA910E-BEBC-40EB-AB72-ABC1086730E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15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25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7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29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1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35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4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4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4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4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4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5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6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6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2"/>
          <p:cNvSpPr>
            <a:spLocks noGrp="1"/>
          </p:cNvSpPr>
          <p:nvPr>
            <p:ph type="sldNum" idx="3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56FB8CF-F12F-4024-9725-F05B33AB5A5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50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68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7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8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9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9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0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0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4FA964E-538A-4C63-891B-715F5DA7265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1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1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1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1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2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3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3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4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A1E1DC8-E98B-40D6-A910-64DDF836D67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36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5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5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5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5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5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6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7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7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82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F964037-2AC7-4CDD-9EEB-C8A0FAFBDB0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8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9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9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9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9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0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0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1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19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E599AAF-25CA-4837-84F4-96690C18E9F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24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5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2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9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30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31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32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8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1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42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4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5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46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8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1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52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6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58" name="PlaceHolder 2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DA11F48-D4CD-4A0D-BEB3-6E881B3CAB0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09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61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6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6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6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6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7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8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6DBB7EC-947C-42EB-9F89-734CC694C94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PlaceHolder 3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8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CCBB1C3-FB31-4EC0-822D-C02B7A48CD4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B38962D-8E59-4345-A669-973DBD2D426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7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59AB7E7-66A5-4E97-A8F2-89A852E4156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emf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86720"/>
            <a:ext cx="4949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Isolation and Protection in Operating Systems</a:t>
            </a:r>
            <a:br>
              <a:rPr sz="3600"/>
            </a:br>
            <a:br>
              <a:rPr sz="3600"/>
            </a:b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 Paging in x86-64</a:t>
            </a:r>
            <a:endParaRPr lang="de-DE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400280" cy="6040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Current State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Inhaltsplatzhalter 7"/>
          <p:cNvSpPr/>
          <p:nvPr/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use segmentation to differentiate between kernel and user code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 mode threads cannot execute privileged CPU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also blocked accesses to I/O-ports for user mode threads via the TSS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now implement paging to restrict memory accesses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enables us to isolate user mode processes...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...and protect the kernel’s memory area from being accessed by user mode code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8648490-E294-4103-B750-0B42E713801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Paging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address space is divided into equal sized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address space is divided into equal sized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frames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Usually 4 KiB pages and thus 4 KiB page frames are used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page frame stores exactly one page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Special case: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Huge Pages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e.g. 2 MiB or 1 GiB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protection can be specified with a 4 KiB granularity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 only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Execute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 mode access allowed/forbidden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4B7559C-2289-4EAC-8348-B8556B74EC2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Virtual vs. Physical Addresses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Virtual/Logical addressesare differentiated from physical addresses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addresses use up to 57 bit, depending on the CPU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Addressable physical memory depends on the installed DRAM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block of virtual memory can be mapped to arbitrary page frames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32" name="Group 47"/>
          <p:cNvGrpSpPr/>
          <p:nvPr/>
        </p:nvGrpSpPr>
        <p:grpSpPr>
          <a:xfrm>
            <a:off x="2061000" y="4227120"/>
            <a:ext cx="1094040" cy="224640"/>
            <a:chOff x="2061000" y="4227120"/>
            <a:chExt cx="1094040" cy="224640"/>
          </a:xfrm>
        </p:grpSpPr>
        <p:sp>
          <p:nvSpPr>
            <p:cNvPr id="1333" name="Rectangle 48"/>
            <p:cNvSpPr/>
            <p:nvPr/>
          </p:nvSpPr>
          <p:spPr>
            <a:xfrm>
              <a:off x="2061000" y="4227120"/>
              <a:ext cx="218160" cy="22464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A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4" name="Rectangle 49"/>
            <p:cNvSpPr/>
            <p:nvPr/>
          </p:nvSpPr>
          <p:spPr>
            <a:xfrm>
              <a:off x="2279880" y="4227120"/>
              <a:ext cx="218160" cy="22464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B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5" name="Rectangle 50"/>
            <p:cNvSpPr/>
            <p:nvPr/>
          </p:nvSpPr>
          <p:spPr>
            <a:xfrm>
              <a:off x="2499120" y="4227120"/>
              <a:ext cx="218160" cy="22464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C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6" name="Rectangle 51"/>
            <p:cNvSpPr/>
            <p:nvPr/>
          </p:nvSpPr>
          <p:spPr>
            <a:xfrm>
              <a:off x="2718000" y="42271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7" name="Rectangle 52"/>
            <p:cNvSpPr/>
            <p:nvPr/>
          </p:nvSpPr>
          <p:spPr>
            <a:xfrm>
              <a:off x="2936880" y="42271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8" name="Group 53"/>
          <p:cNvGrpSpPr/>
          <p:nvPr/>
        </p:nvGrpSpPr>
        <p:grpSpPr>
          <a:xfrm>
            <a:off x="2061000" y="4001760"/>
            <a:ext cx="1094040" cy="224640"/>
            <a:chOff x="2061000" y="4001760"/>
            <a:chExt cx="1094040" cy="224640"/>
          </a:xfrm>
        </p:grpSpPr>
        <p:sp>
          <p:nvSpPr>
            <p:cNvPr id="1339" name="Rectangle 54"/>
            <p:cNvSpPr/>
            <p:nvPr/>
          </p:nvSpPr>
          <p:spPr>
            <a:xfrm>
              <a:off x="206100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Rectangle 55"/>
            <p:cNvSpPr/>
            <p:nvPr/>
          </p:nvSpPr>
          <p:spPr>
            <a:xfrm>
              <a:off x="227988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Rectangle 56"/>
            <p:cNvSpPr/>
            <p:nvPr/>
          </p:nvSpPr>
          <p:spPr>
            <a:xfrm>
              <a:off x="249912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Rectangle 57"/>
            <p:cNvSpPr/>
            <p:nvPr/>
          </p:nvSpPr>
          <p:spPr>
            <a:xfrm>
              <a:off x="271800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Rectangle 58"/>
            <p:cNvSpPr/>
            <p:nvPr/>
          </p:nvSpPr>
          <p:spPr>
            <a:xfrm>
              <a:off x="293688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44" name="Group 59"/>
          <p:cNvGrpSpPr/>
          <p:nvPr/>
        </p:nvGrpSpPr>
        <p:grpSpPr>
          <a:xfrm>
            <a:off x="2061000" y="3776400"/>
            <a:ext cx="1094040" cy="224640"/>
            <a:chOff x="2061000" y="3776400"/>
            <a:chExt cx="1094040" cy="224640"/>
          </a:xfrm>
        </p:grpSpPr>
        <p:sp>
          <p:nvSpPr>
            <p:cNvPr id="1345" name="Rectangle 60"/>
            <p:cNvSpPr/>
            <p:nvPr/>
          </p:nvSpPr>
          <p:spPr>
            <a:xfrm>
              <a:off x="206100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Rectangle 61"/>
            <p:cNvSpPr/>
            <p:nvPr/>
          </p:nvSpPr>
          <p:spPr>
            <a:xfrm>
              <a:off x="227988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Rectangle 62"/>
            <p:cNvSpPr/>
            <p:nvPr/>
          </p:nvSpPr>
          <p:spPr>
            <a:xfrm>
              <a:off x="249912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Rectangle 63"/>
            <p:cNvSpPr/>
            <p:nvPr/>
          </p:nvSpPr>
          <p:spPr>
            <a:xfrm>
              <a:off x="271800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Rectangle 64"/>
            <p:cNvSpPr/>
            <p:nvPr/>
          </p:nvSpPr>
          <p:spPr>
            <a:xfrm>
              <a:off x="293688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50" name="Group 65"/>
          <p:cNvGrpSpPr/>
          <p:nvPr/>
        </p:nvGrpSpPr>
        <p:grpSpPr>
          <a:xfrm>
            <a:off x="2061000" y="3551040"/>
            <a:ext cx="1094040" cy="224640"/>
            <a:chOff x="2061000" y="3551040"/>
            <a:chExt cx="1094040" cy="224640"/>
          </a:xfrm>
        </p:grpSpPr>
        <p:sp>
          <p:nvSpPr>
            <p:cNvPr id="1351" name="Rectangle 66"/>
            <p:cNvSpPr/>
            <p:nvPr/>
          </p:nvSpPr>
          <p:spPr>
            <a:xfrm>
              <a:off x="206100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Rectangle 67"/>
            <p:cNvSpPr/>
            <p:nvPr/>
          </p:nvSpPr>
          <p:spPr>
            <a:xfrm>
              <a:off x="227988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Rectangle 68"/>
            <p:cNvSpPr/>
            <p:nvPr/>
          </p:nvSpPr>
          <p:spPr>
            <a:xfrm>
              <a:off x="249912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Rectangle 69"/>
            <p:cNvSpPr/>
            <p:nvPr/>
          </p:nvSpPr>
          <p:spPr>
            <a:xfrm>
              <a:off x="271800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Rectangle 70"/>
            <p:cNvSpPr/>
            <p:nvPr/>
          </p:nvSpPr>
          <p:spPr>
            <a:xfrm>
              <a:off x="293688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56" name="Group 71"/>
          <p:cNvGrpSpPr/>
          <p:nvPr/>
        </p:nvGrpSpPr>
        <p:grpSpPr>
          <a:xfrm>
            <a:off x="2061000" y="3336480"/>
            <a:ext cx="1094040" cy="224640"/>
            <a:chOff x="2061000" y="3336480"/>
            <a:chExt cx="1094040" cy="224640"/>
          </a:xfrm>
        </p:grpSpPr>
        <p:sp>
          <p:nvSpPr>
            <p:cNvPr id="1357" name="Rectangle 72"/>
            <p:cNvSpPr/>
            <p:nvPr/>
          </p:nvSpPr>
          <p:spPr>
            <a:xfrm>
              <a:off x="2061000" y="33364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Rectangle 73"/>
            <p:cNvSpPr/>
            <p:nvPr/>
          </p:nvSpPr>
          <p:spPr>
            <a:xfrm>
              <a:off x="2279880" y="33364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Rectangle 74"/>
            <p:cNvSpPr/>
            <p:nvPr/>
          </p:nvSpPr>
          <p:spPr>
            <a:xfrm>
              <a:off x="2499120" y="33364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Rectangle 75"/>
            <p:cNvSpPr/>
            <p:nvPr/>
          </p:nvSpPr>
          <p:spPr>
            <a:xfrm>
              <a:off x="2718000" y="33364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Rectangle 76"/>
            <p:cNvSpPr/>
            <p:nvPr/>
          </p:nvSpPr>
          <p:spPr>
            <a:xfrm>
              <a:off x="2936880" y="33364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2" name="Group 77"/>
          <p:cNvGrpSpPr/>
          <p:nvPr/>
        </p:nvGrpSpPr>
        <p:grpSpPr>
          <a:xfrm>
            <a:off x="2061000" y="3106080"/>
            <a:ext cx="1094040" cy="224640"/>
            <a:chOff x="2061000" y="3106080"/>
            <a:chExt cx="1094040" cy="224640"/>
          </a:xfrm>
        </p:grpSpPr>
        <p:sp>
          <p:nvSpPr>
            <p:cNvPr id="1363" name="Rectangle 78"/>
            <p:cNvSpPr/>
            <p:nvPr/>
          </p:nvSpPr>
          <p:spPr>
            <a:xfrm>
              <a:off x="2061000" y="31060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4" name="Rectangle 79"/>
            <p:cNvSpPr/>
            <p:nvPr/>
          </p:nvSpPr>
          <p:spPr>
            <a:xfrm>
              <a:off x="2279880" y="31060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Rectangle 80"/>
            <p:cNvSpPr/>
            <p:nvPr/>
          </p:nvSpPr>
          <p:spPr>
            <a:xfrm>
              <a:off x="2499120" y="31060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6" name="Rectangle 81"/>
            <p:cNvSpPr/>
            <p:nvPr/>
          </p:nvSpPr>
          <p:spPr>
            <a:xfrm>
              <a:off x="2718000" y="31060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7" name="Rectangle 82"/>
            <p:cNvSpPr/>
            <p:nvPr/>
          </p:nvSpPr>
          <p:spPr>
            <a:xfrm>
              <a:off x="2936880" y="310608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8" name="Group 83"/>
          <p:cNvGrpSpPr/>
          <p:nvPr/>
        </p:nvGrpSpPr>
        <p:grpSpPr>
          <a:xfrm>
            <a:off x="2061000" y="2880720"/>
            <a:ext cx="1094040" cy="224640"/>
            <a:chOff x="2061000" y="2880720"/>
            <a:chExt cx="1094040" cy="224640"/>
          </a:xfrm>
        </p:grpSpPr>
        <p:sp>
          <p:nvSpPr>
            <p:cNvPr id="1369" name="Rectangle 84"/>
            <p:cNvSpPr/>
            <p:nvPr/>
          </p:nvSpPr>
          <p:spPr>
            <a:xfrm>
              <a:off x="2061000" y="28807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Rectangle 85"/>
            <p:cNvSpPr/>
            <p:nvPr/>
          </p:nvSpPr>
          <p:spPr>
            <a:xfrm>
              <a:off x="2279880" y="28807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Rectangle 86"/>
            <p:cNvSpPr/>
            <p:nvPr/>
          </p:nvSpPr>
          <p:spPr>
            <a:xfrm>
              <a:off x="2499120" y="28807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Rectangle 87"/>
            <p:cNvSpPr/>
            <p:nvPr/>
          </p:nvSpPr>
          <p:spPr>
            <a:xfrm>
              <a:off x="2718000" y="28807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Rectangle 88"/>
            <p:cNvSpPr/>
            <p:nvPr/>
          </p:nvSpPr>
          <p:spPr>
            <a:xfrm>
              <a:off x="2936880" y="28807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74" name="Group 89"/>
          <p:cNvGrpSpPr/>
          <p:nvPr/>
        </p:nvGrpSpPr>
        <p:grpSpPr>
          <a:xfrm>
            <a:off x="2061000" y="2660400"/>
            <a:ext cx="1094040" cy="224640"/>
            <a:chOff x="2061000" y="2660400"/>
            <a:chExt cx="1094040" cy="224640"/>
          </a:xfrm>
        </p:grpSpPr>
        <p:sp>
          <p:nvSpPr>
            <p:cNvPr id="1375" name="Rectangle 90"/>
            <p:cNvSpPr/>
            <p:nvPr/>
          </p:nvSpPr>
          <p:spPr>
            <a:xfrm>
              <a:off x="2061000" y="2660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Rectangle 91"/>
            <p:cNvSpPr/>
            <p:nvPr/>
          </p:nvSpPr>
          <p:spPr>
            <a:xfrm>
              <a:off x="2279880" y="2660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Rectangle 92"/>
            <p:cNvSpPr/>
            <p:nvPr/>
          </p:nvSpPr>
          <p:spPr>
            <a:xfrm>
              <a:off x="2499120" y="2660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Rectangle 93"/>
            <p:cNvSpPr/>
            <p:nvPr/>
          </p:nvSpPr>
          <p:spPr>
            <a:xfrm>
              <a:off x="2718000" y="2660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Rectangle 94"/>
            <p:cNvSpPr/>
            <p:nvPr/>
          </p:nvSpPr>
          <p:spPr>
            <a:xfrm>
              <a:off x="2936880" y="2660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0" name="Group 95"/>
          <p:cNvGrpSpPr/>
          <p:nvPr/>
        </p:nvGrpSpPr>
        <p:grpSpPr>
          <a:xfrm>
            <a:off x="5434560" y="4227120"/>
            <a:ext cx="1094040" cy="224640"/>
            <a:chOff x="5434560" y="4227120"/>
            <a:chExt cx="1094040" cy="224640"/>
          </a:xfrm>
        </p:grpSpPr>
        <p:sp>
          <p:nvSpPr>
            <p:cNvPr id="1381" name="Rectangle 96"/>
            <p:cNvSpPr/>
            <p:nvPr/>
          </p:nvSpPr>
          <p:spPr>
            <a:xfrm>
              <a:off x="5434560" y="4227120"/>
              <a:ext cx="218160" cy="22464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B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Rectangle 97"/>
            <p:cNvSpPr/>
            <p:nvPr/>
          </p:nvSpPr>
          <p:spPr>
            <a:xfrm>
              <a:off x="5653440" y="42271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Rectangle 98"/>
            <p:cNvSpPr/>
            <p:nvPr/>
          </p:nvSpPr>
          <p:spPr>
            <a:xfrm>
              <a:off x="5872680" y="4227120"/>
              <a:ext cx="218160" cy="22464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C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Rectangle 99"/>
            <p:cNvSpPr/>
            <p:nvPr/>
          </p:nvSpPr>
          <p:spPr>
            <a:xfrm>
              <a:off x="6091560" y="422712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Rectangle 100"/>
            <p:cNvSpPr/>
            <p:nvPr/>
          </p:nvSpPr>
          <p:spPr>
            <a:xfrm>
              <a:off x="6310440" y="4227120"/>
              <a:ext cx="218160" cy="22464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A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6" name="Group 101"/>
          <p:cNvGrpSpPr/>
          <p:nvPr/>
        </p:nvGrpSpPr>
        <p:grpSpPr>
          <a:xfrm>
            <a:off x="5434560" y="4001760"/>
            <a:ext cx="1094040" cy="224640"/>
            <a:chOff x="5434560" y="4001760"/>
            <a:chExt cx="1094040" cy="224640"/>
          </a:xfrm>
        </p:grpSpPr>
        <p:sp>
          <p:nvSpPr>
            <p:cNvPr id="1387" name="Rectangle 102"/>
            <p:cNvSpPr/>
            <p:nvPr/>
          </p:nvSpPr>
          <p:spPr>
            <a:xfrm>
              <a:off x="543456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8" name="Rectangle 103"/>
            <p:cNvSpPr/>
            <p:nvPr/>
          </p:nvSpPr>
          <p:spPr>
            <a:xfrm>
              <a:off x="565344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9" name="Rectangle 104"/>
            <p:cNvSpPr/>
            <p:nvPr/>
          </p:nvSpPr>
          <p:spPr>
            <a:xfrm>
              <a:off x="587268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Rectangle 105"/>
            <p:cNvSpPr/>
            <p:nvPr/>
          </p:nvSpPr>
          <p:spPr>
            <a:xfrm>
              <a:off x="609156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1" name="Rectangle 106"/>
            <p:cNvSpPr/>
            <p:nvPr/>
          </p:nvSpPr>
          <p:spPr>
            <a:xfrm>
              <a:off x="6310440" y="400176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2" name="Group 107"/>
          <p:cNvGrpSpPr/>
          <p:nvPr/>
        </p:nvGrpSpPr>
        <p:grpSpPr>
          <a:xfrm>
            <a:off x="5434560" y="3776400"/>
            <a:ext cx="1094040" cy="224640"/>
            <a:chOff x="5434560" y="3776400"/>
            <a:chExt cx="1094040" cy="224640"/>
          </a:xfrm>
        </p:grpSpPr>
        <p:sp>
          <p:nvSpPr>
            <p:cNvPr id="1393" name="Rectangle 108"/>
            <p:cNvSpPr/>
            <p:nvPr/>
          </p:nvSpPr>
          <p:spPr>
            <a:xfrm>
              <a:off x="543456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4" name="Rectangle 109"/>
            <p:cNvSpPr/>
            <p:nvPr/>
          </p:nvSpPr>
          <p:spPr>
            <a:xfrm>
              <a:off x="565344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5" name="Rectangle 110"/>
            <p:cNvSpPr/>
            <p:nvPr/>
          </p:nvSpPr>
          <p:spPr>
            <a:xfrm>
              <a:off x="587268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Rectangle 111"/>
            <p:cNvSpPr/>
            <p:nvPr/>
          </p:nvSpPr>
          <p:spPr>
            <a:xfrm>
              <a:off x="609156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Rectangle 112"/>
            <p:cNvSpPr/>
            <p:nvPr/>
          </p:nvSpPr>
          <p:spPr>
            <a:xfrm>
              <a:off x="6310440" y="377640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8" name="Group 113"/>
          <p:cNvGrpSpPr/>
          <p:nvPr/>
        </p:nvGrpSpPr>
        <p:grpSpPr>
          <a:xfrm>
            <a:off x="5434560" y="3551040"/>
            <a:ext cx="1094040" cy="224640"/>
            <a:chOff x="5434560" y="3551040"/>
            <a:chExt cx="1094040" cy="224640"/>
          </a:xfrm>
        </p:grpSpPr>
        <p:sp>
          <p:nvSpPr>
            <p:cNvPr id="1399" name="Rectangle 114"/>
            <p:cNvSpPr/>
            <p:nvPr/>
          </p:nvSpPr>
          <p:spPr>
            <a:xfrm>
              <a:off x="543456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0" name="Rectangle 115"/>
            <p:cNvSpPr/>
            <p:nvPr/>
          </p:nvSpPr>
          <p:spPr>
            <a:xfrm>
              <a:off x="565344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1" name="Rectangle 116"/>
            <p:cNvSpPr/>
            <p:nvPr/>
          </p:nvSpPr>
          <p:spPr>
            <a:xfrm>
              <a:off x="587268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2" name="Rectangle 117"/>
            <p:cNvSpPr/>
            <p:nvPr/>
          </p:nvSpPr>
          <p:spPr>
            <a:xfrm>
              <a:off x="609156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3" name="Rectangle 118"/>
            <p:cNvSpPr/>
            <p:nvPr/>
          </p:nvSpPr>
          <p:spPr>
            <a:xfrm>
              <a:off x="6310440" y="3551040"/>
              <a:ext cx="218160" cy="224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4" name="TextBox 119"/>
          <p:cNvSpPr/>
          <p:nvPr/>
        </p:nvSpPr>
        <p:spPr>
          <a:xfrm>
            <a:off x="1644840" y="2322720"/>
            <a:ext cx="1930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Address 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TextBox 120"/>
          <p:cNvSpPr/>
          <p:nvPr/>
        </p:nvSpPr>
        <p:spPr>
          <a:xfrm>
            <a:off x="4936320" y="3218400"/>
            <a:ext cx="2092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Physical Address 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Rectangle 121"/>
          <p:cNvSpPr/>
          <p:nvPr/>
        </p:nvSpPr>
        <p:spPr>
          <a:xfrm>
            <a:off x="4084200" y="3221280"/>
            <a:ext cx="686880" cy="123048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7" name="TextBox 122"/>
          <p:cNvSpPr/>
          <p:nvPr/>
        </p:nvSpPr>
        <p:spPr>
          <a:xfrm>
            <a:off x="3890880" y="2868480"/>
            <a:ext cx="1068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Table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TextBox 123"/>
          <p:cNvSpPr/>
          <p:nvPr/>
        </p:nvSpPr>
        <p:spPr>
          <a:xfrm>
            <a:off x="3654720" y="3294000"/>
            <a:ext cx="455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...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4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3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1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TextBox 124"/>
          <p:cNvSpPr/>
          <p:nvPr/>
        </p:nvSpPr>
        <p:spPr>
          <a:xfrm>
            <a:off x="4222800" y="3287520"/>
            <a:ext cx="4539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...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...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...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4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TextBox 125"/>
          <p:cNvSpPr/>
          <p:nvPr/>
        </p:nvSpPr>
        <p:spPr>
          <a:xfrm>
            <a:off x="3529800" y="4458240"/>
            <a:ext cx="71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#Page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TextBox 126"/>
          <p:cNvSpPr/>
          <p:nvPr/>
        </p:nvSpPr>
        <p:spPr>
          <a:xfrm>
            <a:off x="4210560" y="3205440"/>
            <a:ext cx="460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Helvetica Light"/>
              </a:rPr>
              <a:t>#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PF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TextBox 127"/>
          <p:cNvSpPr/>
          <p:nvPr/>
        </p:nvSpPr>
        <p:spPr>
          <a:xfrm>
            <a:off x="1308600" y="4437720"/>
            <a:ext cx="1892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#Page  0 1 2 3 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Box 128"/>
          <p:cNvSpPr/>
          <p:nvPr/>
        </p:nvSpPr>
        <p:spPr>
          <a:xfrm>
            <a:off x="5409720" y="4454640"/>
            <a:ext cx="317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 1 2 3 4  #Page-Frame (=PF)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5BF2446-099D-413D-91AE-B22D6C64006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Process Isolation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process has its own page tables describing its virtual address space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map the kernel memory into every address space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Rectangle 17"/>
          <p:cNvSpPr/>
          <p:nvPr/>
        </p:nvSpPr>
        <p:spPr>
          <a:xfrm>
            <a:off x="926640" y="4447440"/>
            <a:ext cx="1416960" cy="272160"/>
          </a:xfrm>
          <a:prstGeom prst="rect">
            <a:avLst/>
          </a:prstGeom>
          <a:solidFill>
            <a:srgbClr val="FFB3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Rectangle 18"/>
          <p:cNvSpPr/>
          <p:nvPr/>
        </p:nvSpPr>
        <p:spPr>
          <a:xfrm>
            <a:off x="926640" y="3880080"/>
            <a:ext cx="1416960" cy="566640"/>
          </a:xfrm>
          <a:prstGeom prst="rect">
            <a:avLst/>
          </a:prstGeom>
          <a:solidFill>
            <a:srgbClr val="B3B4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 Space 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Rectangle 19"/>
          <p:cNvSpPr/>
          <p:nvPr/>
        </p:nvSpPr>
        <p:spPr>
          <a:xfrm>
            <a:off x="926640" y="3655080"/>
            <a:ext cx="1416960" cy="228600"/>
          </a:xfrm>
          <a:prstGeom prst="rect">
            <a:avLst/>
          </a:prstGeom>
          <a:solidFill>
            <a:srgbClr val="FFFF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 2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Box 23"/>
          <p:cNvSpPr/>
          <p:nvPr/>
        </p:nvSpPr>
        <p:spPr>
          <a:xfrm>
            <a:off x="2669040" y="2096280"/>
            <a:ext cx="1798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Tables for Process 1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Rectangle 24"/>
          <p:cNvSpPr/>
          <p:nvPr/>
        </p:nvSpPr>
        <p:spPr>
          <a:xfrm>
            <a:off x="2867400" y="2603520"/>
            <a:ext cx="1367280" cy="320040"/>
          </a:xfrm>
          <a:prstGeom prst="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User-Space 1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2" name="Rectangle 25"/>
          <p:cNvSpPr/>
          <p:nvPr/>
        </p:nvSpPr>
        <p:spPr>
          <a:xfrm>
            <a:off x="2867400" y="2902320"/>
            <a:ext cx="1367280" cy="320040"/>
          </a:xfrm>
          <a:prstGeom prst="rect">
            <a:avLst/>
          </a:prstGeom>
          <a:solidFill>
            <a:srgbClr val="FFB3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Kernel-Space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TextBox 26"/>
          <p:cNvSpPr/>
          <p:nvPr/>
        </p:nvSpPr>
        <p:spPr>
          <a:xfrm>
            <a:off x="2662200" y="3536280"/>
            <a:ext cx="1798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Tables for Process 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Rectangle 27"/>
          <p:cNvSpPr/>
          <p:nvPr/>
        </p:nvSpPr>
        <p:spPr>
          <a:xfrm>
            <a:off x="2860920" y="4043880"/>
            <a:ext cx="1367280" cy="320040"/>
          </a:xfrm>
          <a:prstGeom prst="rect">
            <a:avLst/>
          </a:prstGeom>
          <a:solidFill>
            <a:srgbClr val="B3B4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User-Space 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Rectangle 28"/>
          <p:cNvSpPr/>
          <p:nvPr/>
        </p:nvSpPr>
        <p:spPr>
          <a:xfrm>
            <a:off x="2860920" y="4342320"/>
            <a:ext cx="1367280" cy="320040"/>
          </a:xfrm>
          <a:prstGeom prst="rect">
            <a:avLst/>
          </a:prstGeom>
          <a:solidFill>
            <a:srgbClr val="FFB3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Kernel-Space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26" name="Curved Connector 29"/>
          <p:cNvCxnSpPr>
            <a:stCxn id="1427" idx="3"/>
            <a:endCxn id="1421" idx="1"/>
          </p:cNvCxnSpPr>
          <p:nvPr/>
        </p:nvCxnSpPr>
        <p:spPr>
          <a:xfrm>
            <a:off x="2318040" y="2695320"/>
            <a:ext cx="549720" cy="68760"/>
          </a:xfrm>
          <a:prstGeom prst="curvedConnector3">
            <a:avLst>
              <a:gd name="adj1" fmla="val 50065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cxnSp>
        <p:nvCxnSpPr>
          <p:cNvPr id="1428" name="Curved Connector 30"/>
          <p:cNvCxnSpPr>
            <a:stCxn id="1429" idx="3"/>
            <a:endCxn id="1422" idx="1"/>
          </p:cNvCxnSpPr>
          <p:nvPr/>
        </p:nvCxnSpPr>
        <p:spPr>
          <a:xfrm flipV="1">
            <a:off x="2318040" y="3062520"/>
            <a:ext cx="549720" cy="53280"/>
          </a:xfrm>
          <a:prstGeom prst="curvedConnector3">
            <a:avLst>
              <a:gd name="adj1" fmla="val 50065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cxnSp>
        <p:nvCxnSpPr>
          <p:cNvPr id="1430" name="Curved Connector 31"/>
          <p:cNvCxnSpPr>
            <a:stCxn id="1418" idx="3"/>
            <a:endCxn id="1424" idx="1"/>
          </p:cNvCxnSpPr>
          <p:nvPr/>
        </p:nvCxnSpPr>
        <p:spPr>
          <a:xfrm>
            <a:off x="2343600" y="4163400"/>
            <a:ext cx="517680" cy="41040"/>
          </a:xfrm>
          <a:prstGeom prst="curvedConnector3">
            <a:avLst>
              <a:gd name="adj1" fmla="val 50104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cxnSp>
        <p:nvCxnSpPr>
          <p:cNvPr id="1431" name="Curved Connector 32"/>
          <p:cNvCxnSpPr>
            <a:stCxn id="1417" idx="3"/>
            <a:endCxn id="1425" idx="1"/>
          </p:cNvCxnSpPr>
          <p:nvPr/>
        </p:nvCxnSpPr>
        <p:spPr>
          <a:xfrm flipV="1">
            <a:off x="2343600" y="4502520"/>
            <a:ext cx="517680" cy="81360"/>
          </a:xfrm>
          <a:prstGeom prst="curvedConnector3">
            <a:avLst>
              <a:gd name="adj1" fmla="val 50104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cxnSp>
        <p:nvCxnSpPr>
          <p:cNvPr id="1432" name="Curved Connector 33"/>
          <p:cNvCxnSpPr>
            <a:stCxn id="1422" idx="3"/>
          </p:cNvCxnSpPr>
          <p:nvPr/>
        </p:nvCxnSpPr>
        <p:spPr>
          <a:xfrm>
            <a:off x="4234680" y="3062520"/>
            <a:ext cx="2179080" cy="1311840"/>
          </a:xfrm>
          <a:prstGeom prst="curvedConnector3">
            <a:avLst>
              <a:gd name="adj1" fmla="val 50016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cxnSp>
        <p:nvCxnSpPr>
          <p:cNvPr id="1433" name="Curved Connector 34"/>
          <p:cNvCxnSpPr>
            <a:stCxn id="1425" idx="3"/>
          </p:cNvCxnSpPr>
          <p:nvPr/>
        </p:nvCxnSpPr>
        <p:spPr>
          <a:xfrm flipV="1">
            <a:off x="4228200" y="4373640"/>
            <a:ext cx="2185560" cy="129240"/>
          </a:xfrm>
          <a:prstGeom prst="curvedConnector3">
            <a:avLst>
              <a:gd name="adj1" fmla="val 50016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cxnSp>
        <p:nvCxnSpPr>
          <p:cNvPr id="1434" name="Curved Connector 35"/>
          <p:cNvCxnSpPr>
            <a:stCxn id="1421" idx="3"/>
          </p:cNvCxnSpPr>
          <p:nvPr/>
        </p:nvCxnSpPr>
        <p:spPr>
          <a:xfrm>
            <a:off x="4234680" y="2763720"/>
            <a:ext cx="2218680" cy="1193400"/>
          </a:xfrm>
          <a:prstGeom prst="curvedConnector3">
            <a:avLst>
              <a:gd name="adj1" fmla="val 50016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cxnSp>
        <p:nvCxnSpPr>
          <p:cNvPr id="1435" name="Curved Connector 36"/>
          <p:cNvCxnSpPr>
            <a:stCxn id="1424" idx="3"/>
          </p:cNvCxnSpPr>
          <p:nvPr/>
        </p:nvCxnSpPr>
        <p:spPr>
          <a:xfrm flipV="1">
            <a:off x="4228200" y="3594960"/>
            <a:ext cx="2227680" cy="609480"/>
          </a:xfrm>
          <a:prstGeom prst="curvedConnector3">
            <a:avLst>
              <a:gd name="adj1" fmla="val 50008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grpSp>
        <p:nvGrpSpPr>
          <p:cNvPr id="1436" name="Group 43"/>
          <p:cNvGrpSpPr/>
          <p:nvPr/>
        </p:nvGrpSpPr>
        <p:grpSpPr>
          <a:xfrm>
            <a:off x="901080" y="2187000"/>
            <a:ext cx="1416960" cy="1064520"/>
            <a:chOff x="901080" y="2187000"/>
            <a:chExt cx="1416960" cy="1064520"/>
          </a:xfrm>
        </p:grpSpPr>
        <p:sp>
          <p:nvSpPr>
            <p:cNvPr id="1429" name="Rectangle 40"/>
            <p:cNvSpPr/>
            <p:nvPr/>
          </p:nvSpPr>
          <p:spPr>
            <a:xfrm>
              <a:off x="901080" y="2979360"/>
              <a:ext cx="1416960" cy="27216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Kernel Space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7" name="Rectangle 41"/>
            <p:cNvSpPr/>
            <p:nvPr/>
          </p:nvSpPr>
          <p:spPr>
            <a:xfrm>
              <a:off x="901080" y="2412000"/>
              <a:ext cx="1416960" cy="566640"/>
            </a:xfrm>
            <a:prstGeom prst="rect">
              <a:avLst/>
            </a:prstGeom>
            <a:solidFill>
              <a:srgbClr val="0069C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User Space 1</a:t>
              </a:r>
              <a:endPara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7" name="Rectangle 42"/>
            <p:cNvSpPr/>
            <p:nvPr/>
          </p:nvSpPr>
          <p:spPr>
            <a:xfrm>
              <a:off x="901080" y="2187000"/>
              <a:ext cx="1416960" cy="228600"/>
            </a:xfrm>
            <a:prstGeom prst="rect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200" b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Process 1</a:t>
              </a:r>
              <a:endPara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38" name="Group 39"/>
          <p:cNvGrpSpPr/>
          <p:nvPr/>
        </p:nvGrpSpPr>
        <p:grpSpPr>
          <a:xfrm>
            <a:off x="6305400" y="2216160"/>
            <a:ext cx="2095200" cy="2602080"/>
            <a:chOff x="6305400" y="2216160"/>
            <a:chExt cx="2095200" cy="2602080"/>
          </a:xfrm>
        </p:grpSpPr>
        <p:sp>
          <p:nvSpPr>
            <p:cNvPr id="1439" name="Rectangle 1"/>
            <p:cNvSpPr/>
            <p:nvPr/>
          </p:nvSpPr>
          <p:spPr>
            <a:xfrm>
              <a:off x="6563520" y="4636440"/>
              <a:ext cx="1565640" cy="18180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Rectangle 3"/>
            <p:cNvSpPr/>
            <p:nvPr/>
          </p:nvSpPr>
          <p:spPr>
            <a:xfrm>
              <a:off x="6563520" y="3859920"/>
              <a:ext cx="1565640" cy="19512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Rectangle 4"/>
            <p:cNvSpPr/>
            <p:nvPr/>
          </p:nvSpPr>
          <p:spPr>
            <a:xfrm>
              <a:off x="6563520" y="3669480"/>
              <a:ext cx="1565640" cy="18972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2" name="TextBox 5"/>
            <p:cNvSpPr/>
            <p:nvPr/>
          </p:nvSpPr>
          <p:spPr>
            <a:xfrm>
              <a:off x="6305400" y="2216160"/>
              <a:ext cx="20952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1" u="none" strike="noStrike">
                  <a:solidFill>
                    <a:schemeClr val="dk1"/>
                  </a:solidFill>
                  <a:effectLst/>
                  <a:uFillTx/>
                  <a:latin typeface="Helvetica Light"/>
                </a:rPr>
                <a:t>Physical</a:t>
              </a:r>
              <a:br>
                <a:rPr sz="1400"/>
              </a:br>
              <a:r>
                <a:rPr lang="de-DE" sz="1400" b="1" u="none" strike="noStrike">
                  <a:solidFill>
                    <a:schemeClr val="dk1"/>
                  </a:solidFill>
                  <a:effectLst/>
                  <a:uFillTx/>
                  <a:latin typeface="Helvetica Light"/>
                </a:rPr>
                <a:t>Address Space 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3" name="Rectangle 7"/>
            <p:cNvSpPr/>
            <p:nvPr/>
          </p:nvSpPr>
          <p:spPr>
            <a:xfrm>
              <a:off x="6563520" y="2809080"/>
              <a:ext cx="1565640" cy="296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available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4" name="Rectangle 8"/>
            <p:cNvSpPr/>
            <p:nvPr/>
          </p:nvSpPr>
          <p:spPr>
            <a:xfrm>
              <a:off x="6563520" y="3095280"/>
              <a:ext cx="1565640" cy="18180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5" name="Rectangle 20"/>
            <p:cNvSpPr/>
            <p:nvPr/>
          </p:nvSpPr>
          <p:spPr>
            <a:xfrm>
              <a:off x="6563520" y="3482640"/>
              <a:ext cx="1565640" cy="18972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6" name="Rectangle 21"/>
            <p:cNvSpPr/>
            <p:nvPr/>
          </p:nvSpPr>
          <p:spPr>
            <a:xfrm>
              <a:off x="6563520" y="3286080"/>
              <a:ext cx="1565640" cy="19512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7" name="Rectangle 22"/>
            <p:cNvSpPr/>
            <p:nvPr/>
          </p:nvSpPr>
          <p:spPr>
            <a:xfrm>
              <a:off x="6563520" y="4244400"/>
              <a:ext cx="1565640" cy="18180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8" name="Rectangle 37"/>
            <p:cNvSpPr/>
            <p:nvPr/>
          </p:nvSpPr>
          <p:spPr>
            <a:xfrm>
              <a:off x="6563520" y="4438800"/>
              <a:ext cx="1565640" cy="18972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9" name="Rectangle 38"/>
            <p:cNvSpPr/>
            <p:nvPr/>
          </p:nvSpPr>
          <p:spPr>
            <a:xfrm>
              <a:off x="6563520" y="4044600"/>
              <a:ext cx="1565640" cy="18972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0" name="TextBox 44"/>
          <p:cNvSpPr/>
          <p:nvPr/>
        </p:nvSpPr>
        <p:spPr>
          <a:xfrm>
            <a:off x="5683680" y="1668600"/>
            <a:ext cx="3338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6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Page frames can be mapped arbitrarily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DC6D882-F06C-43DF-9E7F-680EE0AD26C8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Process Isolation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2" name="PlaceHolder 2"/>
          <p:cNvSpPr>
            <a:spLocks noGrp="1"/>
          </p:cNvSpPr>
          <p:nvPr>
            <p:ph type="ftr" idx="6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bei x86-64 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thread runs in a process address space and can only access virtual addresses on pages that are allowed by the corresponding page table entries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controlled by bits in the page table entries (see next slides)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a page is not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present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it is either swapped out or unused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Accessing it causes a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Fault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page tables themselves must be protected from user space accesses (just like the kernel)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controlled by a specific bit in the page table entries (see next slides)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E4B4A6F-8EBF-42F4-B01D-6972FE468BAE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raphics2"/>
          <p:cNvPicPr/>
          <p:nvPr/>
        </p:nvPicPr>
        <p:blipFill>
          <a:blip r:embed="rId1"/>
          <a:srcRect l="0" t="0" r="52436" b="0"/>
          <a:stretch/>
        </p:blipFill>
        <p:spPr>
          <a:xfrm>
            <a:off x="5508000" y="1632600"/>
            <a:ext cx="3370680" cy="3113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pic>
        <p:nvPicPr>
          <p:cNvPr id="1455" name="graphics1"/>
          <p:cNvPicPr/>
          <p:nvPr/>
        </p:nvPicPr>
        <p:blipFill>
          <a:blip r:embed="rId2"/>
          <a:srcRect l="46531" t="0" r="0" b="0"/>
          <a:stretch/>
        </p:blipFill>
        <p:spPr>
          <a:xfrm>
            <a:off x="3939840" y="2126160"/>
            <a:ext cx="1628280" cy="2126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14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Segmentation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7" name="PlaceHolder 2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Inhaltsplatzhalter 7"/>
          <p:cNvSpPr/>
          <p:nvPr/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16-bit selectors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Start addresses are ignored (except FS and GS)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FS: For thread-local storage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(used by thread libraries)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GS: Linux uses it to retrieve the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stack address for fast system calls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limit checks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Only the ring number in CS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remains relevant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B241008-70DE-4C1C-B630-5D9D1A4C3BC3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Paging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0" name="PlaceHolder 2"/>
          <p:cNvSpPr>
            <a:spLocks noGrp="1"/>
          </p:cNvSpPr>
          <p:nvPr>
            <p:ph type="ftr" idx="6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Inhaltsplatzhalter 7"/>
          <p:cNvSpPr/>
          <p:nvPr/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is mandatory in Long Mode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basic paging configuration is handled by the CRx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ontrol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egisters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TextBox 3"/>
          <p:cNvSpPr/>
          <p:nvPr/>
        </p:nvSpPr>
        <p:spPr>
          <a:xfrm>
            <a:off x="3307320" y="4936320"/>
            <a:ext cx="4576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Schiermeier,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3" name="Picture 4"/>
          <p:cNvPicPr/>
          <p:nvPr/>
        </p:nvPicPr>
        <p:blipFill>
          <a:blip r:embed="rId1"/>
          <a:stretch/>
        </p:blipFill>
        <p:spPr>
          <a:xfrm>
            <a:off x="1691640" y="2775240"/>
            <a:ext cx="5469480" cy="17431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64" name="Straight Arrow Connector 7"/>
          <p:cNvCxnSpPr/>
          <p:nvPr/>
        </p:nvCxnSpPr>
        <p:spPr>
          <a:xfrm flipH="1">
            <a:off x="4716000" y="2596320"/>
            <a:ext cx="216720" cy="267120"/>
          </a:xfrm>
          <a:prstGeom prst="straightConnector1">
            <a:avLst/>
          </a:prstGeom>
          <a:ln w="0">
            <a:solidFill>
              <a:srgbClr val="808080"/>
            </a:solidFill>
            <a:tailEnd len="lg" type="triangle" w="med"/>
          </a:ln>
        </p:spPr>
      </p:cxnSp>
      <p:sp>
        <p:nvSpPr>
          <p:cNvPr id="1465" name="TextBox 9"/>
          <p:cNvSpPr/>
          <p:nvPr/>
        </p:nvSpPr>
        <p:spPr>
          <a:xfrm>
            <a:off x="4390920" y="2274840"/>
            <a:ext cx="19537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Physikalische Adresse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97322EC-DFBF-4C0C-ACF1-6D80C0968FB6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ftr" idx="6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TextBox 43"/>
          <p:cNvSpPr/>
          <p:nvPr/>
        </p:nvSpPr>
        <p:spPr>
          <a:xfrm>
            <a:off x="35640" y="4936320"/>
            <a:ext cx="9072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Picture:James Mickens, Harvard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Page Tables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9" name="Inhaltsplatzhalter 7"/>
          <p:cNvSpPr/>
          <p:nvPr/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 level Paging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Modern CPUs may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support five levels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Index: 9 Bit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 KiB per table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 byte per entry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512 entries per table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0" name="Picture 3"/>
          <p:cNvPicPr/>
          <p:nvPr/>
        </p:nvPicPr>
        <p:blipFill>
          <a:blip r:embed="rId1"/>
          <a:stretch/>
        </p:blipFill>
        <p:spPr>
          <a:xfrm>
            <a:off x="2843640" y="1278720"/>
            <a:ext cx="6044040" cy="322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B2297F3-371D-4473-A813-681DB9C2B8F4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Page Table Entry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2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TextBox 2"/>
          <p:cNvSpPr/>
          <p:nvPr/>
        </p:nvSpPr>
        <p:spPr>
          <a:xfrm>
            <a:off x="3523320" y="4936320"/>
            <a:ext cx="4576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Configuration is possible on all level of the page table hierarchy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bits: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R/W = Read/Write → Protection agains write accesses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NX = NoeXecute → Prohibit code execution in memory that only contains 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U/S = User/Supervisor → Access allowed for everyone or only in ring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Available = AVL = Bits that are freely usable by the operating system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5" name="Picture 1"/>
          <p:cNvPicPr/>
          <p:nvPr/>
        </p:nvPicPr>
        <p:blipFill>
          <a:blip r:embed="rId1"/>
          <a:stretch/>
        </p:blipFill>
        <p:spPr>
          <a:xfrm>
            <a:off x="1512720" y="2863080"/>
            <a:ext cx="6117840" cy="128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D560A48-9C37-4CD0-B274-C36B8D745B4B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Bemerkungen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7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Warum gibt es so viele Stufen?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I.d.R. wird der virtuelle Adressraum nur spärlich und verstreut genutzt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Allenfalls großer Heap bei Big-Data-Systemen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Aber Stacks und Code benötigen nicht Gigabytes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Es werden nur notwendige Tabellen angelegt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Ein Eintrag in PML4E beschreibt 512 GB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Falls dieser Adressbereich komplett ungenutzt ist, so wird PML4E.present bit = 0 gesetzt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Und entsprechend werden nicht alle zugehörigen Tabellen PDP/PD/PT Tabellen in diesem Unterbaum angelegt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871E822-34C5-4C91-9AF8-9BD505D4442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Example: 1 GiB Pages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2"/>
          <p:cNvSpPr>
            <a:spLocks noGrp="1"/>
          </p:cNvSpPr>
          <p:nvPr>
            <p:ph type="ftr" idx="6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1" name="Picture 2"/>
          <p:cNvPicPr/>
          <p:nvPr/>
        </p:nvPicPr>
        <p:blipFill>
          <a:blip r:embed="rId1"/>
          <a:stretch/>
        </p:blipFill>
        <p:spPr>
          <a:xfrm>
            <a:off x="971640" y="1134720"/>
            <a:ext cx="6984000" cy="372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2" name="TextBox 3"/>
          <p:cNvSpPr/>
          <p:nvPr/>
        </p:nvSpPr>
        <p:spPr>
          <a:xfrm>
            <a:off x="2283840" y="4920840"/>
            <a:ext cx="45752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James Mickens, Harvard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217CF94-FED0-4443-9D33-BFAAB6985B9B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Example: 1 GiB Pages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4" name="PlaceHolder 2"/>
          <p:cNvSpPr>
            <a:spLocks noGrp="1"/>
          </p:cNvSpPr>
          <p:nvPr>
            <p:ph type="ftr" idx="6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5" name="Picture 3"/>
          <p:cNvPicPr/>
          <p:nvPr/>
        </p:nvPicPr>
        <p:blipFill>
          <a:blip r:embed="rId1"/>
          <a:stretch/>
        </p:blipFill>
        <p:spPr>
          <a:xfrm>
            <a:off x="970560" y="1134720"/>
            <a:ext cx="6985080" cy="371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6" name="TextBox 4"/>
          <p:cNvSpPr/>
          <p:nvPr/>
        </p:nvSpPr>
        <p:spPr>
          <a:xfrm>
            <a:off x="2283840" y="4920840"/>
            <a:ext cx="45752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James Mickens, Harvard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3A2817E-A51C-4E9B-8BBB-DE1E02112AC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TLB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8" name="PlaceHolder 2"/>
          <p:cNvSpPr>
            <a:spLocks noGrp="1"/>
          </p:cNvSpPr>
          <p:nvPr>
            <p:ph type="ftr" idx="7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 Paging requires address translation by the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Management Unit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(MMU)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One MMU per core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Address translation is slow because of the four/five levels of page tables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Long Mode requires paging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Translation Lookaside Buffer (TLB) → One TLB per core: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Buffers translated addresses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Fully associative cache → Lookup in O(1)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Tag: consists of page table indices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Data: page frame address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BB31906-2746-48B1-B556-9CC77165F23D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TLB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1" name="PlaceHolder 2"/>
          <p:cNvSpPr>
            <a:spLocks noGrp="1"/>
          </p:cNvSpPr>
          <p:nvPr>
            <p:ph type="ftr" idx="7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92" name="Picture 1"/>
          <p:cNvPicPr/>
          <p:nvPr/>
        </p:nvPicPr>
        <p:blipFill>
          <a:blip r:embed="rId1"/>
          <a:stretch/>
        </p:blipFill>
        <p:spPr>
          <a:xfrm>
            <a:off x="827640" y="1477080"/>
            <a:ext cx="7771680" cy="280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3" name="TextBox 4"/>
          <p:cNvSpPr/>
          <p:nvPr/>
        </p:nvSpPr>
        <p:spPr>
          <a:xfrm>
            <a:off x="3564000" y="4920840"/>
            <a:ext cx="45752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James Mickens, Harvard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3BE469A-5664-4BDB-9465-CB273A71BBC8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TLB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2"/>
          <p:cNvSpPr>
            <a:spLocks noGrp="1"/>
          </p:cNvSpPr>
          <p:nvPr>
            <p:ph type="ftr" idx="7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96" name="Picture 2"/>
          <p:cNvPicPr/>
          <p:nvPr/>
        </p:nvPicPr>
        <p:blipFill>
          <a:blip r:embed="rId1"/>
          <a:stretch/>
        </p:blipFill>
        <p:spPr>
          <a:xfrm>
            <a:off x="1547640" y="1062720"/>
            <a:ext cx="5626440" cy="387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7" name="TextBox 1"/>
          <p:cNvSpPr/>
          <p:nvPr/>
        </p:nvSpPr>
        <p:spPr>
          <a:xfrm>
            <a:off x="3564360" y="4921200"/>
            <a:ext cx="45752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James Mickens, Harvard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810C9DE-1EEB-4194-A3EA-F35008E3A5F1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TLB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9" name="PlaceHolder 2"/>
          <p:cNvSpPr>
            <a:spLocks noGrp="1"/>
          </p:cNvSpPr>
          <p:nvPr>
            <p:ph type="ftr" idx="7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0" name="Picture 2"/>
          <p:cNvPicPr/>
          <p:nvPr/>
        </p:nvPicPr>
        <p:blipFill>
          <a:blip r:embed="rId1"/>
          <a:stretch/>
        </p:blipFill>
        <p:spPr>
          <a:xfrm>
            <a:off x="1547640" y="1062720"/>
            <a:ext cx="5626440" cy="387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1" name="TextBox 4"/>
          <p:cNvSpPr/>
          <p:nvPr/>
        </p:nvSpPr>
        <p:spPr>
          <a:xfrm>
            <a:off x="6084000" y="1280520"/>
            <a:ext cx="2735640" cy="64548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Before raising page fault exception, HW sets cr2 to faulting address, and pushes an error code onto stack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Content Placeholder 2"/>
          <p:cNvSpPr/>
          <p:nvPr/>
        </p:nvSpPr>
        <p:spPr>
          <a:xfrm>
            <a:off x="6804360" y="1932120"/>
            <a:ext cx="2015640" cy="100188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Ex1: User thread tried to read a non-present page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Ex2: User thread tried to write a present but read-only page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TextBox 6"/>
          <p:cNvSpPr/>
          <p:nvPr/>
        </p:nvSpPr>
        <p:spPr>
          <a:xfrm>
            <a:off x="3564360" y="4921200"/>
            <a:ext cx="45752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James Mickens, Harvard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D2ED296-60E2-47BE-B7B6-0FDA1CA05599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" dur="500"/>
                                        <p:tgtEl>
                                          <p:spTgt spid="1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TLB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5" name="PlaceHolder 2"/>
          <p:cNvSpPr>
            <a:spLocks noGrp="1"/>
          </p:cNvSpPr>
          <p:nvPr>
            <p:ph type="ftr" idx="7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TLB is small: ~32-100 entries (depending on the CPU)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usual application the TLB reaches a hit rate of up to 98%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Why? → Principle of locality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Arrays, Loops, etc.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Remarks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Writing the CR3 register (address space switch) fully invalidates the TLB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Whenever protection/access bits in a page table are modified, the corresponding TLB entry must be invalidated manually (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INVLPG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instruction)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 multicore CPUs, this may be necessary on all cores!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C0F69BA-7A9A-44F0-96F4-42BCBD84B724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To Be Continued...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8" name="PlaceHolder 2"/>
          <p:cNvSpPr>
            <a:spLocks noGrp="1"/>
          </p:cNvSpPr>
          <p:nvPr>
            <p:ph type="ftr" idx="7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Paging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isolation after Meltdown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 Context Identifiers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protection keys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38AB0D4-84F7-45B1-A42B-1F603B3991FE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42253</TotalTime>
  <Application>LibreOffice/26.2.4.2$Linux_X86_64 LibreOffice_project/df4f15f06f7b375c1d16aa35fba92d50b262cd01</Application>
  <AppVersion>15.0000</AppVersion>
  <Words>1063</Words>
  <Paragraphs>197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2026-07-08T11:03:01Z</dcterms:modified>
  <cp:revision>1636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Custom</vt:lpwstr>
  </property>
  <property fmtid="{D5CDD505-2E9C-101B-9397-08002B2CF9AE}" pid="4" name="Slides">
    <vt:i4>19</vt:i4>
  </property>
</Properties>
</file>