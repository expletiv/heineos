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1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0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27.xml" ContentType="application/vnd.openxmlformats-officedocument.presentationml.slide+xml"/>
  <Override PartName="/ppt/slides/slide43.xml" ContentType="application/vnd.openxmlformats-officedocument.presentationml.slide+xml"/>
  <Override PartName="/ppt/slides/slide48.xml" ContentType="application/vnd.openxmlformats-officedocument.presentationml.slide+xml"/>
  <Override PartName="/ppt/slides/slide62.xml" ContentType="application/vnd.openxmlformats-officedocument.presentationml.slide+xml"/>
  <Override PartName="/ppt/slides/slide31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65.xml" ContentType="application/vnd.openxmlformats-officedocument.presentationml.slide+xml"/>
  <Override PartName="/ppt/slides/slide16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61.xml" ContentType="application/vnd.openxmlformats-officedocument.presentationml.slide+xml"/>
  <Override PartName="/ppt/slides/slide29.xml" ContentType="application/vnd.openxmlformats-officedocument.presentationml.slide+xml"/>
  <Override PartName="/ppt/slides/slide10.xml" ContentType="application/vnd.openxmlformats-officedocument.presentationml.slide+xml"/>
  <Override PartName="/ppt/slides/slide63.xml" ContentType="application/vnd.openxmlformats-officedocument.presentationml.slide+xml"/>
  <Override PartName="/ppt/slides/slide67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s/slide14.xml" ContentType="application/vnd.openxmlformats-officedocument.presentationml.slide+xml"/>
  <Override PartName="/ppt/slides/slide57.xml" ContentType="application/vnd.openxmlformats-officedocument.presentationml.slide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59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24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6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44.xml" ContentType="application/vnd.openxmlformats-officedocument.presentationml.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PlaceHolder 4"/>
          <p:cNvSpPr>
            <a:spLocks noGrp="1"/>
          </p:cNvSpPr>
          <p:nvPr>
            <p:ph type="dt" idx="5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PlaceHolder 5"/>
          <p:cNvSpPr>
            <a:spLocks noGrp="1"/>
          </p:cNvSpPr>
          <p:nvPr>
            <p:ph type="ftr" idx="5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PlaceHolder 6"/>
          <p:cNvSpPr>
            <a:spLocks noGrp="1"/>
          </p:cNvSpPr>
          <p:nvPr>
            <p:ph type="sldNum" idx="5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D21753F-8F9F-4FA3-93A0-1409BBB15B10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3" name="PlaceHolder 3"/>
          <p:cNvSpPr>
            <a:spLocks noGrp="1"/>
          </p:cNvSpPr>
          <p:nvPr>
            <p:ph type="sldNum" idx="1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6" name="PlaceHolder 3"/>
          <p:cNvSpPr>
            <a:spLocks noGrp="1"/>
          </p:cNvSpPr>
          <p:nvPr>
            <p:ph type="sldNum" idx="1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9" name="PlaceHolder 3"/>
          <p:cNvSpPr>
            <a:spLocks noGrp="1"/>
          </p:cNvSpPr>
          <p:nvPr>
            <p:ph type="sldNum" idx="1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2" name="PlaceHolder 3"/>
          <p:cNvSpPr>
            <a:spLocks noGrp="1"/>
          </p:cNvSpPr>
          <p:nvPr>
            <p:ph type="sldNum" idx="1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5" name="PlaceHolder 3"/>
          <p:cNvSpPr>
            <a:spLocks noGrp="1"/>
          </p:cNvSpPr>
          <p:nvPr>
            <p:ph type="sldNum" idx="1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8" name="PlaceHolder 3"/>
          <p:cNvSpPr>
            <a:spLocks noGrp="1"/>
          </p:cNvSpPr>
          <p:nvPr>
            <p:ph type="sldNum" idx="1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1" name="PlaceHolder 3"/>
          <p:cNvSpPr>
            <a:spLocks noGrp="1"/>
          </p:cNvSpPr>
          <p:nvPr>
            <p:ph type="sldNum" idx="1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4" name="PlaceHolder 3"/>
          <p:cNvSpPr>
            <a:spLocks noGrp="1"/>
          </p:cNvSpPr>
          <p:nvPr>
            <p:ph type="sldNum" idx="1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7" name="PlaceHolder 3"/>
          <p:cNvSpPr>
            <a:spLocks noGrp="1"/>
          </p:cNvSpPr>
          <p:nvPr>
            <p:ph type="sldNum" idx="1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0" name="PlaceHolder 3"/>
          <p:cNvSpPr>
            <a:spLocks noGrp="1"/>
          </p:cNvSpPr>
          <p:nvPr>
            <p:ph type="sldNum" idx="1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3" name="PlaceHolder 3"/>
          <p:cNvSpPr>
            <a:spLocks noGrp="1"/>
          </p:cNvSpPr>
          <p:nvPr>
            <p:ph type="sldNum" idx="1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6" name="PlaceHolder 3"/>
          <p:cNvSpPr>
            <a:spLocks noGrp="1"/>
          </p:cNvSpPr>
          <p:nvPr>
            <p:ph type="sldNum" idx="1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9" name="PlaceHolder 3"/>
          <p:cNvSpPr>
            <a:spLocks noGrp="1"/>
          </p:cNvSpPr>
          <p:nvPr>
            <p:ph type="sldNum" idx="1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2" name="PlaceHolder 3"/>
          <p:cNvSpPr>
            <a:spLocks noGrp="1"/>
          </p:cNvSpPr>
          <p:nvPr>
            <p:ph type="sldNum" idx="1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5" name="PlaceHolder 3"/>
          <p:cNvSpPr>
            <a:spLocks noGrp="1"/>
          </p:cNvSpPr>
          <p:nvPr>
            <p:ph type="sldNum" idx="1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8" name="PlaceHolder 3"/>
          <p:cNvSpPr>
            <a:spLocks noGrp="1"/>
          </p:cNvSpPr>
          <p:nvPr>
            <p:ph type="sldNum" idx="1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1" name="PlaceHolder 3"/>
          <p:cNvSpPr>
            <a:spLocks noGrp="1"/>
          </p:cNvSpPr>
          <p:nvPr>
            <p:ph type="sldNum" idx="1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4" name="PlaceHolder 3"/>
          <p:cNvSpPr>
            <a:spLocks noGrp="1"/>
          </p:cNvSpPr>
          <p:nvPr>
            <p:ph type="sldNum" idx="1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7" name="PlaceHolder 3"/>
          <p:cNvSpPr>
            <a:spLocks noGrp="1"/>
          </p:cNvSpPr>
          <p:nvPr>
            <p:ph type="sldNum" idx="1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0" name="PlaceHolder 3"/>
          <p:cNvSpPr>
            <a:spLocks noGrp="1"/>
          </p:cNvSpPr>
          <p:nvPr>
            <p:ph type="sldNum" idx="1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3" name="PlaceHolder 3"/>
          <p:cNvSpPr>
            <a:spLocks noGrp="1"/>
          </p:cNvSpPr>
          <p:nvPr>
            <p:ph type="sldNum" idx="1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6" name="PlaceHolder 3"/>
          <p:cNvSpPr>
            <a:spLocks noGrp="1"/>
          </p:cNvSpPr>
          <p:nvPr>
            <p:ph type="sldNum" idx="1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9" name="PlaceHolder 3"/>
          <p:cNvSpPr>
            <a:spLocks noGrp="1"/>
          </p:cNvSpPr>
          <p:nvPr>
            <p:ph type="sldNum" idx="1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2" name="PlaceHolder 3"/>
          <p:cNvSpPr>
            <a:spLocks noGrp="1"/>
          </p:cNvSpPr>
          <p:nvPr>
            <p:ph type="sldNum" idx="1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5" name="PlaceHolder 3"/>
          <p:cNvSpPr>
            <a:spLocks noGrp="1"/>
          </p:cNvSpPr>
          <p:nvPr>
            <p:ph type="sldNum" idx="1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8" name="PlaceHolder 3"/>
          <p:cNvSpPr>
            <a:spLocks noGrp="1"/>
          </p:cNvSpPr>
          <p:nvPr>
            <p:ph type="sldNum" idx="1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1" name="PlaceHolder 3"/>
          <p:cNvSpPr>
            <a:spLocks noGrp="1"/>
          </p:cNvSpPr>
          <p:nvPr>
            <p:ph type="sldNum" idx="1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4" name="PlaceHolder 3"/>
          <p:cNvSpPr>
            <a:spLocks noGrp="1"/>
          </p:cNvSpPr>
          <p:nvPr>
            <p:ph type="sldNum" idx="1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7" name="PlaceHolder 3"/>
          <p:cNvSpPr>
            <a:spLocks noGrp="1"/>
          </p:cNvSpPr>
          <p:nvPr>
            <p:ph type="sldNum" idx="15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0" name="PlaceHolder 3"/>
          <p:cNvSpPr>
            <a:spLocks noGrp="1"/>
          </p:cNvSpPr>
          <p:nvPr>
            <p:ph type="sldNum" idx="1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3" name="PlaceHolder 3"/>
          <p:cNvSpPr>
            <a:spLocks noGrp="1"/>
          </p:cNvSpPr>
          <p:nvPr>
            <p:ph type="sldNum" idx="1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6" name="PlaceHolder 3"/>
          <p:cNvSpPr>
            <a:spLocks noGrp="1"/>
          </p:cNvSpPr>
          <p:nvPr>
            <p:ph type="sldNum" idx="1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9" name="PlaceHolder 3"/>
          <p:cNvSpPr>
            <a:spLocks noGrp="1"/>
          </p:cNvSpPr>
          <p:nvPr>
            <p:ph type="sldNum" idx="15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2" name="PlaceHolder 3"/>
          <p:cNvSpPr>
            <a:spLocks noGrp="1"/>
          </p:cNvSpPr>
          <p:nvPr>
            <p:ph type="sldNum" idx="1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5" name="PlaceHolder 3"/>
          <p:cNvSpPr>
            <a:spLocks noGrp="1"/>
          </p:cNvSpPr>
          <p:nvPr>
            <p:ph type="sldNum" idx="15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8" name="PlaceHolder 3"/>
          <p:cNvSpPr>
            <a:spLocks noGrp="1"/>
          </p:cNvSpPr>
          <p:nvPr>
            <p:ph type="sldNum" idx="15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1" name="PlaceHolder 3"/>
          <p:cNvSpPr>
            <a:spLocks noGrp="1"/>
          </p:cNvSpPr>
          <p:nvPr>
            <p:ph type="sldNum" idx="15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4" name="PlaceHolder 3"/>
          <p:cNvSpPr>
            <a:spLocks noGrp="1"/>
          </p:cNvSpPr>
          <p:nvPr>
            <p:ph type="sldNum" idx="15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7" name="PlaceHolder 3"/>
          <p:cNvSpPr>
            <a:spLocks noGrp="1"/>
          </p:cNvSpPr>
          <p:nvPr>
            <p:ph type="sldNum" idx="16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0" name="PlaceHolder 3"/>
          <p:cNvSpPr>
            <a:spLocks noGrp="1"/>
          </p:cNvSpPr>
          <p:nvPr>
            <p:ph type="sldNum" idx="16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3" name="PlaceHolder 3"/>
          <p:cNvSpPr>
            <a:spLocks noGrp="1"/>
          </p:cNvSpPr>
          <p:nvPr>
            <p:ph type="sldNum" idx="16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6" name="PlaceHolder 3"/>
          <p:cNvSpPr>
            <a:spLocks noGrp="1"/>
          </p:cNvSpPr>
          <p:nvPr>
            <p:ph type="sldNum" idx="16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9" name="PlaceHolder 3"/>
          <p:cNvSpPr>
            <a:spLocks noGrp="1"/>
          </p:cNvSpPr>
          <p:nvPr>
            <p:ph type="sldNum" idx="16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2" name="PlaceHolder 3"/>
          <p:cNvSpPr>
            <a:spLocks noGrp="1"/>
          </p:cNvSpPr>
          <p:nvPr>
            <p:ph type="sldNum" idx="16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5" name="PlaceHolder 3"/>
          <p:cNvSpPr>
            <a:spLocks noGrp="1"/>
          </p:cNvSpPr>
          <p:nvPr>
            <p:ph type="sldNum" idx="16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8" name="PlaceHolder 3"/>
          <p:cNvSpPr>
            <a:spLocks noGrp="1"/>
          </p:cNvSpPr>
          <p:nvPr>
            <p:ph type="sldNum" idx="16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1" name="PlaceHolder 3"/>
          <p:cNvSpPr>
            <a:spLocks noGrp="1"/>
          </p:cNvSpPr>
          <p:nvPr>
            <p:ph type="sldNum" idx="16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4" name="PlaceHolder 3"/>
          <p:cNvSpPr>
            <a:spLocks noGrp="1"/>
          </p:cNvSpPr>
          <p:nvPr>
            <p:ph type="sldNum" idx="16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7" name="PlaceHolder 3"/>
          <p:cNvSpPr>
            <a:spLocks noGrp="1"/>
          </p:cNvSpPr>
          <p:nvPr>
            <p:ph type="sldNum" idx="17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0" name="PlaceHolder 3"/>
          <p:cNvSpPr>
            <a:spLocks noGrp="1"/>
          </p:cNvSpPr>
          <p:nvPr>
            <p:ph type="sldNum" idx="17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3" name="PlaceHolder 3"/>
          <p:cNvSpPr>
            <a:spLocks noGrp="1"/>
          </p:cNvSpPr>
          <p:nvPr>
            <p:ph type="sldNum" idx="17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6" name="PlaceHolder 3"/>
          <p:cNvSpPr>
            <a:spLocks noGrp="1"/>
          </p:cNvSpPr>
          <p:nvPr>
            <p:ph type="sldNum" idx="17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9" name="PlaceHolder 3"/>
          <p:cNvSpPr>
            <a:spLocks noGrp="1"/>
          </p:cNvSpPr>
          <p:nvPr>
            <p:ph type="sldNum" idx="17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2" name="PlaceHolder 3"/>
          <p:cNvSpPr>
            <a:spLocks noGrp="1"/>
          </p:cNvSpPr>
          <p:nvPr>
            <p:ph type="sldNum" idx="17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5" name="PlaceHolder 3"/>
          <p:cNvSpPr>
            <a:spLocks noGrp="1"/>
          </p:cNvSpPr>
          <p:nvPr>
            <p:ph type="sldNum" idx="17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7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8" name="PlaceHolder 3"/>
          <p:cNvSpPr>
            <a:spLocks noGrp="1"/>
          </p:cNvSpPr>
          <p:nvPr>
            <p:ph type="sldNum" idx="17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8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1" name="PlaceHolder 3"/>
          <p:cNvSpPr>
            <a:spLocks noGrp="1"/>
          </p:cNvSpPr>
          <p:nvPr>
            <p:ph type="sldNum" idx="17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8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4" name="PlaceHolder 3"/>
          <p:cNvSpPr>
            <a:spLocks noGrp="1"/>
          </p:cNvSpPr>
          <p:nvPr>
            <p:ph type="sldNum" idx="17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8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7" name="PlaceHolder 3"/>
          <p:cNvSpPr>
            <a:spLocks noGrp="1"/>
          </p:cNvSpPr>
          <p:nvPr>
            <p:ph type="sldNum" idx="18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8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0" name="PlaceHolder 3"/>
          <p:cNvSpPr>
            <a:spLocks noGrp="1"/>
          </p:cNvSpPr>
          <p:nvPr>
            <p:ph type="sldNum" idx="18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8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3" name="PlaceHolder 3"/>
          <p:cNvSpPr>
            <a:spLocks noGrp="1"/>
          </p:cNvSpPr>
          <p:nvPr>
            <p:ph type="sldNum" idx="18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8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6" name="PlaceHolder 3"/>
          <p:cNvSpPr>
            <a:spLocks noGrp="1"/>
          </p:cNvSpPr>
          <p:nvPr>
            <p:ph type="sldNum" idx="18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8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9" name="PlaceHolder 3"/>
          <p:cNvSpPr>
            <a:spLocks noGrp="1"/>
          </p:cNvSpPr>
          <p:nvPr>
            <p:ph type="sldNum" idx="18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8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2" name="PlaceHolder 3"/>
          <p:cNvSpPr>
            <a:spLocks noGrp="1"/>
          </p:cNvSpPr>
          <p:nvPr>
            <p:ph type="sldNum" idx="18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8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5" name="PlaceHolder 3"/>
          <p:cNvSpPr>
            <a:spLocks noGrp="1"/>
          </p:cNvSpPr>
          <p:nvPr>
            <p:ph type="sldNum" idx="18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8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8" name="PlaceHolder 3"/>
          <p:cNvSpPr>
            <a:spLocks noGrp="1"/>
          </p:cNvSpPr>
          <p:nvPr>
            <p:ph type="sldNum" idx="18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8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1" name="PlaceHolder 3"/>
          <p:cNvSpPr>
            <a:spLocks noGrp="1"/>
          </p:cNvSpPr>
          <p:nvPr>
            <p:ph type="sldNum" idx="18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7280" cy="3491640"/>
          </a:xfrm>
          <a:custGeom>
            <a:avLst/>
            <a:gdLst>
              <a:gd name="textAreaLeft" fmla="*/ 0 w 3167280"/>
              <a:gd name="textAreaRight" fmla="*/ 3168000 w 3167280"/>
              <a:gd name="textAreaTop" fmla="*/ 0 h 3491640"/>
              <a:gd name="textAreaBottom" fmla="*/ 3492360 h 349164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4400280" cy="106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uppieren 2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Freihandform: Form 25"/>
          <p:cNvSpPr/>
          <p:nvPr/>
        </p:nvSpPr>
        <p:spPr>
          <a:xfrm>
            <a:off x="0" y="1422360"/>
            <a:ext cx="3167280" cy="3491640"/>
          </a:xfrm>
          <a:custGeom>
            <a:avLst/>
            <a:gdLst>
              <a:gd name="textAreaLeft" fmla="*/ 0 w 3167280"/>
              <a:gd name="textAreaRight" fmla="*/ 3168000 w 3167280"/>
              <a:gd name="textAreaTop" fmla="*/ 0 h 3491640"/>
              <a:gd name="textAreaBottom" fmla="*/ 3492360 h 349164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899440"/>
            <a:ext cx="6399000" cy="5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87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ihandform: Form 14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ihandform: Form 15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ihandform: Form 16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2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6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7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8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08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2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8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2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uppieren 25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4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dt" idx="3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6399000" cy="110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130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ihandform: Form 14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Freihandform: Form 15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ihandform: Form 16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3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4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4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5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5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6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5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uppieren 28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6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dt" idx="4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4935960" cy="110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72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173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15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18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ihandform: Form 19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3"/>
          <p:cNvSpPr>
            <a:spLocks noGrp="1"/>
          </p:cNvSpPr>
          <p:nvPr>
            <p:ph type="body" hasCustomPrompt="1"/>
          </p:nvPr>
        </p:nvSpPr>
        <p:spPr>
          <a:xfrm>
            <a:off x="5621040" y="1088280"/>
            <a:ext cx="3522240" cy="3825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79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2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8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8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85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1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95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7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99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1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05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9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Gruppieren 28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1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dt" idx="5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250360"/>
            <a:ext cx="2829600" cy="118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16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217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ihandform: Form 17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ihandform: Form 18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ihandform: Form 19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PlaceHolder 3"/>
          <p:cNvSpPr>
            <a:spLocks noGrp="1"/>
          </p:cNvSpPr>
          <p:nvPr>
            <p:ph type="body" hasCustomPrompt="1"/>
          </p:nvPr>
        </p:nvSpPr>
        <p:spPr>
          <a:xfrm>
            <a:off x="3546000" y="1088280"/>
            <a:ext cx="5597280" cy="3825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2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2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22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22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23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24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4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3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uppieren 30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5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PlaceHolder 1"/>
          <p:cNvSpPr>
            <a:spLocks noGrp="1"/>
          </p:cNvSpPr>
          <p:nvPr>
            <p:ph type="dt" idx="6"/>
          </p:nvPr>
        </p:nvSpPr>
        <p:spPr>
          <a:xfrm>
            <a:off x="656496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3818520"/>
            <a:ext cx="577296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261" name="Freihandform: Form 17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ihandform: Form 19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ihandform: Form 20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ihandform: Form 23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PlaceHolder 3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6677640" cy="2395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 hasCustomPrompt="1"/>
          </p:nvPr>
        </p:nvSpPr>
        <p:spPr>
          <a:xfrm>
            <a:off x="6741000" y="1422360"/>
            <a:ext cx="2402280" cy="2395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6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7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27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27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28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28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9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8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99" name="Gruppieren 52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0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30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305" name="Freihandform: Form 35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Freihandform: Form 36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Freihandform: Form 37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Freihandform: Form 38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9" name="Freihandform: Form 39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0" name="Freihandform: Form 40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1" name="Freihandform: Form 17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Freihandform: Form 18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Freihandform: Form 19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315" name="Freihandform: Form 33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6" name="Freihandform: Form 34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7" name="Freihandform: Form 21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319" name="Freihandform: Form 31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Freihandform: Form 32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1" name="Freihandform: Form 2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Freihandform: Form 24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Freihandform: Form 25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325" name="Freihandform: Form 27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Freihandform: Form 28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Freihandform: Form 29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8" name="Freihandform: Form 30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29" name="Grafik 11"/>
          <p:cNvSpPr/>
          <p:nvPr/>
        </p:nvSpPr>
        <p:spPr>
          <a:xfrm>
            <a:off x="0" y="0"/>
            <a:ext cx="3731400" cy="4914360"/>
          </a:xfrm>
          <a:custGeom>
            <a:avLst/>
            <a:gdLst>
              <a:gd name="textAreaLeft" fmla="*/ 0 w 3731400"/>
              <a:gd name="textAreaRight" fmla="*/ 3732120 w 3731400"/>
              <a:gd name="textAreaTop" fmla="*/ 0 h 4914360"/>
              <a:gd name="textAreaBottom" fmla="*/ 4915080 h 491436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1"/>
          <p:cNvSpPr>
            <a:spLocks noGrp="1"/>
          </p:cNvSpPr>
          <p:nvPr>
            <p:ph type="ftr" idx="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2489957-6859-49EE-9211-01B4797B817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title" hasCustomPrompt="1"/>
          </p:nvPr>
        </p:nvSpPr>
        <p:spPr>
          <a:xfrm>
            <a:off x="4464000" y="330840"/>
            <a:ext cx="288864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333" name="Gerader Verbinder 45"/>
          <p:cNvCxnSpPr/>
          <p:nvPr/>
        </p:nvCxnSpPr>
        <p:spPr>
          <a:xfrm>
            <a:off x="4464000" y="974520"/>
            <a:ext cx="289008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334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824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764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3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4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4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34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34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4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35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35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36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6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264E2BA-C08D-4088-BF2A-B913438D589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4517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37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72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7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7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7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38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38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8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39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39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40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05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2EE32C8-5F6B-4779-B780-34FEBE14B1F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224136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5"/>
          <p:cNvSpPr>
            <a:spLocks noGrp="1"/>
          </p:cNvSpPr>
          <p:nvPr>
            <p:ph type="body" hasCustomPrompt="1"/>
          </p:nvPr>
        </p:nvSpPr>
        <p:spPr>
          <a:xfrm>
            <a:off x="6921000" y="1422360"/>
            <a:ext cx="2222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37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72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14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17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18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419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420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2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3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4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6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9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430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2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3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434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5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6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9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440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1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2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3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44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45" name="Gruppieren 53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46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9" name="PlaceHolder 1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 type="sldNum" idx="1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5E7AE3F-4CEB-4C17-AAC4-520C7529178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700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452" name="Gerader Verbinder 46"/>
          <p:cNvCxnSpPr/>
          <p:nvPr/>
        </p:nvCxnSpPr>
        <p:spPr>
          <a:xfrm>
            <a:off x="4625640" y="974520"/>
            <a:ext cx="272844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453" name="PlaceHolder 4"/>
          <p:cNvSpPr>
            <a:spLocks noGrp="1"/>
          </p:cNvSpPr>
          <p:nvPr>
            <p:ph type="body" hasCustomPrompt="1"/>
          </p:nvPr>
        </p:nvSpPr>
        <p:spPr>
          <a:xfrm>
            <a:off x="-6120" y="0"/>
            <a:ext cx="4276440" cy="4914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708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6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56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457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458" name="Freihandform: Form 68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9" name="Freihandform: Form 69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0" name="Freihandform: Form 70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1" name="Freihandform: Form 71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2" name="Freihandform: Form 72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3" name="Freihandform: Form 73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4" name="Freihandform: Form 45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Freihandform: Form 4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6" name="Freihandform: Form 4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7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468" name="Freihandform: Form 66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9" name="Freihandform: Form 67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0" name="Freihandform: Form 50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1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472" name="Freihandform: Form 6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3" name="Freihandform: Form 6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4" name="Freihandform: Form 52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Freihandform: Form 5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Freihandform: Form 5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7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478" name="Freihandform: Form 6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9" name="Freihandform: Form 6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0" name="Freihandform: Form 6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1" name="Freihandform: Form 6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8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8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8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48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48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9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49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50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50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13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14" name="Gruppieren 54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51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8" name="PlaceHolder 1"/>
          <p:cNvSpPr>
            <a:spLocks noGrp="1"/>
          </p:cNvSpPr>
          <p:nvPr>
            <p:ph type="ftr" idx="1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 type="sldNum" idx="16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503E665-996C-4690-AB3D-BC00CF97741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700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521" name="Gerader Verbinder 47"/>
          <p:cNvCxnSpPr/>
          <p:nvPr/>
        </p:nvCxnSpPr>
        <p:spPr>
          <a:xfrm>
            <a:off x="4625640" y="974520"/>
            <a:ext cx="272844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522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4275360" cy="2430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5"/>
          <p:cNvSpPr>
            <a:spLocks noGrp="1"/>
          </p:cNvSpPr>
          <p:nvPr>
            <p:ph type="body" hasCustomPrompt="1"/>
          </p:nvPr>
        </p:nvSpPr>
        <p:spPr>
          <a:xfrm>
            <a:off x="0" y="2493720"/>
            <a:ext cx="4275360" cy="2420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960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960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526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27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28" name="Freihandform: Form 69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9" name="Freihandform: Form 70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0" name="Freihandform: Form 71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Freihandform: Form 72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2" name="Freihandform: Form 73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3" name="Freihandform: Form 74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4" name="Freihandform: Form 45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5" name="Freihandform: Form 46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6" name="Freihandform: Form 49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7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538" name="Freihandform: Form 67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9" name="Freihandform: Form 68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0" name="Freihandform: Form 51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1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542" name="Freihandform: Form 65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3" name="Freihandform: Form 66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4" name="Freihandform: Form 5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5" name="Freihandform: Form 58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6" name="Freihandform: Form 59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7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548" name="Freihandform: Form 61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Freihandform: Form 62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Freihandform: Form 63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Freihandform: Form 64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55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5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5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5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5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56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57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57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8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85" name="PlaceHolder 2"/>
          <p:cNvSpPr>
            <a:spLocks noGrp="1"/>
          </p:cNvSpPr>
          <p:nvPr>
            <p:ph type="ftr" idx="1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1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DD2DD74-E845-46FF-A27D-4047137E22A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454392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5"/>
          <p:cNvSpPr>
            <a:spLocks noGrp="1"/>
          </p:cNvSpPr>
          <p:nvPr>
            <p:ph type="body" hasCustomPrompt="1"/>
          </p:nvPr>
        </p:nvSpPr>
        <p:spPr>
          <a:xfrm>
            <a:off x="4599360" y="1422360"/>
            <a:ext cx="454392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59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94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95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96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97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8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9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1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2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3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4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5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6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07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9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0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11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2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13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6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617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8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9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21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23" name="PlaceHolder 2"/>
          <p:cNvSpPr>
            <a:spLocks noGrp="1"/>
          </p:cNvSpPr>
          <p:nvPr>
            <p:ph type="ftr" idx="1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2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6EC47DF-FBDD-41A1-B6AD-65100FFC355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2978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26" name="PlaceHolder 5"/>
          <p:cNvSpPr>
            <a:spLocks noGrp="1"/>
          </p:cNvSpPr>
          <p:nvPr>
            <p:ph type="body" hasCustomPrompt="1"/>
          </p:nvPr>
        </p:nvSpPr>
        <p:spPr>
          <a:xfrm>
            <a:off x="3032640" y="1422360"/>
            <a:ext cx="307836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6"/>
          <p:cNvSpPr>
            <a:spLocks noGrp="1"/>
          </p:cNvSpPr>
          <p:nvPr>
            <p:ph type="body" hasCustomPrompt="1"/>
          </p:nvPr>
        </p:nvSpPr>
        <p:spPr>
          <a:xfrm>
            <a:off x="6165000" y="1422360"/>
            <a:ext cx="2978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9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63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33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34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635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636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7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8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9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0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1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42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5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46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7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48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9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50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1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2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4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5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656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9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60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62" name="PlaceHolder 2"/>
          <p:cNvSpPr>
            <a:spLocks noGrp="1"/>
          </p:cNvSpPr>
          <p:nvPr>
            <p:ph type="ftr" idx="2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2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CD52F0D-E874-4D2E-8C22-B80FE11A374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9143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65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66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7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7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67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67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8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8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8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8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69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9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2"/>
          <p:cNvSpPr>
            <a:spLocks noGrp="1"/>
          </p:cNvSpPr>
          <p:nvPr>
            <p:ph type="ftr" idx="2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2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8010016-9ACE-4625-AFE2-B7E9FEB586B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70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0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0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70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70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1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71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72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72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3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2"/>
          <p:cNvSpPr>
            <a:spLocks noGrp="1"/>
          </p:cNvSpPr>
          <p:nvPr>
            <p:ph type="ftr" idx="2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PlaceHolder 3"/>
          <p:cNvSpPr>
            <a:spLocks noGrp="1"/>
          </p:cNvSpPr>
          <p:nvPr>
            <p:ph type="sldNum" idx="26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8B8CABF-CC3F-46D0-B86A-677DFE5C383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73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4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4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74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74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5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5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75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5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5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75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76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68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70" name="PlaceHolder 2"/>
          <p:cNvSpPr>
            <a:spLocks noGrp="1"/>
          </p:cNvSpPr>
          <p:nvPr>
            <p:ph type="ftr" idx="2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sldNum" idx="2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20FDF82-8BE5-44BA-96A3-B33F0C8B01A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100360" cy="3310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3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77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7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7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78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78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8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79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79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80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05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6" name="PlaceHolder 1"/>
          <p:cNvSpPr>
            <a:spLocks noGrp="1"/>
          </p:cNvSpPr>
          <p:nvPr>
            <p:ph type="ftr" idx="2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PlaceHolder 2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2F4FED8-DF4D-4FFC-A04C-5C3D61CF380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09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0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1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12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1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1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815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6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7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8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9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0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21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2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3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825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6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27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829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0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31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3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835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6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7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8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39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40" name="Gruppieren 49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4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44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000" cy="91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45" name="Grafik 11"/>
          <p:cNvSpPr/>
          <p:nvPr/>
        </p:nvSpPr>
        <p:spPr>
          <a:xfrm>
            <a:off x="0" y="0"/>
            <a:ext cx="3731400" cy="4914360"/>
          </a:xfrm>
          <a:custGeom>
            <a:avLst/>
            <a:gdLst>
              <a:gd name="textAreaLeft" fmla="*/ 0 w 3731400"/>
              <a:gd name="textAreaRight" fmla="*/ 3732120 w 3731400"/>
              <a:gd name="textAreaTop" fmla="*/ 0 h 4914360"/>
              <a:gd name="textAreaBottom" fmla="*/ 4915080 h 491436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PlaceHolder 2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PlaceHolder 3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2BF0392-BBB9-4C18-875A-ED4EF2C59DB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48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49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850" name="Freihandform: Form 65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Freihandform: Form 66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2" name="Freihandform: Form 67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" name="Freihandform: Form 68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4" name="Freihandform: Form 69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" name="Freihandform: Form 70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6" name="Freihandform: Form 43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7" name="Freihandform: Form 44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Freihandform: Form 45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9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860" name="Freihandform: Form 63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1" name="Freihandform: Form 64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2" name="Freihandform: Form 47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63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864" name="Freihandform: Form 61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5" name="Freihandform: Form 62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6" name="Freihandform: Form 5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Freihandform: Form 54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8" name="Freihandform: Form 55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69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870" name="Freihandform: Form 57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1" name="Freihandform: Form 58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2" name="Freihandform: Form 59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3" name="Freihandform: Form 60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7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7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7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8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88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89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89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0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90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05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06" name="Gruppieren 49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0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0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000" cy="91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11" name="PlaceHolder 2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PlaceHolder 3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8F8F2F2-8493-4938-95D6-FD3977CCCEE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1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1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15" name="Freihandform: Form 65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Freihandform: Form 66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Freihandform: Form 67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Freihandform: Form 68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Freihandform: Form 69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Freihandform: Form 70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1" name="Freihandform: Form 43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Freihandform: Form 44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" name="Freihandform: Form 45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925" name="Freihandform: Form 63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Freihandform: Form 64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7" name="Freihandform: Form 47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929" name="Freihandform: Form 61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0" name="Freihandform: Form 62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1" name="Freihandform: Form 5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Freihandform: Form 54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Freihandform: Form 55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935" name="Freihandform: Form 57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Freihandform: Form 58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Freihandform: Form 59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8" name="Freihandform: Form 60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9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4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43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44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45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46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7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8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9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0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1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2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3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4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5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956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8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9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960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1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2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3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4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5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966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7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8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9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70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1" name="PlaceHolder 1"/>
          <p:cNvSpPr>
            <a:spLocks noGrp="1"/>
          </p:cNvSpPr>
          <p:nvPr>
            <p:ph type="title" hasCustomPrompt="1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72" name="PlaceHolder 2"/>
          <p:cNvSpPr>
            <a:spLocks noGrp="1"/>
          </p:cNvSpPr>
          <p:nvPr>
            <p:ph type="sldNum" idx="35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4F7753A-C903-4074-BF64-5E5D5756EB7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PlaceHolder 3"/>
          <p:cNvSpPr>
            <a:spLocks noGrp="1"/>
          </p:cNvSpPr>
          <p:nvPr>
            <p:ph type="ftr" idx="3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PlaceHolder 4"/>
          <p:cNvSpPr>
            <a:spLocks noGrp="1"/>
          </p:cNvSpPr>
          <p:nvPr>
            <p:ph type="body" hasCustomPrompt="1"/>
          </p:nvPr>
        </p:nvSpPr>
        <p:spPr>
          <a:xfrm>
            <a:off x="5488200" y="1422360"/>
            <a:ext cx="36550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5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568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7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8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8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8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8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99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99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00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0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09" name="PlaceHolder 2"/>
          <p:cNvSpPr>
            <a:spLocks noGrp="1"/>
          </p:cNvSpPr>
          <p:nvPr>
            <p:ph type="ftr" idx="3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sldNum" idx="3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D7A0816-37E9-4AB9-84A9-3C00D50A70E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PlaceHolder 4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01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1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1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01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01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02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03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03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4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45" name="PlaceHolder 2"/>
          <p:cNvSpPr>
            <a:spLocks noGrp="1"/>
          </p:cNvSpPr>
          <p:nvPr>
            <p:ph type="ftr" idx="3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PlaceHolder 3"/>
          <p:cNvSpPr>
            <a:spLocks noGrp="1"/>
          </p:cNvSpPr>
          <p:nvPr>
            <p:ph type="sldNum" idx="4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47CBA87-736C-49FB-ADC7-1030974FEF3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10036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8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9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05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53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54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055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056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7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8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9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0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1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2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3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4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5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066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7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8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9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070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1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2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3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4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5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076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7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8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9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80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82" name="PlaceHolder 2"/>
          <p:cNvSpPr>
            <a:spLocks noGrp="1"/>
          </p:cNvSpPr>
          <p:nvPr>
            <p:ph type="ftr" idx="4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PlaceHolder 3"/>
          <p:cNvSpPr>
            <a:spLocks noGrp="1"/>
          </p:cNvSpPr>
          <p:nvPr>
            <p:ph type="sldNum" idx="4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6E4D022-A5FD-47D4-9AB5-C66B3A05EA6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920" cy="3423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5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720" cy="3423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08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9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9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09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09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10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0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1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1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19" name="PlaceHolder 2"/>
          <p:cNvSpPr>
            <a:spLocks noGrp="1"/>
          </p:cNvSpPr>
          <p:nvPr>
            <p:ph type="ftr" idx="4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PlaceHolder 3"/>
          <p:cNvSpPr>
            <a:spLocks noGrp="1"/>
          </p:cNvSpPr>
          <p:nvPr>
            <p:ph type="sldNum" idx="4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B52A7D2-3E47-40F9-AA3F-C91C224AD09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9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2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624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200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24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200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5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126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8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29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30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131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132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3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5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6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7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8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9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0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1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142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3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4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5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46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7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8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9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0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1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52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3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56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58" name="PlaceHolder 2"/>
          <p:cNvSpPr>
            <a:spLocks noGrp="1"/>
          </p:cNvSpPr>
          <p:nvPr>
            <p:ph type="sldNum" idx="45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07069A8-3928-463E-B3EB-8CE2B90A03D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PlaceHolder 3"/>
          <p:cNvSpPr>
            <a:spLocks noGrp="1"/>
          </p:cNvSpPr>
          <p:nvPr>
            <p:ph type="ftr" idx="4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PlaceHolder 4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8099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61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16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6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6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16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16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17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8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8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9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95" name="PlaceHolder 2"/>
          <p:cNvSpPr>
            <a:spLocks noGrp="1"/>
          </p:cNvSpPr>
          <p:nvPr>
            <p:ph type="sldNum" idx="47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C0C4C59-0A2E-496D-8B88-E78DACE5DDA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PlaceHolder 3"/>
          <p:cNvSpPr>
            <a:spLocks noGrp="1"/>
          </p:cNvSpPr>
          <p:nvPr>
            <p:ph type="ftr" idx="4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9020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8" name="PlaceHolder 5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5309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99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0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04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05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206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207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8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9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1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2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3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16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217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8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9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0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221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2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3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4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5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6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227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8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9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0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31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3" name="PlaceHolder 2"/>
          <p:cNvSpPr>
            <a:spLocks noGrp="1"/>
          </p:cNvSpPr>
          <p:nvPr>
            <p:ph type="sldNum" idx="49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2027E2E-AA67-4F75-97DA-CE14EA4CE45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PlaceHolder 3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9020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6" name="PlaceHolder 5"/>
          <p:cNvSpPr>
            <a:spLocks noGrp="1"/>
          </p:cNvSpPr>
          <p:nvPr>
            <p:ph type="body" hasCustomPrompt="1"/>
          </p:nvPr>
        </p:nvSpPr>
        <p:spPr>
          <a:xfrm>
            <a:off x="3311640" y="1422360"/>
            <a:ext cx="5309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7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8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39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0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1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2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4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24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245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6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7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8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9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1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2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3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255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7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259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1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3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265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8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69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1" name="PlaceHolder 2"/>
          <p:cNvSpPr>
            <a:spLocks noGrp="1"/>
          </p:cNvSpPr>
          <p:nvPr>
            <p:ph type="ftr" idx="5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PlaceHolder 3"/>
          <p:cNvSpPr>
            <a:spLocks noGrp="1"/>
          </p:cNvSpPr>
          <p:nvPr>
            <p:ph type="sldNum" idx="5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3353D5B-7BC0-4488-9029-3DB948DCCD6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9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09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409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6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27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7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8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28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28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29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29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30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8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0" name="PlaceHolder 2"/>
          <p:cNvSpPr>
            <a:spLocks noGrp="1"/>
          </p:cNvSpPr>
          <p:nvPr>
            <p:ph type="ftr" idx="5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PlaceHolder 3"/>
          <p:cNvSpPr>
            <a:spLocks noGrp="1"/>
          </p:cNvSpPr>
          <p:nvPr>
            <p:ph type="sldNum" idx="5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96D9A76-C9C1-4E86-A1F7-486627537B6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9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3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7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1134720"/>
            <a:ext cx="4949280" cy="234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Betriebssysteme und Systemprogrammierung</a:t>
            </a:r>
            <a:br>
              <a:rPr sz="3600"/>
            </a:br>
            <a:br>
              <a:rPr sz="2800"/>
            </a:b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4. Rust (Part 2)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2" name="PlaceHolder 2"/>
          <p:cNvSpPr>
            <a:spLocks noGrp="1"/>
          </p:cNvSpPr>
          <p:nvPr>
            <p:ph type="subTitle"/>
          </p:nvPr>
        </p:nvSpPr>
        <p:spPr>
          <a:xfrm>
            <a:off x="3654360" y="3871080"/>
            <a:ext cx="4400280" cy="6040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Michael Schöttner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4.1 Outline</a:t>
            </a:r>
            <a:endParaRPr lang="en-GB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4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Basics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Advanced stuff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Unsafe stuff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4.1 Outline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27CEA329-E6B5-4215-B937-B7DBCCB46C5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4.2 Advanced stuff</a:t>
            </a:r>
            <a:endParaRPr lang="en-GB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6" name="PlaceHolder 2"/>
          <p:cNvSpPr>
            <a:spLocks noGrp="1"/>
          </p:cNvSpPr>
          <p:nvPr>
            <p:ph type="ftr" idx="5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Memory regions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Traits &amp; Generics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Printing structs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Option &amp; Error handling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Modules &amp; cargo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Slices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String vs str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Life times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Unsafe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23EE681-364D-4BFA-9DAB-AB84008AFE2F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Memory regions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9" name="PlaceHolder 2"/>
          <p:cNvSpPr>
            <a:spLocks noGrp="1"/>
          </p:cNvSpPr>
          <p:nvPr>
            <p:ph type="ftr" idx="5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62164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Data memory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 data that is fixed in size and static (i.e. always available through life of program).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Compilers make lots of optimizations with this kind of data, and they are generally </a:t>
            </a:r>
            <a:br>
              <a:rPr sz="1400"/>
            </a:b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considered very fast to use since locations are known and fixed.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Stack memory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 data that is declared as variables within a function.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location of this memory never changes for the duration of a function call; </a:t>
            </a:r>
            <a:br>
              <a:rPr sz="1400"/>
            </a:b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because of this compilers can optimize code so stack data is very fast to access.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Heap memory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 dynamically created data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Data in this region may be added, moved, removed, resized, etc.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Because of its dynamic nature it's generally considered slower to use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3D98E219-31EE-496D-A503-476C8A2F7211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Example: data &amp; stack memory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2" name="PlaceHolder 2"/>
          <p:cNvSpPr>
            <a:spLocks noGrp="1"/>
          </p:cNvSpPr>
          <p:nvPr>
            <p:ph type="ftr" idx="6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26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 instantiating a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struct Person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on the stack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string literal </a:t>
            </a:r>
            <a:r>
              <a:rPr lang="en-GB" sz="14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"Rust"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is read only, placed in data memory region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function call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Menlo"/>
              </a:rPr>
              <a:t>String::from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 creates a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Menlo"/>
              </a:rPr>
              <a:t>struct String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 that is placed in the stack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34" name="TextBox 3"/>
          <p:cNvSpPr/>
          <p:nvPr/>
        </p:nvSpPr>
        <p:spPr>
          <a:xfrm>
            <a:off x="1115640" y="2119320"/>
            <a:ext cx="6237000" cy="2759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   // data is on stack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person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A737D"/>
                </a:solidFill>
                <a:effectLst/>
                <a:uFillTx/>
                <a:latin typeface="Menlo"/>
              </a:rPr>
              <a:t>      </a:t>
            </a: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// String struct is also on stack,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      // but holds a reference to data on heap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   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from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"Rust"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24F6689E-4B5B-4B17-A7B5-B28B91A46414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Example: data &amp; stack memory (2)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6" name="PlaceHolder 2"/>
          <p:cNvSpPr>
            <a:spLocks noGrp="1"/>
          </p:cNvSpPr>
          <p:nvPr>
            <p:ph type="ftr" idx="6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26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 2: instantiating a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struct Person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on the stack using an own </a:t>
            </a:r>
            <a:r>
              <a:rPr lang="en-US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  <a:ea typeface="Menlo"/>
              </a:rPr>
              <a:t>new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 function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38" name="TextBox 3"/>
          <p:cNvSpPr/>
          <p:nvPr/>
        </p:nvSpPr>
        <p:spPr>
          <a:xfrm>
            <a:off x="827640" y="1566720"/>
            <a:ext cx="6525000" cy="2759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impl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   // Function for creating a new Person on the Stack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new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   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name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// fn main(), see previous slide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0F41EFE-FE55-4925-A940-399E8DD5CBB9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Example: heap memory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0" name="PlaceHolder 2"/>
          <p:cNvSpPr>
            <a:spLocks noGrp="1"/>
          </p:cNvSpPr>
          <p:nvPr>
            <p:ph type="ftr" idx="62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26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Box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a data structure that allows us to move our data from the stack to the heap.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2" name="TextBox 3"/>
          <p:cNvSpPr/>
          <p:nvPr/>
        </p:nvSpPr>
        <p:spPr>
          <a:xfrm>
            <a:off x="755640" y="1600200"/>
            <a:ext cx="7920000" cy="25538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   // instantiate Person and put it in a Box, stored in heap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person_boxed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Box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new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from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"BS-E"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), } 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"Name: {}"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person_boxed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name);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18125636-C5CB-48E6-819A-2FB4C52E3414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Example: heap memory (2)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4" name="PlaceHolder 2"/>
          <p:cNvSpPr>
            <a:spLocks noGrp="1"/>
          </p:cNvSpPr>
          <p:nvPr>
            <p:ph type="ftr" idx="6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26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same example, this time with an own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Menlo"/>
              </a:rPr>
              <a:t>new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 function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6" name="TextBox 3"/>
          <p:cNvSpPr/>
          <p:nvPr/>
        </p:nvSpPr>
        <p:spPr>
          <a:xfrm>
            <a:off x="827640" y="1578240"/>
            <a:ext cx="6525000" cy="25538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impl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   // Function for creating a new boxed Person stored in heap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new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Box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  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Box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new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name })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6095603-66A0-49FE-ADDD-58D69B51B3F5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Traits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8" name="PlaceHolder 2"/>
          <p:cNvSpPr>
            <a:spLocks noGrp="1"/>
          </p:cNvSpPr>
          <p:nvPr>
            <p:ph type="ftr" idx="64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trait is a collection of methods that a type can implement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Traits: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One type can implement many traits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Describe behaviour but do </a:t>
            </a:r>
            <a:r>
              <a:rPr lang="en-GB" sz="14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not</a:t>
            </a:r>
            <a:r>
              <a:rPr lang="en-GB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 define a type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Traits allow defining shared behaviour between different types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0" name="TextBox 2"/>
          <p:cNvSpPr/>
          <p:nvPr/>
        </p:nvSpPr>
        <p:spPr>
          <a:xfrm>
            <a:off x="1115640" y="2703960"/>
            <a:ext cx="5914800" cy="23842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impl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Greet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hello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&amp;self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"Hello, I'm {}"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self.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name);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person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from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"ABC"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), };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person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hello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1" name="TextBox 4"/>
          <p:cNvSpPr/>
          <p:nvPr/>
        </p:nvSpPr>
        <p:spPr>
          <a:xfrm>
            <a:off x="6503760" y="1190160"/>
            <a:ext cx="2537640" cy="15278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trait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Greet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hello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&amp;self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2" name="TextBox 1"/>
          <p:cNvSpPr/>
          <p:nvPr/>
        </p:nvSpPr>
        <p:spPr>
          <a:xfrm>
            <a:off x="6300360" y="2760480"/>
            <a:ext cx="66492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rait.rs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BF91779-F8D7-4694-BC7A-3097D4762FD4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Traits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4" name="PlaceHolder 2"/>
          <p:cNvSpPr>
            <a:spLocks noGrp="1"/>
          </p:cNvSpPr>
          <p:nvPr>
            <p:ph type="ftr" idx="6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Traits describe behaviour but </a:t>
            </a:r>
            <a:r>
              <a:rPr lang="en-GB" sz="16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do not define a type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6" name="TextBox 2"/>
          <p:cNvSpPr/>
          <p:nvPr/>
        </p:nvSpPr>
        <p:spPr>
          <a:xfrm>
            <a:off x="827640" y="1648800"/>
            <a:ext cx="6525000" cy="2759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trait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Greet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hello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&amp;self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person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from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"ABC"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), };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 greet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Greet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 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greet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hello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7" name="TextBox 3"/>
          <p:cNvSpPr/>
          <p:nvPr/>
        </p:nvSpPr>
        <p:spPr>
          <a:xfrm>
            <a:off x="6642720" y="1710720"/>
            <a:ext cx="66492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rait.rs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0160C40-39C7-40B5-90BB-2357B8D24D80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TextBox 1"/>
          <p:cNvSpPr/>
          <p:nvPr/>
        </p:nvSpPr>
        <p:spPr>
          <a:xfrm>
            <a:off x="827640" y="1648800"/>
            <a:ext cx="6525000" cy="2759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trait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Greet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hello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&amp;self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person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from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"ABC"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), };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 greet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Greet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 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greet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hello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Traits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0" name="PlaceHolder 2"/>
          <p:cNvSpPr>
            <a:spLocks noGrp="1"/>
          </p:cNvSpPr>
          <p:nvPr>
            <p:ph type="ftr" idx="6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Traits describe behaviour but do not define a type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2" name="TextBox 10"/>
          <p:cNvSpPr/>
          <p:nvPr/>
        </p:nvSpPr>
        <p:spPr>
          <a:xfrm>
            <a:off x="6042960" y="1665000"/>
            <a:ext cx="2879640" cy="92304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Rust needs to know </a:t>
            </a:r>
            <a:r>
              <a:rPr lang="en-GB" sz="135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 compile time</a:t>
            </a:r>
            <a:r>
              <a:rPr lang="en-GB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how much space any variable takes. But a trait alone doesn’t tell Rust anything about the size.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3" name="Picture 17"/>
          <p:cNvPicPr/>
          <p:nvPr/>
        </p:nvPicPr>
        <p:blipFill>
          <a:blip r:embed="rId1"/>
          <a:stretch/>
        </p:blipFill>
        <p:spPr>
          <a:xfrm>
            <a:off x="518400" y="-5760"/>
            <a:ext cx="7581240" cy="15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4" name="TextBox 3"/>
          <p:cNvSpPr/>
          <p:nvPr/>
        </p:nvSpPr>
        <p:spPr>
          <a:xfrm>
            <a:off x="6642720" y="4087080"/>
            <a:ext cx="66492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rait.rs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8E37B751-E270-422E-9A59-30536ADFFFA6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Borrowed Trait Object</a:t>
            </a:r>
            <a:endParaRPr lang="en-GB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6" name="PlaceHolder 2"/>
          <p:cNvSpPr>
            <a:spLocks noGrp="1"/>
          </p:cNvSpPr>
          <p:nvPr>
            <p:ph type="ftr" idx="6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&amp;dyn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Trait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 → borrowed trait object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8" name="TextBox 2"/>
          <p:cNvSpPr/>
          <p:nvPr/>
        </p:nvSpPr>
        <p:spPr>
          <a:xfrm>
            <a:off x="827640" y="1648800"/>
            <a:ext cx="6525000" cy="31694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trait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Greet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hello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&amp;self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person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from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"ABC"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), };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person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hello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greet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&amp;dyn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Greet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person;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greet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hello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69" name="Gruppierung 10"/>
          <p:cNvGrpSpPr/>
          <p:nvPr/>
        </p:nvGrpSpPr>
        <p:grpSpPr>
          <a:xfrm>
            <a:off x="4569480" y="4028400"/>
            <a:ext cx="482400" cy="435960"/>
            <a:chOff x="4569480" y="4028400"/>
            <a:chExt cx="482400" cy="435960"/>
          </a:xfrm>
        </p:grpSpPr>
        <p:sp>
          <p:nvSpPr>
            <p:cNvPr id="1370" name="Rechteck 12"/>
            <p:cNvSpPr/>
            <p:nvPr/>
          </p:nvSpPr>
          <p:spPr>
            <a:xfrm flipV="1" rot="1984800">
              <a:off x="4845960" y="4013280"/>
              <a:ext cx="85680" cy="46476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2840" tIns="45000" rIns="4284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1" name="Rechteck 14"/>
            <p:cNvSpPr/>
            <p:nvPr/>
          </p:nvSpPr>
          <p:spPr>
            <a:xfrm flipV="1" rot="18169200">
              <a:off x="4657680" y="4222440"/>
              <a:ext cx="89640" cy="25884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000" tIns="45000" rIns="4500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72" name="TextBox 8"/>
          <p:cNvSpPr/>
          <p:nvPr/>
        </p:nvSpPr>
        <p:spPr>
          <a:xfrm>
            <a:off x="4500000" y="1270440"/>
            <a:ext cx="4316400" cy="196236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6861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can’t use a trait as a bare type.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6861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must use </a:t>
            </a:r>
            <a:r>
              <a:rPr lang="en-GB" sz="135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dyn Greet </a:t>
            </a:r>
            <a:r>
              <a:rPr lang="en-GB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make a </a:t>
            </a:r>
            <a:r>
              <a:rPr lang="en-GB" sz="135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trait object</a:t>
            </a:r>
            <a:r>
              <a:rPr lang="en-GB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6861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size for values of type </a:t>
            </a:r>
            <a:r>
              <a:rPr lang="en-GB" sz="135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dyn Greet </a:t>
            </a: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cannot be known at compilation time. </a:t>
            </a:r>
            <a:br>
              <a:rPr sz="1350"/>
            </a:b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Can’t store </a:t>
            </a:r>
            <a:r>
              <a:rPr lang="en-GB" sz="135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dyn Greet </a:t>
            </a: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directly by value.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6861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trait object (</a:t>
            </a:r>
            <a:r>
              <a:rPr lang="en-GB" sz="135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dyn Greet</a:t>
            </a: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 could be any type implementing </a:t>
            </a:r>
            <a:r>
              <a:rPr lang="en-GB" sz="135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Greet</a:t>
            </a: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so its size is unknown </a:t>
            </a:r>
            <a:br>
              <a:rPr sz="1350"/>
            </a:b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you must use a pointer to it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6861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size of the pointer is known at compile time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TextBox 9"/>
          <p:cNvSpPr/>
          <p:nvPr/>
        </p:nvSpPr>
        <p:spPr>
          <a:xfrm>
            <a:off x="6658560" y="4471920"/>
            <a:ext cx="66492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rait.rs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ECBBD52-09FA-494E-B320-05FB001FE484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Owned Trait Object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5" name="PlaceHolder 2"/>
          <p:cNvSpPr>
            <a:spLocks noGrp="1"/>
          </p:cNvSpPr>
          <p:nvPr>
            <p:ph type="ftr" idx="6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Box&lt;dyn Trait&gt; 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owned trait object on the heap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77" name="TextBox 2"/>
          <p:cNvSpPr/>
          <p:nvPr/>
        </p:nvSpPr>
        <p:spPr>
          <a:xfrm>
            <a:off x="827640" y="1648800"/>
            <a:ext cx="6525000" cy="31694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trait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Greet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hello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&amp;self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person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Person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name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from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"ABC"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), };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person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hello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greet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Box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dyn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Greet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Box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new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(person);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greet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hello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8" name="TextBox 1"/>
          <p:cNvSpPr/>
          <p:nvPr/>
        </p:nvSpPr>
        <p:spPr>
          <a:xfrm>
            <a:off x="6588360" y="1710720"/>
            <a:ext cx="66492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rait.rs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C2B1927-8859-4F39-9BDD-EA31CD1E9BF6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When to use which trait object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0" name="PlaceHolder 2"/>
          <p:cNvSpPr>
            <a:spLocks noGrp="1"/>
          </p:cNvSpPr>
          <p:nvPr>
            <p:ph type="ftr" idx="6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 borrowed trait object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dyn &amp;Trait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when: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 just want to call trait methods on it.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 do not need ownership, just a read-only (or &amp;mut) view.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 don’t want extra heap allocation.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 owned trait object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Box&lt;dyn Trait&gt;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when: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 want to own “some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Greet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” without knowing its concrete type at compile time.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 need to store it in a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struct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or pass it around by value.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 might mix different types that all implement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Greet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 one collection.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E3281F0-07A7-4241-A69E-F8CC9C06483D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Generics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3" name="PlaceHolder 2"/>
          <p:cNvSpPr>
            <a:spLocks noGrp="1"/>
          </p:cNvSpPr>
          <p:nvPr>
            <p:ph type="ftr" idx="7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Generics let you write code once that works with </a:t>
            </a:r>
            <a:r>
              <a:rPr lang="en-GB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many types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Rust generally can infer the final type by looking at our instantiation, </a:t>
            </a:r>
            <a:br>
              <a:rPr sz="1600"/>
            </a:b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but if it needs help you can always be explicit using the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::&lt;T&gt;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operator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5" name="TextBox 8"/>
          <p:cNvSpPr/>
          <p:nvPr/>
        </p:nvSpPr>
        <p:spPr>
          <a:xfrm>
            <a:off x="2195640" y="2551680"/>
            <a:ext cx="4575960" cy="19382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Point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p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Point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&gt; {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5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};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q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Point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1.2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3.4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};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TextBox 1"/>
          <p:cNvSpPr/>
          <p:nvPr/>
        </p:nvSpPr>
        <p:spPr>
          <a:xfrm>
            <a:off x="5701320" y="2575080"/>
            <a:ext cx="103032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generics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.rs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AFB455AD-956E-4DDA-9FC9-7E48B039D6F6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Generics (2)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8" name="PlaceHolder 2"/>
          <p:cNvSpPr>
            <a:spLocks noGrp="1"/>
          </p:cNvSpPr>
          <p:nvPr>
            <p:ph type="ftr" idx="7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Implementing functions for a generic type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Associated function: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Because it’s associated with the type, not with a specific instance of that type.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Similar to static methods in Java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Self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type being implemented, here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Point&lt;T&gt;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self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refers to the instance the method was called on.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0" name="TextBox 8"/>
          <p:cNvSpPr/>
          <p:nvPr/>
        </p:nvSpPr>
        <p:spPr>
          <a:xfrm>
            <a:off x="827640" y="3007080"/>
            <a:ext cx="6525000" cy="15278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impl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Point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6A737D"/>
                </a:solidFill>
                <a:effectLst/>
                <a:uFillTx/>
                <a:latin typeface="Menlo"/>
              </a:rPr>
              <a:t>// Associated function (constructor)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new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Self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   Point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x, y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1" name="TextBox 1"/>
          <p:cNvSpPr/>
          <p:nvPr/>
        </p:nvSpPr>
        <p:spPr>
          <a:xfrm>
            <a:off x="6156000" y="3030120"/>
            <a:ext cx="112644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generics2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.rs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2E6B6219-F68F-4144-B7A5-97CB86184608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Generics (2)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3" name="PlaceHolder 2"/>
          <p:cNvSpPr>
            <a:spLocks noGrp="1"/>
          </p:cNvSpPr>
          <p:nvPr>
            <p:ph type="ftr" idx="72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Implementing functions for a generic type which have trait bounds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5" name="TextBox 3"/>
          <p:cNvSpPr/>
          <p:nvPr/>
        </p:nvSpPr>
        <p:spPr>
          <a:xfrm>
            <a:off x="827640" y="1578240"/>
            <a:ext cx="6525000" cy="29642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impl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std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ops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AddAssign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&gt;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Point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&gt; 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6A737D"/>
                </a:solidFill>
                <a:effectLst/>
                <a:uFillTx/>
                <a:latin typeface="Menlo"/>
              </a:rPr>
              <a:t>// Associated function (constructor)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new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Self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   Point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x, y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   // Move the point (mutates it)</a:t>
            </a:r>
            <a:br>
              <a:rPr sz="1350"/>
            </a:b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   // requires T to implement AddAssign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move_by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self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dx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dy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   self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 </a:t>
            </a:r>
            <a:r>
              <a:rPr lang="en-GB" sz="1350" b="0" u="sng" strike="noStrike">
                <a:solidFill>
                  <a:srgbClr val="D73A49"/>
                </a:solidFill>
                <a:effectLst/>
                <a:uFillTx/>
                <a:latin typeface="Menlo"/>
              </a:rPr>
              <a:t>+=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dx;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   self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 </a:t>
            </a:r>
            <a:r>
              <a:rPr lang="en-GB" sz="1350" b="0" u="sng" strike="noStrike">
                <a:solidFill>
                  <a:srgbClr val="D73A49"/>
                </a:solidFill>
                <a:effectLst/>
                <a:uFillTx/>
                <a:latin typeface="Menlo"/>
              </a:rPr>
              <a:t>+=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dy;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6" name="TextBox 1"/>
          <p:cNvSpPr/>
          <p:nvPr/>
        </p:nvSpPr>
        <p:spPr>
          <a:xfrm>
            <a:off x="6156000" y="1638720"/>
            <a:ext cx="112644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generics3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.rs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C5F1A175-C5BE-42AA-99E0-35ABB9D3A172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Printing structs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8" name="PlaceHolder 2"/>
          <p:cNvSpPr>
            <a:spLocks noGrp="1"/>
          </p:cNvSpPr>
          <p:nvPr>
            <p:ph type="ftr" idx="7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Derive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Menlo"/>
              </a:rPr>
              <a:t>trait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Menlo"/>
                <a:ea typeface="Menlo"/>
              </a:rPr>
              <a:t> Debug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Pretty-printed debug output: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Menlo"/>
              </a:rPr>
              <a:t>{:#?}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 or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Menlo"/>
              </a:rPr>
              <a:t>{:?}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0" name="TextBox 4"/>
          <p:cNvSpPr/>
          <p:nvPr/>
        </p:nvSpPr>
        <p:spPr>
          <a:xfrm>
            <a:off x="883800" y="3310560"/>
            <a:ext cx="6468840" cy="1292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$ ./test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vector = Vector { x: 42, y: 41 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vector = Vector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 x: 42,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 y: 41,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1" name="TextBox 5"/>
          <p:cNvSpPr/>
          <p:nvPr/>
        </p:nvSpPr>
        <p:spPr>
          <a:xfrm>
            <a:off x="869040" y="1580040"/>
            <a:ext cx="3791880" cy="11174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#[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derive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Debug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)]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i64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i64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2" name="TextBox 11"/>
          <p:cNvSpPr/>
          <p:nvPr/>
        </p:nvSpPr>
        <p:spPr>
          <a:xfrm>
            <a:off x="3420000" y="1576440"/>
            <a:ext cx="4337640" cy="11174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vector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41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};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"vector = </a:t>
            </a:r>
            <a:r>
              <a:rPr lang="en-GB" sz="1350" b="0" u="none" strike="noStrike">
                <a:solidFill>
                  <a:srgbClr val="032F62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{:#?}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vector);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"vector = </a:t>
            </a:r>
            <a:r>
              <a:rPr lang="en-GB" sz="1350" b="0" u="none" strike="noStrike">
                <a:solidFill>
                  <a:srgbClr val="032F62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{:?}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vector);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8FAF2573-0E6D-41D3-B7E3-8C0569928BEB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Implementing </a:t>
            </a: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Courier New"/>
                <a:ea typeface="Menlo"/>
              </a:rPr>
              <a:t>trait Debug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04" name="PlaceHolder 2"/>
          <p:cNvSpPr>
            <a:spLocks noGrp="1"/>
          </p:cNvSpPr>
          <p:nvPr>
            <p:ph type="ftr" idx="74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TextBox 4"/>
          <p:cNvSpPr/>
          <p:nvPr/>
        </p:nvSpPr>
        <p:spPr>
          <a:xfrm>
            <a:off x="735480" y="4385160"/>
            <a:ext cx="7230240" cy="49176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$ ./test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vector = Vector [0x2a, 0x29]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TextBox 2"/>
          <p:cNvSpPr/>
          <p:nvPr/>
        </p:nvSpPr>
        <p:spPr>
          <a:xfrm>
            <a:off x="725760" y="1132920"/>
            <a:ext cx="7230240" cy="31694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i64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i64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impl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std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fmt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Debug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fmt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&amp;self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f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std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fmt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Formatter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std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fmt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Result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   write!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(f, 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"Vector [0x{:x}, 0x{:x}]"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self.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self.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y)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vector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41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};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"vector = {:?}"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vector);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TextBox 8"/>
          <p:cNvSpPr/>
          <p:nvPr/>
        </p:nvSpPr>
        <p:spPr>
          <a:xfrm>
            <a:off x="7020360" y="1206720"/>
            <a:ext cx="85716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debug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.rs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36985229-B79C-4331-A2D2-C813B09BD00D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Generics &amp; Traits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09" name="PlaceHolder 2"/>
          <p:cNvSpPr>
            <a:spLocks noGrp="1"/>
          </p:cNvSpPr>
          <p:nvPr>
            <p:ph type="ftr" idx="7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Traits can be used to set requirements for generic types.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Alternative, often more readable notation, using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where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1" name="TextBox 2"/>
          <p:cNvSpPr/>
          <p:nvPr/>
        </p:nvSpPr>
        <p:spPr>
          <a:xfrm>
            <a:off x="755640" y="1632600"/>
            <a:ext cx="6597000" cy="707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print_debug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std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fmt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Debug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&gt;(</a:t>
            </a:r>
            <a:r>
              <a:rPr lang="en-GB" sz="1350" b="0" u="none" strike="noStrike">
                <a:solidFill>
                  <a:srgbClr val="E36209"/>
                </a:solidFill>
                <a:effectLst/>
                <a:uFillTx/>
                <a:latin typeface="Menlo"/>
              </a:rPr>
              <a:t>value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"{:?}"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E36209"/>
                </a:solidFill>
                <a:effectLst/>
                <a:uFillTx/>
                <a:latin typeface="Menlo"/>
              </a:rPr>
              <a:t>value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TextBox 4"/>
          <p:cNvSpPr/>
          <p:nvPr/>
        </p:nvSpPr>
        <p:spPr>
          <a:xfrm>
            <a:off x="740520" y="3163320"/>
            <a:ext cx="6612120" cy="13226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print_debug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&gt;(</a:t>
            </a:r>
            <a:r>
              <a:rPr lang="en-GB" sz="1350" b="0" u="none" strike="noStrike">
                <a:solidFill>
                  <a:srgbClr val="E36209"/>
                </a:solidFill>
                <a:effectLst/>
                <a:uFillTx/>
                <a:latin typeface="Menlo"/>
              </a:rPr>
              <a:t>value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where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T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std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fmt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Debug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"{:?}"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E36209"/>
                </a:solidFill>
                <a:effectLst/>
                <a:uFillTx/>
                <a:latin typeface="Menlo"/>
              </a:rPr>
              <a:t>value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B55D0E18-22EC-4CAA-8D3F-29B7B27C9AF0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Options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14" name="PlaceHolder 2"/>
          <p:cNvSpPr>
            <a:spLocks noGrp="1"/>
          </p:cNvSpPr>
          <p:nvPr>
            <p:ph type="ftr" idx="7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Pointers are never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null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 What if you actually </a:t>
            </a:r>
            <a:r>
              <a:rPr lang="en-US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want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something to be null?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 an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Option&lt;T&gt;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Here's the definition of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Option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from the standard library: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Two possible cases: the option is either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None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or it is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Some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an Option is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Some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the value in the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Some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variant will always be a valid value of type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6" name="TextBox 2"/>
          <p:cNvSpPr/>
          <p:nvPr/>
        </p:nvSpPr>
        <p:spPr>
          <a:xfrm>
            <a:off x="827640" y="2147760"/>
            <a:ext cx="6525000" cy="9122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pub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enum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Option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&gt;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None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Some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68B9CCE-C0FA-49A4-831D-80D8064B81B0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TextBox 10"/>
          <p:cNvSpPr/>
          <p:nvPr/>
        </p:nvSpPr>
        <p:spPr>
          <a:xfrm>
            <a:off x="858240" y="2514960"/>
            <a:ext cx="6593400" cy="707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4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// This type annotation is not necessary.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Option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&gt;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Some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assert!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is_some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Option Example 1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19" name="PlaceHolder 2"/>
          <p:cNvSpPr>
            <a:spLocks noGrp="1"/>
          </p:cNvSpPr>
          <p:nvPr>
            <p:ph type="ftr" idx="7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Rectangular Callout 2"/>
          <p:cNvSpPr/>
          <p:nvPr/>
        </p:nvSpPr>
        <p:spPr>
          <a:xfrm>
            <a:off x="971640" y="3392640"/>
            <a:ext cx="1684080" cy="278640"/>
          </a:xfrm>
          <a:prstGeom prst="wedgeRectCallout">
            <a:avLst>
              <a:gd name="adj1" fmla="val -29052"/>
              <a:gd name="adj2" fmla="val -124150"/>
            </a:avLst>
          </a:prstGeom>
          <a:solidFill>
            <a:schemeClr val="bg1"/>
          </a:solidFill>
          <a:ln w="9525">
            <a:solidFill>
              <a:srgbClr val="0039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anics if 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x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none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 can check content of Option using: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is_some()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or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is_none()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assert!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a macro for testing or ensuring invariants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it fails it will cause a panic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panic happens when the program encounters a situation it can’t safely continue from.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ABB86DA0-0AF4-43C8-9AAF-BC8D20AED61F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TextBox 10"/>
          <p:cNvSpPr/>
          <p:nvPr/>
        </p:nvSpPr>
        <p:spPr>
          <a:xfrm>
            <a:off x="786240" y="2142720"/>
            <a:ext cx="6566400" cy="5468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y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unwrap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 </a:t>
            </a: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// get the value out of Option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assert_eq!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(y,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Option Example 2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24" name="PlaceHolder 2"/>
          <p:cNvSpPr>
            <a:spLocks noGrp="1"/>
          </p:cNvSpPr>
          <p:nvPr>
            <p:ph type="ftr" idx="7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Rectangular Callout 4"/>
          <p:cNvSpPr/>
          <p:nvPr/>
        </p:nvSpPr>
        <p:spPr>
          <a:xfrm>
            <a:off x="3291120" y="2541600"/>
            <a:ext cx="1583280" cy="278640"/>
          </a:xfrm>
          <a:prstGeom prst="wedgeRectCallout">
            <a:avLst>
              <a:gd name="adj1" fmla="val -86916"/>
              <a:gd name="adj2" fmla="val -92011"/>
            </a:avLst>
          </a:prstGeom>
          <a:solidFill>
            <a:schemeClr val="bg1"/>
          </a:solidFill>
          <a:ln w="9525">
            <a:solidFill>
              <a:srgbClr val="0039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anic if 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x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none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Rectangular Callout 5"/>
          <p:cNvSpPr/>
          <p:nvPr/>
        </p:nvSpPr>
        <p:spPr>
          <a:xfrm>
            <a:off x="971640" y="2840400"/>
            <a:ext cx="1583280" cy="278640"/>
          </a:xfrm>
          <a:prstGeom prst="wedgeRectCallout">
            <a:avLst>
              <a:gd name="adj1" fmla="val -34252"/>
              <a:gd name="adj2" fmla="val -106339"/>
            </a:avLst>
          </a:prstGeom>
          <a:solidFill>
            <a:schemeClr val="bg1"/>
          </a:solidFill>
          <a:ln w="9525">
            <a:solidFill>
              <a:srgbClr val="0039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anic if 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y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!= 4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7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unwrap()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a shortcut that extracts the inner value of an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Option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the value is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Some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it returns the inner value.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the value is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None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it panics (crashes your program)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expect()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does the same as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unwrap()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but panics with a given message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8" name="TextBox 6"/>
          <p:cNvSpPr/>
          <p:nvPr/>
        </p:nvSpPr>
        <p:spPr>
          <a:xfrm>
            <a:off x="813600" y="3665160"/>
            <a:ext cx="6566400" cy="5468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  <a:ea typeface="Source Han Sans CN"/>
              </a:rPr>
              <a:t>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  <a:ea typeface="Source Han Sans CN"/>
              </a:rPr>
              <a:t> y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  <a:ea typeface="Source Han Sans CN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  <a:ea typeface="Source Han Sans CN"/>
              </a:rPr>
              <a:t>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  <a:ea typeface="Source Han Sans CN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  <a:ea typeface="Source Han Sans CN"/>
              </a:rPr>
              <a:t>expect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  <a:ea typeface="Source Han Sans CN"/>
              </a:rPr>
              <a:t>(</a:t>
            </a: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”Error: x is none”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assert_eq!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(y,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EFF44FD-6944-4BD7-940D-C41841EC5AB3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TextBox 10"/>
          <p:cNvSpPr/>
          <p:nvPr/>
        </p:nvSpPr>
        <p:spPr>
          <a:xfrm>
            <a:off x="827640" y="1571400"/>
            <a:ext cx="6525000" cy="14612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w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Some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from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"hello"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match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w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Some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(s)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"{} world!"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s),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None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panic!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"didn't expect to get here"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Option Example 3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31" name="PlaceHolder 2"/>
          <p:cNvSpPr>
            <a:spLocks noGrp="1"/>
          </p:cNvSpPr>
          <p:nvPr>
            <p:ph type="ftr" idx="7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Rectangular Callout 7"/>
          <p:cNvSpPr/>
          <p:nvPr/>
        </p:nvSpPr>
        <p:spPr>
          <a:xfrm>
            <a:off x="4932000" y="1782720"/>
            <a:ext cx="2231640" cy="278640"/>
          </a:xfrm>
          <a:prstGeom prst="wedgeRectCallout">
            <a:avLst>
              <a:gd name="adj1" fmla="val -62737"/>
              <a:gd name="adj2" fmla="val 122889"/>
            </a:avLst>
          </a:prstGeom>
          <a:solidFill>
            <a:schemeClr val="bg1"/>
          </a:solidFill>
          <a:ln w="9525">
            <a:solidFill>
              <a:srgbClr val="0039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w</a:t>
            </a: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</a:t>
            </a: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Some</a:t>
            </a: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accessible in </a:t>
            </a: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Check content of option using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match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367D621-0060-4A7D-9A0F-F0D75B327E69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Error handling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35" name="PlaceHolder 2"/>
          <p:cNvSpPr>
            <a:spLocks noGrp="1"/>
          </p:cNvSpPr>
          <p:nvPr>
            <p:ph type="ftr" idx="8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Most languages handle errors via one of two ways: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try/catch exceptions (Python, Java, JavaScript, etc.)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Returning a separate error value (C)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Many times, errors are not handled properly or are tedious to handle.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Rust tries to make error handling easier.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It's not always smooth sailing though.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44711C5-A827-4203-9AD9-65E446FD7021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Error handling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38" name="PlaceHolder 2"/>
          <p:cNvSpPr>
            <a:spLocks noGrp="1"/>
          </p:cNvSpPr>
          <p:nvPr>
            <p:ph type="ftr" idx="8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26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idiomatic way to handle errors in Rust is via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Result&lt;T, E&gt;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Functions that may not complete successfully should return a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Result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the result is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Ok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the caller can access the returned value (of generic type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the result is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Err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additional information (of generic type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E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 about the error is returned.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a program cannot recover from an error, </a:t>
            </a:r>
            <a:br>
              <a:rPr sz="1600"/>
            </a:b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 can explicitly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panic!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instead of returning a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Result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40" name="TextBox 2"/>
          <p:cNvSpPr/>
          <p:nvPr/>
        </p:nvSpPr>
        <p:spPr>
          <a:xfrm>
            <a:off x="827640" y="1566720"/>
            <a:ext cx="6525000" cy="9122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pub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enum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Result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&gt;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Ok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Err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843DCC8-5694-4FA0-928A-65DF52EDA86E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Error handling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42" name="PlaceHolder 2"/>
          <p:cNvSpPr>
            <a:spLocks noGrp="1"/>
          </p:cNvSpPr>
          <p:nvPr>
            <p:ph type="ftr" idx="82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26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Opening a file can fail, so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File::open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returns a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Result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check if the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open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was successful, if not, we panic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44" name="TextBox 2"/>
          <p:cNvSpPr/>
          <p:nvPr/>
        </p:nvSpPr>
        <p:spPr>
          <a:xfrm>
            <a:off x="827640" y="1566720"/>
            <a:ext cx="7272000" cy="21535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use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std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fs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File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open_res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File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open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"hello.txt"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f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match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open_res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   Ok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(file)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file,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   Err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(error)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panic!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"Problem opening the file: {:?}"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error),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1E89845-51A5-4857-A18B-D4B3E34E73E7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Error handling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46" name="PlaceHolder 2"/>
          <p:cNvSpPr>
            <a:spLocks noGrp="1"/>
          </p:cNvSpPr>
          <p:nvPr>
            <p:ph type="ftr" idx="8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26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Matching on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Results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all the time can be tedious.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If we know we are going to panic on an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Err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, we can use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unwrap()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instead: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unwrap()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panics on error</a:t>
            </a:r>
            <a:br>
              <a:rPr sz="1600"/>
            </a:b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otherwise, it returns the data contained in the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Ok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variant.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48" name="TextBox 2"/>
          <p:cNvSpPr/>
          <p:nvPr/>
        </p:nvSpPr>
        <p:spPr>
          <a:xfrm>
            <a:off x="827640" y="1978560"/>
            <a:ext cx="6525000" cy="11174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use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std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fs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File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f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File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open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"hello.txt"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unwrap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F2741129-DA0F-4043-939A-CA7EA3D10119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Error handling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50" name="PlaceHolder 2"/>
          <p:cNvSpPr>
            <a:spLocks noGrp="1"/>
          </p:cNvSpPr>
          <p:nvPr>
            <p:ph type="ftr" idx="84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26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Another shortcut is the </a:t>
            </a:r>
            <a:r>
              <a:rPr lang="en-US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?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operator: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a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Result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an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Err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US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?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causes the function to return that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Err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Otherwise, </a:t>
            </a:r>
            <a:r>
              <a:rPr lang="en-US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?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unwraps the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OK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variant.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Works only if used within a function that returns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Result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52" name="TextBox 2"/>
          <p:cNvSpPr/>
          <p:nvPr/>
        </p:nvSpPr>
        <p:spPr>
          <a:xfrm>
            <a:off x="827640" y="1566720"/>
            <a:ext cx="6525000" cy="1733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use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std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fs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File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use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std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io;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use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std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io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Read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read_file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Result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io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Error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&gt;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f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File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open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"hello.txt"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?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s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new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f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read_to_string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s)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?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Ok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(s)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TextBox 4"/>
          <p:cNvSpPr/>
          <p:nvPr/>
        </p:nvSpPr>
        <p:spPr>
          <a:xfrm>
            <a:off x="6518880" y="1638720"/>
            <a:ext cx="79956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result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.rs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C5E2C0C-913B-4FCC-9863-B993F86C5020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Unite type </a:t>
            </a: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()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55" name="PlaceHolder 2"/>
          <p:cNvSpPr>
            <a:spLocks noGrp="1"/>
          </p:cNvSpPr>
          <p:nvPr>
            <p:ph type="ftr" idx="8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26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Sometimes you want to return an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Ok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without additional information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Unite type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()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– similar to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void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 other languages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These functions are all equivalent returning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()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57" name="TextBox 3"/>
          <p:cNvSpPr/>
          <p:nvPr/>
        </p:nvSpPr>
        <p:spPr>
          <a:xfrm>
            <a:off x="899640" y="1566720"/>
            <a:ext cx="6453000" cy="9122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my_func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Result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&lt;(),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&gt;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A737D"/>
                </a:solidFill>
                <a:effectLst/>
                <a:uFillTx/>
                <a:latin typeface="Menlo"/>
              </a:rPr>
              <a:t>   // do something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Ok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(())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8" name="TextBox 8"/>
          <p:cNvSpPr/>
          <p:nvPr/>
        </p:nvSpPr>
        <p:spPr>
          <a:xfrm>
            <a:off x="827640" y="3667320"/>
            <a:ext cx="2015640" cy="707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func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()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9" name="TextBox 9"/>
          <p:cNvSpPr/>
          <p:nvPr/>
        </p:nvSpPr>
        <p:spPr>
          <a:xfrm>
            <a:off x="3096000" y="3667320"/>
            <a:ext cx="1619640" cy="707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func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()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0" name="TextBox 10"/>
          <p:cNvSpPr/>
          <p:nvPr/>
        </p:nvSpPr>
        <p:spPr>
          <a:xfrm>
            <a:off x="4932000" y="3667320"/>
            <a:ext cx="1619640" cy="707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func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BBCC571B-A83D-4EFE-87BF-0818F45EBE0A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Modules</a:t>
            </a:r>
            <a:endParaRPr lang="en-GB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2" name="PlaceHolder 2"/>
          <p:cNvSpPr>
            <a:spLocks noGrp="1"/>
          </p:cNvSpPr>
          <p:nvPr>
            <p:ph type="ftr" idx="8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Modules serve as namespaces and are defined using the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mod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keyword.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 is generally private by default → can only be accessed within the current module.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 make something visible outside a module, declare it with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pub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(for public).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4" name="TextBox 2"/>
          <p:cNvSpPr/>
          <p:nvPr/>
        </p:nvSpPr>
        <p:spPr>
          <a:xfrm>
            <a:off x="827640" y="2142720"/>
            <a:ext cx="6525000" cy="21434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mod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inner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pub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add_two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sng" strike="noStrike">
                <a:solidFill>
                  <a:srgbClr val="E36209"/>
                </a:solidFill>
                <a:effectLst/>
                <a:uFillTx/>
                <a:latin typeface="Menlo"/>
              </a:rPr>
              <a:t>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   *</a:t>
            </a:r>
            <a:r>
              <a:rPr lang="en-GB" sz="1350" b="0" u="sng" strike="noStrike">
                <a:solidFill>
                  <a:srgbClr val="E36209"/>
                </a:solidFill>
                <a:effectLst/>
                <a:uFillTx/>
                <a:latin typeface="Menlo"/>
              </a:rPr>
              <a:t>x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sng" strike="noStrike">
                <a:solidFill>
                  <a:srgbClr val="D73A49"/>
                </a:solidFill>
                <a:effectLst/>
                <a:uFillTx/>
                <a:latin typeface="Menlo"/>
              </a:rPr>
              <a:t>+=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outer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sng" strike="noStrike">
                <a:solidFill>
                  <a:srgbClr val="24292E"/>
                </a:solidFill>
                <a:effectLst/>
                <a:uFillTx/>
                <a:latin typeface="Menlo"/>
              </a:rPr>
              <a:t>x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160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inner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add_two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sng" strike="noStrike">
                <a:solidFill>
                  <a:srgbClr val="24292E"/>
                </a:solidFill>
                <a:effectLst/>
                <a:uFillTx/>
                <a:latin typeface="Menlo"/>
              </a:rPr>
              <a:t>x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05A89B0-BD81-48F3-8300-9249C94CF3C7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Modules (2)</a:t>
            </a:r>
            <a:endParaRPr lang="en-GB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6" name="PlaceHolder 2"/>
          <p:cNvSpPr>
            <a:spLocks noGrp="1"/>
          </p:cNvSpPr>
          <p:nvPr>
            <p:ph type="ftr" idx="8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 can move a module to a separate file, but you must import it using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mod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Suppose this is in 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lib.rs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Rust will look for a file called 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inner.rs </a:t>
            </a:r>
            <a:r>
              <a:rPr lang="en-GB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or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 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inner/mod.rs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br>
              <a:rPr sz="1600"/>
            </a:b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which should contain the contents of the module:</a:t>
            </a:r>
            <a:br>
              <a:rPr sz="1600"/>
            </a:b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8" name="TextBox 2"/>
          <p:cNvSpPr/>
          <p:nvPr/>
        </p:nvSpPr>
        <p:spPr>
          <a:xfrm>
            <a:off x="827640" y="3943080"/>
            <a:ext cx="6525000" cy="707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pub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add_two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sng" strike="noStrike">
                <a:solidFill>
                  <a:srgbClr val="E36209"/>
                </a:solidFill>
                <a:effectLst/>
                <a:uFillTx/>
                <a:latin typeface="Menlo"/>
              </a:rPr>
              <a:t>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*</a:t>
            </a:r>
            <a:r>
              <a:rPr lang="en-GB" sz="1350" b="0" u="sng" strike="noStrike">
                <a:solidFill>
                  <a:srgbClr val="E36209"/>
                </a:solidFill>
                <a:effectLst/>
                <a:uFillTx/>
                <a:latin typeface="Menlo"/>
              </a:rPr>
              <a:t>x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sng" strike="noStrike">
                <a:solidFill>
                  <a:srgbClr val="D73A49"/>
                </a:solidFill>
                <a:effectLst/>
                <a:uFillTx/>
                <a:latin typeface="Menlo"/>
              </a:rPr>
              <a:t>+=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9" name="TextBox 1"/>
          <p:cNvSpPr/>
          <p:nvPr/>
        </p:nvSpPr>
        <p:spPr>
          <a:xfrm>
            <a:off x="827640" y="1899720"/>
            <a:ext cx="6525000" cy="13226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mod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inner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outer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sng" strike="noStrike">
                <a:solidFill>
                  <a:srgbClr val="24292E"/>
                </a:solidFill>
                <a:effectLst/>
                <a:uFillTx/>
                <a:latin typeface="Menlo"/>
              </a:rPr>
              <a:t>x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160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inner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add_two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sng" strike="noStrike">
                <a:solidFill>
                  <a:srgbClr val="24292E"/>
                </a:solidFill>
                <a:effectLst/>
                <a:uFillTx/>
                <a:latin typeface="Menlo"/>
              </a:rPr>
              <a:t>x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0" name="TextBox 3"/>
          <p:cNvSpPr/>
          <p:nvPr/>
        </p:nvSpPr>
        <p:spPr>
          <a:xfrm>
            <a:off x="6444360" y="1998720"/>
            <a:ext cx="83808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modules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TextBox 4"/>
          <p:cNvSpPr/>
          <p:nvPr/>
        </p:nvSpPr>
        <p:spPr>
          <a:xfrm>
            <a:off x="6444360" y="4005000"/>
            <a:ext cx="83808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modules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7C241D1-75F6-4C7F-8B02-8627FB6CEDE1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Modules (3)</a:t>
            </a:r>
            <a:endParaRPr lang="en-GB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73" name="PlaceHolder 2"/>
          <p:cNvSpPr>
            <a:spLocks noGrp="1"/>
          </p:cNvSpPr>
          <p:nvPr>
            <p:ph type="ftr" idx="8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Structuring your code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inner/mod.rs 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	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	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	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inner/more.rs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lib.rs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75" name="TextBox 2"/>
          <p:cNvSpPr/>
          <p:nvPr/>
        </p:nvSpPr>
        <p:spPr>
          <a:xfrm>
            <a:off x="1115640" y="1802520"/>
            <a:ext cx="3455640" cy="11174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pub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mod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more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pub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add_two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sng" strike="noStrike">
                <a:solidFill>
                  <a:srgbClr val="E36209"/>
                </a:solidFill>
                <a:effectLst/>
                <a:uFillTx/>
                <a:latin typeface="Menlo"/>
              </a:rPr>
              <a:t>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*</a:t>
            </a:r>
            <a:r>
              <a:rPr lang="en-GB" sz="1350" b="0" u="sng" strike="noStrike">
                <a:solidFill>
                  <a:srgbClr val="E36209"/>
                </a:solidFill>
                <a:effectLst/>
                <a:uFillTx/>
                <a:latin typeface="Menlo"/>
              </a:rPr>
              <a:t>x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sng" strike="noStrike">
                <a:solidFill>
                  <a:srgbClr val="D73A49"/>
                </a:solidFill>
                <a:effectLst/>
                <a:uFillTx/>
                <a:latin typeface="Menlo"/>
              </a:rPr>
              <a:t>+=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6" name="TextBox 3"/>
          <p:cNvSpPr/>
          <p:nvPr/>
        </p:nvSpPr>
        <p:spPr>
          <a:xfrm>
            <a:off x="6347880" y="1867320"/>
            <a:ext cx="93420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modules2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TextBox 11"/>
          <p:cNvSpPr/>
          <p:nvPr/>
        </p:nvSpPr>
        <p:spPr>
          <a:xfrm>
            <a:off x="5255640" y="1823400"/>
            <a:ext cx="3492360" cy="11174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pub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mod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more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pub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add_threeo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sng" strike="noStrike">
                <a:solidFill>
                  <a:srgbClr val="E36209"/>
                </a:solidFill>
                <a:effectLst/>
                <a:uFillTx/>
                <a:latin typeface="Menlo"/>
              </a:rPr>
              <a:t>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*</a:t>
            </a:r>
            <a:r>
              <a:rPr lang="en-GB" sz="1350" b="0" u="sng" strike="noStrike">
                <a:solidFill>
                  <a:srgbClr val="E36209"/>
                </a:solidFill>
                <a:effectLst/>
                <a:uFillTx/>
                <a:latin typeface="Menlo"/>
              </a:rPr>
              <a:t>x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sng" strike="noStrike">
                <a:solidFill>
                  <a:srgbClr val="D73A49"/>
                </a:solidFill>
                <a:effectLst/>
                <a:uFillTx/>
                <a:latin typeface="Menlo"/>
              </a:rPr>
              <a:t>+=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3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8" name="TextBox 17"/>
          <p:cNvSpPr/>
          <p:nvPr/>
        </p:nvSpPr>
        <p:spPr>
          <a:xfrm>
            <a:off x="1905840" y="3121560"/>
            <a:ext cx="4574520" cy="19382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mod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inner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outer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x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160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inner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add_two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x);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inner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more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add_three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x);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outer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9" name="TextBox 15"/>
          <p:cNvSpPr/>
          <p:nvPr/>
        </p:nvSpPr>
        <p:spPr>
          <a:xfrm>
            <a:off x="5509440" y="3145320"/>
            <a:ext cx="93420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modules2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0" name="TextBox 1"/>
          <p:cNvSpPr/>
          <p:nvPr/>
        </p:nvSpPr>
        <p:spPr>
          <a:xfrm>
            <a:off x="3564000" y="1854720"/>
            <a:ext cx="93420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modules2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1" name="TextBox 4"/>
          <p:cNvSpPr/>
          <p:nvPr/>
        </p:nvSpPr>
        <p:spPr>
          <a:xfrm>
            <a:off x="7748280" y="1868400"/>
            <a:ext cx="93420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modules2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9DB28FD-2D14-4DAE-806C-028F9B72F8A5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Modules (4)</a:t>
            </a:r>
            <a:endParaRPr lang="en-GB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83" name="PlaceHolder 2"/>
          <p:cNvSpPr>
            <a:spLocks noGrp="1"/>
          </p:cNvSpPr>
          <p:nvPr>
            <p:ph type="ftr" idx="8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370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 can always use any (public) code by using the fully qualified name (eg.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 inner::add_two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use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declarations let you "import" items so you don't have to use the full name each time: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 can also </a:t>
            </a:r>
            <a:r>
              <a:rPr lang="en-GB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rename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items when </a:t>
            </a:r>
            <a:br>
              <a:rPr sz="1600"/>
            </a:b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 import them →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85" name="TextBox 1"/>
          <p:cNvSpPr/>
          <p:nvPr/>
        </p:nvSpPr>
        <p:spPr>
          <a:xfrm>
            <a:off x="827640" y="2142720"/>
            <a:ext cx="3599640" cy="1733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mod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inner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use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inner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add_two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outer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sng" strike="noStrike">
                <a:solidFill>
                  <a:srgbClr val="24292E"/>
                </a:solidFill>
                <a:effectLst/>
                <a:uFillTx/>
                <a:latin typeface="Menlo"/>
              </a:rPr>
              <a:t>x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160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add_two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sng" strike="noStrike">
                <a:solidFill>
                  <a:srgbClr val="24292E"/>
                </a:solidFill>
                <a:effectLst/>
                <a:uFillTx/>
                <a:latin typeface="Menlo"/>
              </a:rPr>
              <a:t>x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6" name="TextBox 3"/>
          <p:cNvSpPr/>
          <p:nvPr/>
        </p:nvSpPr>
        <p:spPr>
          <a:xfrm>
            <a:off x="4572000" y="4111200"/>
            <a:ext cx="3599640" cy="707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use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inner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add_two</a:t>
            </a: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as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add2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(...);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20D74CD5-26FA-4FEC-AD5C-B0695F6E63D2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Crates</a:t>
            </a:r>
            <a:endParaRPr lang="en-GB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88" name="PlaceHolder 2"/>
          <p:cNvSpPr>
            <a:spLocks noGrp="1"/>
          </p:cNvSpPr>
          <p:nvPr>
            <p:ph type="ftr" idx="9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crate is the biggest unit of code Rust compiles at once.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Crates (~ packages) contain modules.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crate is a library or a binary/executable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root file is: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src/lib.rs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for a library crate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src/main.rs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for a binary crate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 can publish a crate to </a:t>
            </a:r>
            <a:r>
              <a:rPr lang="en-GB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crates.io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 or use it locally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sng" strike="noStrike">
                <a:solidFill>
                  <a:srgbClr val="0432FF"/>
                </a:solidFill>
                <a:effectLst/>
                <a:uFillTx/>
                <a:latin typeface="Arial"/>
              </a:rPr>
              <a:t>https://crates.io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The Rust community’s crate registry</a:t>
            </a:r>
            <a:br>
              <a:rPr sz="1400"/>
            </a:b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3BEAFD5-2BAC-4023-96C2-11985A0E1A9A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Cargo</a:t>
            </a:r>
            <a:endParaRPr lang="en-GB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91" name="PlaceHolder 2"/>
          <p:cNvSpPr>
            <a:spLocks noGrp="1"/>
          </p:cNvSpPr>
          <p:nvPr>
            <p:ph type="ftr" idx="9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Important tool for handling rust projects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Building and running apps and tests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Dependency management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Building and checking code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Running tests and examples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Creating new crates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Publishing packages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Managing workspaces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Keeping versions reproducible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84B2CBC-7482-4F4E-ADF9-F3D2CB2E5DC4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Cargo dependencies: </a:t>
            </a: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Cargo.toml</a:t>
            </a:r>
            <a:endParaRPr lang="en-GB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94" name="PlaceHolder 2"/>
          <p:cNvSpPr>
            <a:spLocks noGrp="1"/>
          </p:cNvSpPr>
          <p:nvPr>
            <p:ph type="ftr" idx="92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 can import crates to leverage code that other people write.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Do this by adding to your 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Cargo.toml 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file.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You'll then be able to use all public items from that crate. </a:t>
            </a:r>
            <a:br>
              <a:rPr sz="1600"/>
            </a:b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96" name="TextBox 1"/>
          <p:cNvSpPr/>
          <p:nvPr/>
        </p:nvSpPr>
        <p:spPr>
          <a:xfrm>
            <a:off x="827640" y="2425320"/>
            <a:ext cx="2735640" cy="16920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Menlo"/>
              </a:rPr>
              <a:t>[package]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Menlo"/>
              </a:rPr>
              <a:t>name = "hello-crate"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Menlo"/>
              </a:rPr>
              <a:t>version = "0.1.0"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Menlo"/>
              </a:rPr>
              <a:t>edition = "2021"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Menlo"/>
              </a:rPr>
              <a:t>[dependencies]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rand = "0.8”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TextBox 2"/>
          <p:cNvSpPr/>
          <p:nvPr/>
        </p:nvSpPr>
        <p:spPr>
          <a:xfrm>
            <a:off x="3843000" y="2425320"/>
            <a:ext cx="4574520" cy="16920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use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rand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Rng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 </a:t>
            </a: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// Import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rng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rand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thread_rng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rng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gen_range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..=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6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"Gewürfelt: {x}"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TextBox 3"/>
          <p:cNvSpPr/>
          <p:nvPr/>
        </p:nvSpPr>
        <p:spPr>
          <a:xfrm>
            <a:off x="7542720" y="2446200"/>
            <a:ext cx="80928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cargo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.rs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B2972C0-6162-4AC6-9104-8FF619E04327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Cargo dependencies: </a:t>
            </a: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Cargo.lock</a:t>
            </a:r>
            <a:endParaRPr lang="en-GB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0" name="PlaceHolder 2"/>
          <p:cNvSpPr>
            <a:spLocks noGrp="1"/>
          </p:cNvSpPr>
          <p:nvPr>
            <p:ph type="ftr" idx="9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Tracks all transitive dependencies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Should not be edited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Maintained by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cargo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Important command: cargo update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Update </a:t>
            </a:r>
            <a:r>
              <a:rPr lang="en-GB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 dependencies to the newest allowed versions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A0307B0-EE8A-4E48-8BC7-15A7C5E82A86}" type="slidenum">
              <a:t>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Slices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3" name="PlaceHolder 2"/>
          <p:cNvSpPr>
            <a:spLocks noGrp="1"/>
          </p:cNvSpPr>
          <p:nvPr>
            <p:ph type="ftr" idx="94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10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Slice: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Menlo"/>
              </a:rPr>
              <a:t>&amp;[T]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 represents a view into a contiguous sequence of elements of type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Menlo"/>
              </a:rPr>
              <a:t>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10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Slices are lightweight abstractions that provide a safe and efficient way to work </a:t>
            </a:r>
            <a:br>
              <a:rPr sz="1600"/>
            </a:b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with a portion of a collection without needing to copy the data.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10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Data is only </a:t>
            </a:r>
            <a:r>
              <a:rPr lang="en-US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  <a:ea typeface="Menlo"/>
              </a:rPr>
              <a:t>borrowed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05" name="TextBox 2"/>
          <p:cNvSpPr/>
          <p:nvPr/>
        </p:nvSpPr>
        <p:spPr>
          <a:xfrm>
            <a:off x="827640" y="2529720"/>
            <a:ext cx="6525000" cy="23486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numbers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[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3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5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];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   // Take a slice of the array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slice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numbers[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..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]; </a:t>
            </a:r>
            <a:r>
              <a:rPr lang="en-GB" sz="1350" b="0" u="none" strike="noStrike">
                <a:solidFill>
                  <a:srgbClr val="6A737D"/>
                </a:solidFill>
                <a:effectLst/>
                <a:uFillTx/>
                <a:latin typeface="Menlo"/>
              </a:rPr>
              <a:t>// Slice from [1,..4(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   // Iterate over the slice and print each element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num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slice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"{}"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num);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319EDAB-5E48-4C93-BDF8-02AEF5CBF164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Mutable Slices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7" name="PlaceHolder 2"/>
          <p:cNvSpPr>
            <a:spLocks noGrp="1"/>
          </p:cNvSpPr>
          <p:nvPr>
            <p:ph type="ftr" idx="9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Slices can also be </a:t>
            </a:r>
            <a:r>
              <a:rPr lang="en-US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borrowed mutable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09" name="TextBox 3"/>
          <p:cNvSpPr/>
          <p:nvPr/>
        </p:nvSpPr>
        <p:spPr>
          <a:xfrm>
            <a:off x="827640" y="1566720"/>
            <a:ext cx="6525000" cy="29642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numbers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[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3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5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];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   // Take a slice of the array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mut_slice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numbers[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..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3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]; </a:t>
            </a: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// Slice from [1,..3(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n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mut_slice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iter_mut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  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*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n </a:t>
            </a:r>
            <a:r>
              <a:rPr lang="en-GB" sz="1350" b="0" u="sng" strike="noStrike">
                <a:solidFill>
                  <a:srgbClr val="D73A49"/>
                </a:solidFill>
                <a:effectLst/>
                <a:uFillTx/>
                <a:latin typeface="Menlo"/>
              </a:rPr>
              <a:t>+=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num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numbers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"{}"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num);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TextBox 4"/>
          <p:cNvSpPr/>
          <p:nvPr/>
        </p:nvSpPr>
        <p:spPr>
          <a:xfrm>
            <a:off x="6498360" y="1638720"/>
            <a:ext cx="80928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slices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.rs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30F446B0-9AF1-47DE-A22D-7094958EFB50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Does this work?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12" name="PlaceHolder 2"/>
          <p:cNvSpPr>
            <a:spLocks noGrp="1"/>
          </p:cNvSpPr>
          <p:nvPr>
            <p:ph type="ftr" idx="9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TextBox 1"/>
          <p:cNvSpPr/>
          <p:nvPr/>
        </p:nvSpPr>
        <p:spPr>
          <a:xfrm>
            <a:off x="529920" y="1206720"/>
            <a:ext cx="6822720" cy="21434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numbers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[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3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5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];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   // Take a slice of the array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mut_slice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numbers[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..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]; </a:t>
            </a: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// Slice from [1,..2(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mut_slice[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]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numbers[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]  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mut_slice[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]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3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8C3B5D73-F2B7-4AF0-9228-EF3C2550A623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Does this work? - No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15" name="PlaceHolder 2"/>
          <p:cNvSpPr>
            <a:spLocks noGrp="1"/>
          </p:cNvSpPr>
          <p:nvPr>
            <p:ph type="ftr" idx="9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TextBox 1"/>
          <p:cNvSpPr/>
          <p:nvPr/>
        </p:nvSpPr>
        <p:spPr>
          <a:xfrm>
            <a:off x="529920" y="774720"/>
            <a:ext cx="6822720" cy="21434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numbers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[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3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5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];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   // Take a slice of the array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mut_slice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numbers[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..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]; </a:t>
            </a: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// Slice from [1,..2(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mut_slice[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]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numbers[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]  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mut_slice[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]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3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7" name="Picture 2"/>
          <p:cNvPicPr/>
          <p:nvPr/>
        </p:nvPicPr>
        <p:blipFill>
          <a:blip r:embed="rId1"/>
          <a:stretch/>
        </p:blipFill>
        <p:spPr>
          <a:xfrm>
            <a:off x="539640" y="2948760"/>
            <a:ext cx="7771680" cy="219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EBC24C4-630F-4B04-BA85-C892175B0FD4}" type="slidenum">
              <a:t>42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Slices – Summary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19" name="PlaceHolder 2"/>
          <p:cNvSpPr>
            <a:spLocks noGrp="1"/>
          </p:cNvSpPr>
          <p:nvPr>
            <p:ph type="ftr" idx="9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Inhaltsplatzhalter 7"/>
          <p:cNvSpPr/>
          <p:nvPr/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Slices are often used in Rust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They are lightweight → data is neither copied nor moved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Slices are safe →  bounds checked as well as borrow checker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87E2C95D-71B2-4F6C-8231-9D4CA341CFFF}" type="slidenum">
              <a:t>43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String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22" name="PlaceHolder 2"/>
          <p:cNvSpPr>
            <a:spLocks noGrp="1"/>
          </p:cNvSpPr>
          <p:nvPr>
            <p:ph type="ftr" idx="9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26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String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is a growable and mutable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Lives in the heap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Is mutable and can alter its size and contents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Variables of type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String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are </a:t>
            </a: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fat pointers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3 x 8 byte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Pointer to actual data on the heap, it points to the first character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Length of the string (# of characters)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Capacity of the string on the heap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24" name="TextBox 3"/>
          <p:cNvSpPr/>
          <p:nvPr/>
        </p:nvSpPr>
        <p:spPr>
          <a:xfrm>
            <a:off x="1115640" y="3223080"/>
            <a:ext cx="6237000" cy="13226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// Create a new mutable empty String in the heap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s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String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new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// Push characters onto the String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s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push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'h'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s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push_str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"ello"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26ADF2E-7905-4833-9830-70772D813A49}" type="slidenum">
              <a:t>44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&amp;str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26" name="PlaceHolder 2"/>
          <p:cNvSpPr>
            <a:spLocks noGrp="1"/>
          </p:cNvSpPr>
          <p:nvPr>
            <p:ph type="ftr" idx="10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26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&amp;str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This denotes a reference to a string slice.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101592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&amp;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Indicates that it's a reference, meaning it doesn't own the data it points to. </a:t>
            </a:r>
            <a:br>
              <a:rPr sz="1400"/>
            </a:b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Instead, it borrows the data from another location.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101592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str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Indicates that the data being referenced is a string slice.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101592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Immutable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101592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Variables of type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&amp;str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are </a:t>
            </a: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fat pointers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2 x 8 byte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101592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Pointer to the start of string data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101592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Length of the string slice (# of bytes)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101592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String literals are stored in read-only memory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101592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&amp;str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can also borrow all or part of a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String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 heap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BD3FCCAB-9C3B-44A6-B199-29A2F177A817}" type="slidenum">
              <a:t>45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String</a:t>
            </a: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 vs </a:t>
            </a: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&amp;str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29" name="PlaceHolder 2"/>
          <p:cNvSpPr>
            <a:spLocks noGrp="1"/>
          </p:cNvSpPr>
          <p:nvPr>
            <p:ph type="ftr" idx="10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30" name="Picture 2" descr="enter image description here"/>
          <p:cNvPicPr/>
          <p:nvPr/>
        </p:nvPicPr>
        <p:blipFill>
          <a:blip r:embed="rId1"/>
          <a:srcRect l="0" t="0" r="0" b="2332"/>
          <a:stretch/>
        </p:blipFill>
        <p:spPr>
          <a:xfrm>
            <a:off x="1835640" y="2012040"/>
            <a:ext cx="5331960" cy="293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1" name="TextBox 5"/>
          <p:cNvSpPr/>
          <p:nvPr/>
        </p:nvSpPr>
        <p:spPr>
          <a:xfrm>
            <a:off x="2267640" y="4936320"/>
            <a:ext cx="574560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Aus: https://stackoverflow.com/questions/24158114/what-are-the-differences-between-rusts-string-and-str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2" name="TextBox 2"/>
          <p:cNvSpPr/>
          <p:nvPr/>
        </p:nvSpPr>
        <p:spPr>
          <a:xfrm>
            <a:off x="698040" y="1134720"/>
            <a:ext cx="6105240" cy="7840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noodles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"noodles"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to_string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oodles 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noodles[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];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poodles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</a:t>
            </a:r>
            <a:r>
              <a:rPr lang="kn-IN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ಠ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_</a:t>
            </a:r>
            <a:r>
              <a:rPr lang="kn-IN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ಠ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 </a:t>
            </a: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// this is string literal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802627F-C148-418F-8590-996D0A93A299}" type="slidenum">
              <a:t>46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Thin &amp; Fat Pointers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34" name="PlaceHolder 2"/>
          <p:cNvSpPr>
            <a:spLocks noGrp="1"/>
          </p:cNvSpPr>
          <p:nvPr>
            <p:ph type="ftr" idx="102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26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10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Thin pointer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are used for references to 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sized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types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These are types whose size is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known at compile time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such as integers, structs, arrays, etc.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They consist of a simple memory address pointing to the data on the heap or stack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Examples: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Menlo"/>
              </a:rPr>
              <a:t>&amp;T, Box&lt;T&gt;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10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Fat pointer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: are used for references to 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unsized types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These are types whose size is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not known at compile time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They consist of both a memory address and metadata about the referenced data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Example: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Menlo"/>
              </a:rPr>
              <a:t>&amp;[T], &amp;str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4D28922-CD01-47DE-8938-CE2CCEF81083}" type="slidenum">
              <a:t>47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References &amp; Lifetimes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37" name="PlaceHolder 2"/>
          <p:cNvSpPr>
            <a:spLocks noGrp="1"/>
          </p:cNvSpPr>
          <p:nvPr>
            <p:ph type="ftr" idx="10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442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10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reference is fundamentally just a number → start position of some bytes in memory.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10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Lifetimes make sure references are always valid: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They prevent </a:t>
            </a:r>
            <a:r>
              <a:rPr lang="en-GB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dangling references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 and enforce safe memory access - </a:t>
            </a:r>
            <a:r>
              <a:rPr lang="en-GB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at compile time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Every reference in Rust has a lifetime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 - an area of code where that reference is valid.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10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Remark: lifetime annotations are only relevant for references (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&amp;T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&amp;mut T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 </a:t>
            </a:r>
            <a:br>
              <a:rPr sz="1600"/>
            </a:b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and types that contain references.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0C354CE-AA01-4783-8ABC-947916B1FDE6}" type="slidenum">
              <a:t>48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TextBox 3"/>
          <p:cNvSpPr/>
          <p:nvPr/>
        </p:nvSpPr>
        <p:spPr>
          <a:xfrm>
            <a:off x="746640" y="1345320"/>
            <a:ext cx="3311640" cy="1733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r;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x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   r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"{}"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r)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Example: references that outlive referents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41" name="PlaceHolder 2"/>
          <p:cNvSpPr>
            <a:spLocks noGrp="1"/>
          </p:cNvSpPr>
          <p:nvPr>
            <p:ph type="ftr" idx="104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Gewitterblitz 2"/>
          <p:cNvSpPr/>
          <p:nvPr/>
        </p:nvSpPr>
        <p:spPr>
          <a:xfrm rot="3039000">
            <a:off x="3452040" y="1288440"/>
            <a:ext cx="782280" cy="664200"/>
          </a:xfrm>
          <a:prstGeom prst="lightningBolt">
            <a:avLst/>
          </a:prstGeom>
          <a:solidFill>
            <a:srgbClr val="FF0000"/>
          </a:solidFill>
          <a:ln w="254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543" name="Straight Arrow Connector 19"/>
          <p:cNvCxnSpPr/>
          <p:nvPr/>
        </p:nvCxnSpPr>
        <p:spPr>
          <a:xfrm flipV="1">
            <a:off x="2771640" y="2883960"/>
            <a:ext cx="720" cy="358560"/>
          </a:xfrm>
          <a:prstGeom prst="straightConnector1">
            <a:avLst/>
          </a:prstGeom>
          <a:ln w="12700">
            <a:solidFill>
              <a:srgbClr val="FF0000"/>
            </a:solidFill>
            <a:round/>
            <a:tailEnd len="med" type="triangle" w="med"/>
          </a:ln>
        </p:spPr>
      </p:cxnSp>
      <p:sp>
        <p:nvSpPr>
          <p:cNvPr id="1544" name="TextBox 20"/>
          <p:cNvSpPr/>
          <p:nvPr/>
        </p:nvSpPr>
        <p:spPr>
          <a:xfrm>
            <a:off x="2364840" y="3265200"/>
            <a:ext cx="1338120" cy="5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Borrow no </a:t>
            </a:r>
            <a:br>
              <a:rPr sz="1350"/>
            </a:br>
            <a:r>
              <a:rPr lang="en-GB" sz="135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longer valid ⚡️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45" name="Straight Arrow Connector 21"/>
          <p:cNvCxnSpPr/>
          <p:nvPr/>
        </p:nvCxnSpPr>
        <p:spPr>
          <a:xfrm flipH="1">
            <a:off x="1428480" y="2502720"/>
            <a:ext cx="1471680" cy="720"/>
          </a:xfrm>
          <a:prstGeom prst="straightConnector1">
            <a:avLst/>
          </a:prstGeom>
          <a:ln w="12700">
            <a:solidFill>
              <a:srgbClr val="FF0000"/>
            </a:solidFill>
            <a:round/>
            <a:tailEnd len="med" type="triangle" w="med"/>
          </a:ln>
        </p:spPr>
      </p:cxnSp>
      <p:sp>
        <p:nvSpPr>
          <p:cNvPr id="1546" name="TextBox 24"/>
          <p:cNvSpPr/>
          <p:nvPr/>
        </p:nvSpPr>
        <p:spPr>
          <a:xfrm>
            <a:off x="2593800" y="2202840"/>
            <a:ext cx="152100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x is dropped here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7" name="TextBox 7"/>
          <p:cNvSpPr/>
          <p:nvPr/>
        </p:nvSpPr>
        <p:spPr>
          <a:xfrm>
            <a:off x="4644000" y="2580120"/>
            <a:ext cx="3311640" cy="19382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r;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x;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   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   r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"{}"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r)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48" name="Gruppierung 10"/>
          <p:cNvGrpSpPr/>
          <p:nvPr/>
        </p:nvGrpSpPr>
        <p:grpSpPr>
          <a:xfrm>
            <a:off x="5988240" y="2697840"/>
            <a:ext cx="826200" cy="760320"/>
            <a:chOff x="5988240" y="2697840"/>
            <a:chExt cx="826200" cy="760320"/>
          </a:xfrm>
        </p:grpSpPr>
        <p:sp>
          <p:nvSpPr>
            <p:cNvPr id="1549" name="Rechteck 12"/>
            <p:cNvSpPr/>
            <p:nvPr/>
          </p:nvSpPr>
          <p:spPr>
            <a:xfrm flipV="1" rot="1984800">
              <a:off x="6458400" y="2671560"/>
              <a:ext cx="145800" cy="81252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720" tIns="45000" rIns="7272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0" name="Rechteck 14"/>
            <p:cNvSpPr/>
            <p:nvPr/>
          </p:nvSpPr>
          <p:spPr>
            <a:xfrm flipV="1" rot="18169200">
              <a:off x="6136200" y="3043440"/>
              <a:ext cx="156600" cy="43812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8480" tIns="45000" rIns="7848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9AA296D-B708-443B-8546-F2EBC3B895F1}" type="slidenum">
              <a:t>49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Explicit Lifetimes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52" name="PlaceHolder 2"/>
          <p:cNvSpPr>
            <a:spLocks noGrp="1"/>
          </p:cNvSpPr>
          <p:nvPr>
            <p:ph type="ftr" idx="10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3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Functions sometimes must use lifetime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annotations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to define which inputs and outputs share the same lifetime.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54" name="TextBox 3"/>
          <p:cNvSpPr/>
          <p:nvPr/>
        </p:nvSpPr>
        <p:spPr>
          <a:xfrm>
            <a:off x="827640" y="1775160"/>
            <a:ext cx="6525000" cy="23842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largest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if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x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y { x }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else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y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a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b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res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largest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a,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b);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"Largest is {}"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res);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5" name="TextBox 4"/>
          <p:cNvSpPr/>
          <p:nvPr/>
        </p:nvSpPr>
        <p:spPr>
          <a:xfrm>
            <a:off x="6228360" y="1854720"/>
            <a:ext cx="101124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lifetimes.rs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0BBB393-CD14-4445-A226-86FA80CB4F4C}" type="slidenum">
              <a:t>50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Explicit Lifetimes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57" name="PlaceHolder 2"/>
          <p:cNvSpPr>
            <a:spLocks noGrp="1"/>
          </p:cNvSpPr>
          <p:nvPr>
            <p:ph type="ftr" idx="10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Functions sometimes must use lifetime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specifiers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to define which inputs and outputs share the same lifetime.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59" name="TextBox 3"/>
          <p:cNvSpPr/>
          <p:nvPr/>
        </p:nvSpPr>
        <p:spPr>
          <a:xfrm>
            <a:off x="683640" y="1990440"/>
            <a:ext cx="7074000" cy="23842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largest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if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x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y { x }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else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y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a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b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res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largest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a,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b);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"Largest is {}"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res);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8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0" name="Picture 1"/>
          <p:cNvPicPr/>
          <p:nvPr/>
        </p:nvPicPr>
        <p:blipFill>
          <a:blip r:embed="rId1"/>
          <a:stretch/>
        </p:blipFill>
        <p:spPr>
          <a:xfrm>
            <a:off x="35640" y="25560"/>
            <a:ext cx="896976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1" name="TextBox 2"/>
          <p:cNvSpPr/>
          <p:nvPr/>
        </p:nvSpPr>
        <p:spPr>
          <a:xfrm>
            <a:off x="6702480" y="2070720"/>
            <a:ext cx="1011240" cy="299520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lifetimes.rs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C31A76AF-62C2-41E5-A548-7551A001FB17}" type="slidenum">
              <a:t>51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Explicit Lifetimes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63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Lifetime specifiers always start with a </a:t>
            </a:r>
            <a:r>
              <a:rPr lang="de-DE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'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(e.g. </a:t>
            </a:r>
            <a:r>
              <a:rPr lang="de-DE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'a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de-DE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'b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de-DE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'c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, ...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Corrected example: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</a:t>
            </a:r>
            <a:r>
              <a:rPr lang="en-US" sz="14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&lt;'a&gt;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means: function works for any lifetime </a:t>
            </a:r>
            <a:r>
              <a:rPr lang="en-US" sz="14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'a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(syntax similar to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&lt;T&gt;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</a:t>
            </a:r>
            <a:r>
              <a:rPr lang="en-GB" sz="14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&amp;</a:t>
            </a:r>
            <a:r>
              <a:rPr lang="en-US" sz="14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'</a:t>
            </a:r>
            <a:r>
              <a:rPr lang="en-GB" sz="14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a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before the parameters mean: both references have the same lifetime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</a:t>
            </a:r>
            <a:r>
              <a:rPr lang="en-GB" sz="14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&amp;</a:t>
            </a:r>
            <a:r>
              <a:rPr lang="en-US" sz="14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'</a:t>
            </a:r>
            <a:r>
              <a:rPr lang="en-GB" sz="14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a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before the return type means: the returned lives as long as both parameters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4" name="TextBox 3"/>
          <p:cNvSpPr/>
          <p:nvPr/>
        </p:nvSpPr>
        <p:spPr>
          <a:xfrm>
            <a:off x="827640" y="1854720"/>
            <a:ext cx="6453000" cy="707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largest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'a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'a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'a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'a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if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x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y { x }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else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y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5" name="PlaceHolder 3"/>
          <p:cNvSpPr>
            <a:spLocks noGrp="1"/>
          </p:cNvSpPr>
          <p:nvPr>
            <p:ph type="ftr" idx="10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B295402-09BA-4848-AB3E-42FB7EB3121C}" type="slidenum">
              <a:t>52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Lifetime Elision</a:t>
            </a:r>
            <a:r>
              <a:rPr lang="de-DE" sz="2700" b="0" u="none" strike="noStrike" baseline="30000">
                <a:solidFill>
                  <a:schemeClr val="dk2"/>
                </a:solidFill>
                <a:effectLst/>
                <a:uFillTx/>
                <a:latin typeface="Arial"/>
              </a:rPr>
              <a:t>1</a:t>
            </a: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 Rules 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67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Rust has three simple rules for functions involving references.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09480" lvl="1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parameter that is a reference gets its own lifetime parameter.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09480" lvl="1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there is exactly one input lifetime, it’s assigned to all output references.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09480" lvl="1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there are multiple input lifetimes and the output is a reference, </a:t>
            </a:r>
            <a:br>
              <a:rPr sz="1400"/>
            </a:b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compiler needs explicit annotations (no guessing).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example is OK without explicit lifetime annotations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Rust compiler automatically adds annotations, if possible: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8" name="TextBox 2"/>
          <p:cNvSpPr/>
          <p:nvPr/>
        </p:nvSpPr>
        <p:spPr>
          <a:xfrm>
            <a:off x="827640" y="2863080"/>
            <a:ext cx="6525000" cy="707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foo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9" name="TextBox 5"/>
          <p:cNvSpPr/>
          <p:nvPr/>
        </p:nvSpPr>
        <p:spPr>
          <a:xfrm>
            <a:off x="827640" y="4086720"/>
            <a:ext cx="6525000" cy="707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foo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'a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&amp;'a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&amp;'a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x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0" name="TextBox 8"/>
          <p:cNvSpPr/>
          <p:nvPr/>
        </p:nvSpPr>
        <p:spPr>
          <a:xfrm>
            <a:off x="7353360" y="4644720"/>
            <a:ext cx="188784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 baseline="30000">
                <a:solidFill>
                  <a:schemeClr val="dk1"/>
                </a:solidFill>
                <a:effectLst/>
                <a:uFillTx/>
                <a:latin typeface="Arial"/>
              </a:rPr>
              <a:t>1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Elision = Weglassen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1" name="PlaceHolder 3"/>
          <p:cNvSpPr>
            <a:spLocks noGrp="1"/>
          </p:cNvSpPr>
          <p:nvPr>
            <p:ph type="ftr" idx="10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CA503493-86A5-4410-A271-44B6E814AE77}" type="slidenum">
              <a:t>53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Lifetimes in data types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73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Similarly to functions, data types can be parameterized with lifetime specifiers 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of its members.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Rust validates that the containing data structure of the references never lasts longer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than the owners its references point to.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can't have structs running around with references pointing to nothing!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4" name="PlaceHolder 3"/>
          <p:cNvSpPr>
            <a:spLocks noGrp="1"/>
          </p:cNvSpPr>
          <p:nvPr>
            <p:ph type="ftr" idx="10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4BB7B00-EAC5-422D-8A5D-2663457F6E74}" type="slidenum">
              <a:t>54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Lifetimes in data types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76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need to tell the compiler, that config, which is of type &amp;Config, </a:t>
            </a:r>
            <a:br>
              <a:rPr sz="1600"/>
            </a:b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has the same lifetime as App.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7" name="PlaceHolder 3"/>
          <p:cNvSpPr>
            <a:spLocks noGrp="1"/>
          </p:cNvSpPr>
          <p:nvPr>
            <p:ph type="ftr" idx="11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TextBox 11"/>
          <p:cNvSpPr/>
          <p:nvPr/>
        </p:nvSpPr>
        <p:spPr>
          <a:xfrm>
            <a:off x="1718280" y="1329840"/>
            <a:ext cx="2163240" cy="15278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Config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...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App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config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Config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9" name="Gewitterblitz 2"/>
          <p:cNvSpPr/>
          <p:nvPr/>
        </p:nvSpPr>
        <p:spPr>
          <a:xfrm rot="3039000">
            <a:off x="3368520" y="1591920"/>
            <a:ext cx="831600" cy="789120"/>
          </a:xfrm>
          <a:prstGeom prst="lightningBolt">
            <a:avLst/>
          </a:prstGeom>
          <a:solidFill>
            <a:srgbClr val="FF0000"/>
          </a:solidFill>
          <a:ln w="254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80" name="TextBox 16"/>
          <p:cNvSpPr/>
          <p:nvPr/>
        </p:nvSpPr>
        <p:spPr>
          <a:xfrm>
            <a:off x="4873320" y="1329840"/>
            <a:ext cx="2650320" cy="15278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Config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...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App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'a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config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&amp;'a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Config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81" name="Gruppierung 10"/>
          <p:cNvGrpSpPr/>
          <p:nvPr/>
        </p:nvGrpSpPr>
        <p:grpSpPr>
          <a:xfrm>
            <a:off x="7100640" y="1712880"/>
            <a:ext cx="826200" cy="760320"/>
            <a:chOff x="7100640" y="1712880"/>
            <a:chExt cx="826200" cy="760320"/>
          </a:xfrm>
        </p:grpSpPr>
        <p:sp>
          <p:nvSpPr>
            <p:cNvPr id="1582" name="Rechteck 12"/>
            <p:cNvSpPr/>
            <p:nvPr/>
          </p:nvSpPr>
          <p:spPr>
            <a:xfrm flipV="1" rot="1984800">
              <a:off x="7570800" y="1686600"/>
              <a:ext cx="145800" cy="81252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720" tIns="45000" rIns="7272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3" name="Rechteck 14"/>
            <p:cNvSpPr/>
            <p:nvPr/>
          </p:nvSpPr>
          <p:spPr>
            <a:xfrm flipV="1" rot="18169200">
              <a:off x="7248600" y="2058840"/>
              <a:ext cx="156600" cy="43812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8480" tIns="45000" rIns="7848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6A878AE-BD59-4F44-9A8C-75EBA57A07A5}" type="slidenum">
              <a:t>55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Multiple lifetimes in data types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8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After this update the code works: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86" name="PlaceHolder 3"/>
          <p:cNvSpPr>
            <a:spLocks noGrp="1"/>
          </p:cNvSpPr>
          <p:nvPr>
            <p:ph type="ftr" idx="11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7" name="TextBox 5"/>
          <p:cNvSpPr/>
          <p:nvPr/>
        </p:nvSpPr>
        <p:spPr>
          <a:xfrm>
            <a:off x="1763640" y="1274040"/>
            <a:ext cx="2172960" cy="923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Point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'a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&amp;'a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&amp;'a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8" name="TextBox 11"/>
          <p:cNvSpPr/>
          <p:nvPr/>
        </p:nvSpPr>
        <p:spPr>
          <a:xfrm>
            <a:off x="4225320" y="1278720"/>
            <a:ext cx="4450320" cy="21434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x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3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r;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y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point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Point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 };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   r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point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"{}"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r);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9" name="Gewitterblitz 2"/>
          <p:cNvSpPr/>
          <p:nvPr/>
        </p:nvSpPr>
        <p:spPr>
          <a:xfrm rot="3039000">
            <a:off x="6332040" y="1477080"/>
            <a:ext cx="870840" cy="799560"/>
          </a:xfrm>
          <a:prstGeom prst="lightningBolt">
            <a:avLst/>
          </a:prstGeom>
          <a:solidFill>
            <a:srgbClr val="FF0000"/>
          </a:solidFill>
          <a:ln w="254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90" name="TextBox 17"/>
          <p:cNvSpPr/>
          <p:nvPr/>
        </p:nvSpPr>
        <p:spPr>
          <a:xfrm>
            <a:off x="1763640" y="3685320"/>
            <a:ext cx="2601720" cy="923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Point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&lt;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'a,'b 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&amp;'a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&amp;'b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i32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91" name="Gruppierung 10"/>
          <p:cNvGrpSpPr/>
          <p:nvPr/>
        </p:nvGrpSpPr>
        <p:grpSpPr>
          <a:xfrm>
            <a:off x="3881520" y="3694680"/>
            <a:ext cx="826200" cy="760320"/>
            <a:chOff x="3881520" y="3694680"/>
            <a:chExt cx="826200" cy="760320"/>
          </a:xfrm>
        </p:grpSpPr>
        <p:sp>
          <p:nvSpPr>
            <p:cNvPr id="1592" name="Rechteck 12"/>
            <p:cNvSpPr/>
            <p:nvPr/>
          </p:nvSpPr>
          <p:spPr>
            <a:xfrm flipV="1" rot="1984800">
              <a:off x="4351680" y="3668400"/>
              <a:ext cx="145800" cy="81252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720" tIns="45000" rIns="7272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3" name="Rechteck 14"/>
            <p:cNvSpPr/>
            <p:nvPr/>
          </p:nvSpPr>
          <p:spPr>
            <a:xfrm flipV="1" rot="18169200">
              <a:off x="4029480" y="4040280"/>
              <a:ext cx="156600" cy="43812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8480" tIns="45000" rIns="7848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D91BBEE-130A-4180-A6BF-31BB5117834A}" type="slidenum">
              <a:t>56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Static lifetime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9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</a:t>
            </a:r>
            <a:r>
              <a:rPr lang="en-US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'static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lifetime is a special lifetime that represents the entire duration of the program.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Any reference with a </a:t>
            </a:r>
            <a:r>
              <a:rPr lang="en-US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'static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lifetime can be used anywhere </a:t>
            </a:r>
            <a:br>
              <a:rPr sz="1600"/>
            </a:b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without worrying about its scope.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Should only be used if necessary → </a:t>
            </a:r>
            <a:r>
              <a:rPr lang="en-US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'static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resources will never drop.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96" name="TextBox 3"/>
          <p:cNvSpPr/>
          <p:nvPr/>
        </p:nvSpPr>
        <p:spPr>
          <a:xfrm>
            <a:off x="827640" y="3151080"/>
            <a:ext cx="6768000" cy="11995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rgbClr val="008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// string literals have a 'static lifetime, so </a:t>
            </a:r>
            <a:r>
              <a:rPr lang="en-GB" sz="1200" b="0" u="none" strike="noStrike">
                <a:solidFill>
                  <a:srgbClr val="00B05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'</a:t>
            </a:r>
            <a:r>
              <a:rPr lang="en-GB" sz="1200" b="0" u="none" strike="noStrike">
                <a:solidFill>
                  <a:srgbClr val="008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static is here optional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const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MSG: 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</a:t>
            </a: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'static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str = </a:t>
            </a:r>
            <a:r>
              <a:rPr lang="en-GB" sz="1200" b="0" u="none" strike="noStrike">
                <a:solidFill>
                  <a:srgbClr val="A31515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"Hello World!"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br>
              <a:rPr sz="1200"/>
            </a:b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fn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main()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println!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(</a:t>
            </a:r>
            <a:r>
              <a:rPr lang="en-GB" sz="1200" b="0" u="none" strike="noStrike">
                <a:solidFill>
                  <a:srgbClr val="A31515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"msg = {}"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, MSG);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7" name="PlaceHolder 3"/>
          <p:cNvSpPr>
            <a:spLocks noGrp="1"/>
          </p:cNvSpPr>
          <p:nvPr>
            <p:ph type="ftr" idx="112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FB1EBE3-2697-474A-9F64-6D918D5ABB01}" type="slidenum">
              <a:t>57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Final remarks on lifetime annotations 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99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10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Lifetime annotations are only relevant for references (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&amp;T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&amp;mut T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 </a:t>
            </a:r>
            <a:br>
              <a:rPr sz="1600"/>
            </a:b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and types that contain references.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10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Compiler does lifetime annotations automatically whenever possible</a:t>
            </a:r>
            <a:br>
              <a:rPr sz="1600"/>
            </a:b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otherwise, it will ask for explicit lifetime annotations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00" name="PlaceHolder 3"/>
          <p:cNvSpPr>
            <a:spLocks noGrp="1"/>
          </p:cNvSpPr>
          <p:nvPr>
            <p:ph type="ftr" idx="11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Advanced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FFBFC6A8-3C52-46F6-9CA6-27C6B2157E62}" type="slidenum">
              <a:t>58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4.3 Unsafe stuff</a:t>
            </a:r>
            <a:endParaRPr lang="en-GB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602" name="PlaceHolder 2"/>
          <p:cNvSpPr>
            <a:spLocks noGrp="1"/>
          </p:cNvSpPr>
          <p:nvPr>
            <p:ph type="ftr" idx="114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4.3 Unsafe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Rust’s compiler enforces memory and thread safety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Some low-level operations in an OS require direct memory access.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These code sections need to be marked as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unsafe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Should be used only if functionality can not be expressed in clean Rust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programmer is taking explicit responsibility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Things you can only do in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unsafe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 Dereference raw pointers: direct memory access, memory mapped IO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Call unsafe functions: syscalls, inline assembly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 Access or modify mutable static variables: kernel globals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067209D-6DEA-4F0E-A6F4-4C7D92792476}" type="slidenum">
              <a:t>59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unsafe</a:t>
            </a: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 blocks &amp; functions</a:t>
            </a:r>
            <a:endParaRPr lang="en-GB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605" name="PlaceHolder 2"/>
          <p:cNvSpPr>
            <a:spLocks noGrp="1"/>
          </p:cNvSpPr>
          <p:nvPr>
            <p:ph type="ftr" idx="11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4.3 Unsafe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unsafe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means “I promise the safety invariants hold here.”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unsafe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block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Example: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unsafe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function (can only be called inside an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unsafe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block)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Remarks: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1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volatile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 prevents optimization away of I/O.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core::ptr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a raw pointer, see next slides 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07" name="TextBox 2"/>
          <p:cNvSpPr/>
          <p:nvPr/>
        </p:nvSpPr>
        <p:spPr>
          <a:xfrm>
            <a:off x="827640" y="1782720"/>
            <a:ext cx="6480000" cy="707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pub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write_u8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(addr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*mut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u8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val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u8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unsafe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core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ptr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write_volatile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(addr, val);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8" name="TextBox 3"/>
          <p:cNvSpPr/>
          <p:nvPr/>
        </p:nvSpPr>
        <p:spPr>
          <a:xfrm>
            <a:off x="824040" y="3068280"/>
            <a:ext cx="6480000" cy="7070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pub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unsafe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write_u8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(addr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*mut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u8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val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u8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  <a:ea typeface="Source Han Sans CN"/>
              </a:rPr>
              <a:t>  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  <a:ea typeface="Source Han Sans CN"/>
              </a:rPr>
              <a:t>unsafe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  <a:ea typeface="Source Han Sans CN"/>
              </a:rPr>
              <a:t> {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  <a:ea typeface="Source Han Sans CN"/>
              </a:rPr>
              <a:t>core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  <a:ea typeface="Source Han Sans CN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  <a:ea typeface="Source Han Sans CN"/>
              </a:rPr>
              <a:t>ptr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  <a:ea typeface="Source Han Sans CN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  <a:ea typeface="Source Han Sans CN"/>
              </a:rPr>
              <a:t>write_volatile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  <a:ea typeface="Source Han Sans CN"/>
              </a:rPr>
              <a:t>(addr, val);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1C76BD13-F55E-4FD8-8F3D-FE9B6C5815F2}" type="slidenum">
              <a:t>60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Raw Pointers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610" name="PlaceHolder 2"/>
          <p:cNvSpPr>
            <a:spLocks noGrp="1"/>
          </p:cNvSpPr>
          <p:nvPr>
            <p:ph type="ftr" idx="11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4.3 Unsafe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26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References can be converted into a more primitive type called a 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raw pointer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Much like a number, it can be copied and moved around with little restriction.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Rust makes no assurances of the validity of the memory location it points to.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Two kinds of raw pointers exist: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  <a:ea typeface="Menlo"/>
              </a:rPr>
              <a:t>*const 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 - A raw pointer to data of type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Menlo"/>
              </a:rPr>
              <a:t>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 that should never change.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  <a:ea typeface="Menlo"/>
              </a:rPr>
              <a:t>*mut T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- A raw pointer to data of type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Menlo"/>
              </a:rPr>
              <a:t>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enlo"/>
              </a:rPr>
              <a:t> that can change.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2AAD1B2-CDEB-4526-91A7-0503A1EC4D66}" type="slidenum">
              <a:t>61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Raw Pointers: Example 1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613" name="PlaceHolder 2"/>
          <p:cNvSpPr>
            <a:spLocks noGrp="1"/>
          </p:cNvSpPr>
          <p:nvPr>
            <p:ph type="ftr" idx="11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4.3 Unsafe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26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Accessing a memory-mapped register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pointer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UART0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constant (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const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), so no accidental mutation of the address.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Writing to the address is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unsafe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volatile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prevents optimization away of I/O.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15" name="TextBox 3"/>
          <p:cNvSpPr/>
          <p:nvPr/>
        </p:nvSpPr>
        <p:spPr>
          <a:xfrm>
            <a:off x="827640" y="1566720"/>
            <a:ext cx="5977440" cy="13032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500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pub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uart_write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E36209"/>
                </a:solidFill>
                <a:effectLst/>
                <a:uFillTx/>
                <a:latin typeface="Menlo"/>
              </a:rPr>
              <a:t>ch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u8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500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const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UART0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*mut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u8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0x1000_0000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as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*mut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u8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500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unsafe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core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ptr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write_volatile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UART0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E36209"/>
                </a:solidFill>
                <a:effectLst/>
                <a:uFillTx/>
                <a:latin typeface="Menlo"/>
              </a:rPr>
              <a:t>ch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500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18B9E97F-6B3E-402C-B61B-15D75B3C8838}" type="slidenum">
              <a:t>62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Raw Pointers: Example 2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617" name="PlaceHolder 2"/>
          <p:cNvSpPr>
            <a:spLocks noGrp="1"/>
          </p:cNvSpPr>
          <p:nvPr>
            <p:ph type="ftr" idx="11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4.3 Unsafe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26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Mutable raw pointer from a Rust reference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ptr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mutable we can do pointer arithmetic, which is obviously unsafe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19" name="TextBox 2"/>
          <p:cNvSpPr/>
          <p:nvPr/>
        </p:nvSpPr>
        <p:spPr>
          <a:xfrm>
            <a:off x="827640" y="1566720"/>
            <a:ext cx="4823640" cy="19267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500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example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500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sng" strike="noStrike">
                <a:solidFill>
                  <a:srgbClr val="24292E"/>
                </a:solidFill>
                <a:effectLst/>
                <a:uFillTx/>
                <a:latin typeface="Menlo"/>
              </a:rPr>
              <a:t>x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500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ptr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</a:t>
            </a:r>
            <a:r>
              <a:rPr lang="en-GB" sz="1350" b="0" u="sng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x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as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*mut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i32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50000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unsafe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*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ptr </a:t>
            </a:r>
            <a:r>
              <a:rPr lang="en-GB" sz="1350" b="0" u="sng" strike="noStrike">
                <a:solidFill>
                  <a:srgbClr val="D73A49"/>
                </a:solidFill>
                <a:effectLst/>
                <a:uFillTx/>
                <a:latin typeface="Menlo"/>
              </a:rPr>
              <a:t>+=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50000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"{}"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x);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50000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F420D180-0474-4EA5-A30B-BE4E89234128}" type="slidenum">
              <a:t>63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Raw Pointers: Example 3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621" name="PlaceHolder 2"/>
          <p:cNvSpPr>
            <a:spLocks noGrp="1"/>
          </p:cNvSpPr>
          <p:nvPr>
            <p:ph type="ftr" idx="11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4.3 Unsafe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2" name="TextBox 2"/>
          <p:cNvSpPr/>
          <p:nvPr/>
        </p:nvSpPr>
        <p:spPr>
          <a:xfrm>
            <a:off x="526680" y="1134720"/>
            <a:ext cx="7932960" cy="35798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#[repr(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C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)]    </a:t>
            </a: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// C-compatible layout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DevRegisters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r1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u32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r2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u32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const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DEV_BASE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*mut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DevRegisters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0x1000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as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*mut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DevRegisters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unsafe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get_dev_regs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&amp;'static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DevRegisters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*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DEV_BASE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dev_regs;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unsafe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dev_regs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get_dev_regs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dev_regs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r1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0x41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 </a:t>
            </a:r>
            <a:r>
              <a:rPr lang="en-GB" sz="1350" b="0" u="none" strike="noStrike">
                <a:solidFill>
                  <a:srgbClr val="00B050"/>
                </a:solidFill>
                <a:effectLst/>
                <a:uFillTx/>
                <a:latin typeface="Menlo"/>
              </a:rPr>
              <a:t>// write to register r1, safe, using reference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3C3A0D93-BC43-400A-8B10-2D1FAD63051C}" type="slidenum">
              <a:t>64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References vs Raw Pointers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624" name="PlaceHolder 2"/>
          <p:cNvSpPr>
            <a:spLocks noGrp="1"/>
          </p:cNvSpPr>
          <p:nvPr>
            <p:ph type="ftr" idx="12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4.3 Unsafe stuff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5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2636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Rust reference: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Similar to a pointer in C in terms of usage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But with much more compile time restrictions on </a:t>
            </a:r>
            <a:br>
              <a:rPr sz="1400"/>
            </a:b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how it can be stored and moved around to other functions.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Rust raw pointer: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Also similar to a pointer in C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Represents a number that can be copied or passed around, </a:t>
            </a:r>
            <a:br>
              <a:rPr sz="1400"/>
            </a:b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and even turned into numerical types </a:t>
            </a:r>
            <a:br>
              <a:rPr sz="1400"/>
            </a:b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where it can be modified as a number to do pointer math.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D7A72C5-9172-4C55-847B-E3AFB33B6583}" type="slidenum">
              <a:t>65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4.4 Summary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627" name="Inhaltsplatzhalter 7"/>
          <p:cNvSpPr/>
          <p:nvPr/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covered advanced language concepts of Rust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Note there are no classes with code inheritance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Unsafe code is needed in OS and driver development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 unsafe only when absolutely necessary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Allows violating Rust safety, so should be used carefully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4.4 Summary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B0B1011-C6C0-4E0B-8813-C3FB3B3A8C81}" type="slidenum">
              <a:t>66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4.5 Credits &amp; further information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629" name="PlaceHolder 2"/>
          <p:cNvSpPr>
            <a:spLocks noGrp="1"/>
          </p:cNvSpPr>
          <p:nvPr>
            <p:ph type="ftr" idx="12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4.5 Credits &amp; further information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Inhaltsplatzhalter 7"/>
          <p:cNvSpPr/>
          <p:nvPr/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Many slides from Rohan Kumar, Rahul Kumar, and Edward Zeng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Used in the course CS 162: Operating Systems and Systems Programming, </a:t>
            </a:r>
            <a:br>
              <a:rPr sz="1400"/>
            </a:b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Prof. John Kubiatowicz at Berkely University, USA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Interactive Rust book: </a:t>
            </a:r>
            <a:r>
              <a:rPr lang="en-GB" sz="1600" b="0" u="sng" strike="noStrike">
                <a:solidFill>
                  <a:srgbClr val="0432FF"/>
                </a:solidFill>
                <a:effectLst/>
                <a:uFillTx/>
                <a:latin typeface="Arial"/>
              </a:rPr>
              <a:t>https://rust-book.cs.brown.edu </a:t>
            </a:r>
            <a:br>
              <a:rPr sz="1600"/>
            </a:br>
            <a:r>
              <a:rPr lang="en-GB" sz="1600" b="0" u="sng" strike="noStrike">
                <a:solidFill>
                  <a:srgbClr val="0432FF"/>
                </a:solidFill>
                <a:effectLst/>
                <a:uFillTx/>
                <a:latin typeface="Arial"/>
              </a:rPr>
              <a:t>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Libraries: </a:t>
            </a:r>
            <a:r>
              <a:rPr lang="en-GB" sz="1600" b="0" u="sng" strike="noStrike">
                <a:solidFill>
                  <a:srgbClr val="0432FF"/>
                </a:solidFill>
                <a:effectLst/>
                <a:uFillTx/>
                <a:latin typeface="Arial"/>
              </a:rPr>
              <a:t>https://lib.rs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205672 Rust libraries and applications.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F051B24C-3FCC-4CAD-BD76-FCFE1EA4C481}" type="slidenum">
              <a:t>67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83867</TotalTime>
  <Application>LibreOffice/26.2.2.2$Linux_X86_64 LibreOffice_project/b8d3d8168498fa6cc231901342a3b8d72dd2bb7e</Application>
  <AppVersion>15.0000</AppVersion>
  <Words>5940</Words>
  <Paragraphs>1068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cp:lastPrinted>2025-11-13T08:28:15Z</cp:lastPrinted>
  <dcterms:modified xsi:type="dcterms:W3CDTF">2026-04-20T16:02:52Z</dcterms:modified>
  <cp:revision>1741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67</vt:i4>
  </property>
  <property fmtid="{D5CDD505-2E9C-101B-9397-08002B2CF9AE}" pid="3" name="PresentationFormat">
    <vt:lpwstr>Custom</vt:lpwstr>
  </property>
  <property fmtid="{D5CDD505-2E9C-101B-9397-08002B2CF9AE}" pid="4" name="Slides">
    <vt:i4>67</vt:i4>
  </property>
</Properties>
</file>