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3.xml" ContentType="application/vnd.openxmlformats-officedocument.presentationml.slideMaster+xml"/>
  <Override PartName="/ppt/theme/theme35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media/image4.emf" ContentType="image/x-emf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80" r:id="rId4"/>
    <p:sldMasterId id="2147483682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31.xml"/><Relationship Id="rId5" Type="http://schemas.openxmlformats.org/officeDocument/2006/relationships/slideMaster" Target="slideMasters/slideMaster32.xml"/><Relationship Id="rId6" Type="http://schemas.openxmlformats.org/officeDocument/2006/relationships/slideMaster" Target="slideMasters/slideMaster3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PlaceHolder 4"/>
          <p:cNvSpPr>
            <a:spLocks noGrp="1"/>
          </p:cNvSpPr>
          <p:nvPr>
            <p:ph type="dt" idx="6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PlaceHolder 5"/>
          <p:cNvSpPr>
            <a:spLocks noGrp="1"/>
          </p:cNvSpPr>
          <p:nvPr>
            <p:ph type="ftr" idx="6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PlaceHolder 6"/>
          <p:cNvSpPr>
            <a:spLocks noGrp="1"/>
          </p:cNvSpPr>
          <p:nvPr>
            <p:ph type="sldNum" idx="6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C975AF-9DBD-43F7-9178-7E28B7E4FA46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5480" cy="3489840"/>
          </a:xfrm>
          <a:custGeom>
            <a:avLst/>
            <a:gdLst>
              <a:gd name="textAreaLeft" fmla="*/ 0 w 3165480"/>
              <a:gd name="textAreaRight" fmla="*/ 3168000 w 3165480"/>
              <a:gd name="textAreaTop" fmla="*/ 0 h 3489840"/>
              <a:gd name="textAreaBottom" fmla="*/ 3492360 h 34898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398480" cy="106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7080" cy="298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5480" cy="3489840"/>
          </a:xfrm>
          <a:custGeom>
            <a:avLst/>
            <a:gdLst>
              <a:gd name="textAreaLeft" fmla="*/ 0 w 3165480"/>
              <a:gd name="textAreaRight" fmla="*/ 3168000 w 3165480"/>
              <a:gd name="textAreaTop" fmla="*/ 0 h 3489840"/>
              <a:gd name="textAreaBottom" fmla="*/ 3492360 h 34898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720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720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416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0440" cy="3823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7800" cy="118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5480" cy="3823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116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5840" cy="2393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0480" cy="2393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45952AC-64EB-4586-8619-34D6092A8EF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0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0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1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2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2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33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A6DCB83-1232-475F-9FC4-F2429DD18BE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120" cy="3421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3421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4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4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5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46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47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3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57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0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61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367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1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EA22B8D-4180-4B86-A1B3-B9A6FD73CA1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1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7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8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8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9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9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0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9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10" name="Gruppieren 52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1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4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15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16" name="Freihandform: Form 3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ihandform: Form 3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3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3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3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4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2" name="Freihandform: Form 17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ihandform: Form 18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ihandform: Form 19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5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426" name="Freihandform: Form 3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3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8" name="Freihandform: Form 21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430" name="Freihandform: Form 3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36" name="Freihandform: Form 2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2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2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3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0" name="Grafik 11"/>
          <p:cNvSpPr/>
          <p:nvPr/>
        </p:nvSpPr>
        <p:spPr>
          <a:xfrm>
            <a:off x="0" y="0"/>
            <a:ext cx="3729600" cy="4912560"/>
          </a:xfrm>
          <a:custGeom>
            <a:avLst/>
            <a:gdLst>
              <a:gd name="textAreaLeft" fmla="*/ 0 w 3729600"/>
              <a:gd name="textAreaRight" fmla="*/ 3732120 w 3729600"/>
              <a:gd name="textAreaTop" fmla="*/ 0 h 4912560"/>
              <a:gd name="textAreaBottom" fmla="*/ 4915080 h 49125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DFC55F3-9F8F-449F-ADAB-088A8E8DE3F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684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44" name="Gerader Verbinder 45"/>
          <p:cNvCxnSpPr/>
          <p:nvPr/>
        </p:nvCxnSpPr>
        <p:spPr>
          <a:xfrm>
            <a:off x="4464000" y="974520"/>
            <a:ext cx="289188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644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584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4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5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5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46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46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7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2D8A8B4-07E9-43FC-A03C-7F4710857F2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1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444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02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02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8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9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9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9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9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0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0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1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7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0624706-01BC-49CC-85C3-09B3815B5D0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52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2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2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3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4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4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5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5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9365C1F-EAD8-40BD-A639-0D6B8DC7626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840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562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65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66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67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68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4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78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0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1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82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4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7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88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2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A20041C-FCF3-4D40-9DB1-E976BA613F4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840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60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03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4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05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06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2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5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16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8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9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20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626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30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10D7FC3-696C-41BD-BAF7-871BFE9F3F0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09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63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4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4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4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4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5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5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66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9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60B0AE5-0523-48DD-9AAE-5EAB5AB45F2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5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1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92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67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8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8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8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9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9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0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7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69818A9-221B-41A2-B245-3D045E2216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1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1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1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2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73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73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4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D28D385-F579-4E09-9755-2FAA6D30D61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5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3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54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55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56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2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4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5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766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8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9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770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2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4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5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76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0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09CB324-F33F-4EA8-A0F9-D5FEA57EEA2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3956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0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1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92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8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9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9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0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0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1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9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20" name="Gruppieren 53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2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4" name="PlaceHolder 1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142D76B-7F52-4BEB-896D-151C2679821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20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827" name="Gerader Verbinder 46"/>
          <p:cNvCxnSpPr/>
          <p:nvPr/>
        </p:nvCxnSpPr>
        <p:spPr>
          <a:xfrm>
            <a:off x="4625640" y="974520"/>
            <a:ext cx="273024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828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4640" cy="4912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5280" cy="3485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4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3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3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833" name="Freihandform: Form 68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Freihandform: Form 69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Freihandform: Form 70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71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72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73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9" name="Freihandform: Form 45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Freihandform: Form 4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Freihandform: Form 4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43" name="Freihandform: Form 66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ihandform: Form 67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5" name="Freihandform: Form 50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47" name="Freihandform: Form 6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Freihandform: Form 6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9" name="Freihandform: Form 52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Freihandform: Form 5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Freihandform: Form 5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53" name="Freihandform: Form 6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6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Freihandform: Form 6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5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6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6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86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7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7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8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8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89" name="Gruppieren 54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9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3" name="PlaceHolder 1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PlaceHolder 2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7FB04BD-2646-4CFB-9107-1A77CA7F726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20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896" name="Gerader Verbinder 47"/>
          <p:cNvCxnSpPr/>
          <p:nvPr/>
        </p:nvCxnSpPr>
        <p:spPr>
          <a:xfrm>
            <a:off x="4625640" y="974520"/>
            <a:ext cx="273024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897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3560" cy="2428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3560" cy="2418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800" cy="3485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78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90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0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03" name="Freihandform: Form 69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70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Freihandform: Form 71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72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73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74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9" name="Freihandform: Form 45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Freihandform: Form 46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Freihandform: Form 49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13" name="Freihandform: Form 67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Freihandform: Form 68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5" name="Freihandform: Form 51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17" name="Freihandform: Form 65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6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9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Freihandform: Form 58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Freihandform: Form 59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23" name="Freihandform: Form 61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ihandform: Form 62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63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2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3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3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3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3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4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4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5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5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20F6ABA-6124-4720-87C7-E0828114255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212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212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6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9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7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7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72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8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0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82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3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4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86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8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92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6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142E6C9-B0C1-45E4-8557-13E878033D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6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656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6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0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08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09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10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11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7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8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9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0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21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3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4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25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7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8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0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031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5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2F7D786-5AB3-42BC-97F1-C71B99FAE03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43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44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45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46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2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5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56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8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9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60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2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5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066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70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31289FF-0A5F-4765-9A25-58DFA51D62A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856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7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8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8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8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8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9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9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0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7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7F063D5-90C5-4B39-ADA7-F590AC065DD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8560" cy="33091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1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1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1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1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2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3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3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4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5" name="PlaceHolder 1"/>
          <p:cNvSpPr>
            <a:spLocks noGrp="1"/>
          </p:cNvSpPr>
          <p:nvPr>
            <p:ph type="ftr" idx="4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PlaceHolder 2"/>
          <p:cNvSpPr>
            <a:spLocks noGrp="1"/>
          </p:cNvSpPr>
          <p:nvPr>
            <p:ph type="sldNum" idx="4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B5A2D1C-0423-450D-9D47-9869C07E3E6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4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5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5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5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5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6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6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7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7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79" name="Gruppieren 49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8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200" cy="91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84" name="Grafik 11"/>
          <p:cNvSpPr/>
          <p:nvPr/>
        </p:nvSpPr>
        <p:spPr>
          <a:xfrm>
            <a:off x="0" y="0"/>
            <a:ext cx="3729600" cy="4912560"/>
          </a:xfrm>
          <a:custGeom>
            <a:avLst/>
            <a:gdLst>
              <a:gd name="textAreaLeft" fmla="*/ 0 w 3729600"/>
              <a:gd name="textAreaRight" fmla="*/ 3732120 w 3729600"/>
              <a:gd name="textAreaTop" fmla="*/ 0 h 4912560"/>
              <a:gd name="textAreaBottom" fmla="*/ 4915080 h 49125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PlaceHolder 2"/>
          <p:cNvSpPr>
            <a:spLocks noGrp="1"/>
          </p:cNvSpPr>
          <p:nvPr>
            <p:ph type="ftr" idx="4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PlaceHolder 3"/>
          <p:cNvSpPr>
            <a:spLocks noGrp="1"/>
          </p:cNvSpPr>
          <p:nvPr>
            <p:ph type="sldNum" idx="5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E76DB40-E890-40C5-9490-09F27F2B092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8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8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89" name="Freihandform: Form 6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6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6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6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Freihandform: Form 6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Freihandform: Form 7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5" name="Freihandform: Form 43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Freihandform: Form 44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Freihandform: Form 45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99" name="Freihandform: Form 6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Freihandform: Form 6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1" name="Freihandform: Form 47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03" name="Freihandform: Form 6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Freihandform: Form 6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5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Freihandform: Form 5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Freihandform: Form 5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09" name="Freihandform: Form 5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5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5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6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1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1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1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1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2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3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3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4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44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45" name="Gruppieren 49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4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9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200" cy="91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50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2A16839-9ADC-44CC-ACE9-B5B38782173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5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5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54" name="Freihandform: Form 6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Freihandform: Form 6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6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Freihandform: Form 6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Freihandform: Form 6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Freihandform: Form 7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0" name="Freihandform: Form 43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Freihandform: Form 44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45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64" name="Freihandform: Form 6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Freihandform: Form 6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6" name="Freihandform: Form 47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68" name="Freihandform: Form 6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Freihandform: Form 6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0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Freihandform: Form 5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Freihandform: Form 5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74" name="Freihandform: Form 5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Freihandform: Form 5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Freihandform: Form 5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Freihandform: Form 6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D3A4669-6D5D-46BF-A357-6FA5A84F7CE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ftr" idx="5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32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388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599CE335-46DC-4860-915C-EA50859CBBB8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51174D27-F32A-4733-8E5B-A0B774E7C771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38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9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39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39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0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40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0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40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1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41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1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1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PlaceHolder 2"/>
          <p:cNvSpPr>
            <a:spLocks noGrp="1"/>
          </p:cNvSpPr>
          <p:nvPr>
            <p:ph type="sldNum" idx="6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EA960AC-71FA-4AAF-8FAE-FBE3C39D1DF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42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42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42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42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43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3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3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44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4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44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4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45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5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1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PlaceHolder 2"/>
          <p:cNvSpPr>
            <a:spLocks noGrp="1"/>
          </p:cNvSpPr>
          <p:nvPr>
            <p:ph type="sldNum" idx="6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45CE5E0-B904-441F-9BFA-C6AC55942DA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8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5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31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19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2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32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322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3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28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332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4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336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8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342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4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6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1"/>
          <p:cNvSpPr>
            <a:spLocks noGrp="1"/>
          </p:cNvSpPr>
          <p:nvPr>
            <p:ph type="ftr" idx="5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PlaceHolder 2"/>
          <p:cNvSpPr>
            <a:spLocks noGrp="1"/>
          </p:cNvSpPr>
          <p:nvPr>
            <p:ph type="sldNum" idx="5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50BE0C1-C52F-4284-B577-66E17D16393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1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352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55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56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357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358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0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1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64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67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368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9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70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1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372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3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74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7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378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9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0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1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82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1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PlaceHolder 2"/>
          <p:cNvSpPr>
            <a:spLocks noGrp="1"/>
          </p:cNvSpPr>
          <p:nvPr>
            <p:ph type="sldNum" idx="5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6938D6E-9218-4815-B7B8-D2ACF944529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  <p:sldLayoutId id="214748368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947480" cy="106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7. Filesystem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6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8480" cy="602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Physical vs. Virtual Filesystems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Filesystem API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HeineOS Filesystem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0" name="Rounded Rectangle 1"/>
          <p:cNvSpPr/>
          <p:nvPr/>
        </p:nvSpPr>
        <p:spPr>
          <a:xfrm>
            <a:off x="372960" y="1146240"/>
            <a:ext cx="3406320" cy="4183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9C4BD5-42CE-40C4-ADEE-E81744323BA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Physical Filesystems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7.1 Physical vs. Virtual Filesystems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Persistent data is stored on disk drives (HDDs, SSDs, USB-Sticks, etc.)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Disk drives are usually organized in sectors (e.g. 512 bytes) and not byte-addressable (also called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block storage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Allocation/Deallocation of sectors for different files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File can be fragmented across multiple sectors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Filesystems take care organizing files on disks: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Allocate sectors when writing to a file (and deallocating them when files are deleted)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OS provides file API allowing byte-by-byte read/write operations → Must be translated into sector operations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 a block cache is used for performance reasons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2A3F84-966A-4840-A7D7-49D66766485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FAT File System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7.1 Physical vs. Virtual Filesystems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47764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Fat was created in 1977; found widespread usage with the introduction of MS-DOS (1980)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Cluster sizes: 512, 1024, 4096 Bytes, …, 32 KiB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Partition structure: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BSC = Bootsector → Optional Bootcode (not used anymore by UEFI)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FAT = File Allocation Table → Management of free and allocated blocks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(fixed size, replicated for reliability)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Root Directory: Fixed size in FAT16, stored in BSC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File Cluster: Blocks containing file data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77" name=""/>
          <p:cNvPicPr/>
          <p:nvPr/>
        </p:nvPicPr>
        <p:blipFill>
          <a:blip r:embed="rId1"/>
          <a:stretch/>
        </p:blipFill>
        <p:spPr>
          <a:xfrm>
            <a:off x="1282320" y="3541320"/>
            <a:ext cx="4728960" cy="12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1C1F944-2D8A-470E-A7B3-AC4B774DE2F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FAT File System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9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7.1 Physical vs. Virtual Filesystems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47764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Blocks are indexed via File Allocation Table (FAT)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Blocks are called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Clusters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FAT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entry for each cluster (16 Bit)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Copy of the FAT resides in main memory (for fast access)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Clusters of a file are chained in the FAT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= Empty cluster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0xfff7 = Bad cluster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0xffff = Last cluster of a file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FF8000"/>
                </a:solidFill>
                <a:effectLst/>
                <a:uFillTx/>
                <a:latin typeface="Arial"/>
                <a:ea typeface="Source Han Sans CN"/>
              </a:rPr>
              <a:t>Start of a file is stored in</a:t>
            </a:r>
            <a:br>
              <a:rPr sz="1400"/>
            </a:br>
            <a:r>
              <a:rPr lang="de-DE" sz="1400" b="0" u="none" strike="noStrike">
                <a:solidFill>
                  <a:srgbClr val="FF8000"/>
                </a:solidFill>
                <a:effectLst/>
                <a:uFillTx/>
                <a:latin typeface="Arial"/>
                <a:ea typeface="Source Han Sans CN"/>
              </a:rPr>
              <a:t>directory entry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81" name=""/>
          <p:cNvPicPr/>
          <p:nvPr/>
        </p:nvPicPr>
        <p:blipFill>
          <a:blip r:embed="rId1"/>
          <a:stretch/>
        </p:blipFill>
        <p:spPr>
          <a:xfrm>
            <a:off x="3348000" y="2664000"/>
            <a:ext cx="5577480" cy="185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B11213FC-87E7-42D8-B743-480F5175C56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Filesystems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7.1 Physical vs. Virtual Filesystems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   Picture: https://microsoft.fandom.com/wiki/Windows_XP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/>
          </p:nvPr>
        </p:nvSpPr>
        <p:spPr>
          <a:xfrm>
            <a:off x="521640" y="973800"/>
            <a:ext cx="8093880" cy="154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Multiple devices with physical filesystems can exist at the same time in a machine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Devices can have different filesystems (e.g.,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ext4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on a fixed SSD and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FAT32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on removable USB devices)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Operating systems offer an abstraction over these physical filesystems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Uniform API for all file accesses, regardless of the physical filesystem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85" name="Picture 6"/>
          <p:cNvPicPr/>
          <p:nvPr/>
        </p:nvPicPr>
        <p:blipFill>
          <a:blip r:embed="rId1"/>
          <a:srcRect l="26669" t="0" r="0" b="0"/>
          <a:stretch/>
        </p:blipFill>
        <p:spPr>
          <a:xfrm>
            <a:off x="6120000" y="2608920"/>
            <a:ext cx="2029680" cy="230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6" name=""/>
          <p:cNvSpPr/>
          <p:nvPr/>
        </p:nvSpPr>
        <p:spPr>
          <a:xfrm>
            <a:off x="972000" y="2340000"/>
            <a:ext cx="4067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Windows: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Disks are separate entities, identified by a unique letter (C:, D:, E:, etc.)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"/>
          <p:cNvSpPr/>
          <p:nvPr/>
        </p:nvSpPr>
        <p:spPr>
          <a:xfrm>
            <a:off x="4860000" y="2340000"/>
            <a:ext cx="413928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Unix: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Disks can be mounted anywhere in the filesystem tree (transparent)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"/>
          <p:cNvSpPr/>
          <p:nvPr/>
        </p:nvSpPr>
        <p:spPr>
          <a:xfrm>
            <a:off x="4896000" y="2358000"/>
            <a:ext cx="360" cy="2556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51120" rIns="0" bIns="5112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9" name=""/>
          <p:cNvPicPr/>
          <p:nvPr/>
        </p:nvPicPr>
        <p:blipFill>
          <a:blip r:embed="rId2"/>
          <a:stretch/>
        </p:blipFill>
        <p:spPr>
          <a:xfrm>
            <a:off x="1260000" y="2736000"/>
            <a:ext cx="2926080" cy="21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0" name=""/>
          <p:cNvSpPr/>
          <p:nvPr/>
        </p:nvSpPr>
        <p:spPr>
          <a:xfrm>
            <a:off x="900000" y="2358000"/>
            <a:ext cx="792000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A11BE574-66D9-4E6D-84EA-90C7FC5E34F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Physical vs. Virtual Filesystems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Filesystem API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HeineOS Filesystem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4" name="Rounded Rectangle 1"/>
          <p:cNvSpPr/>
          <p:nvPr/>
        </p:nvSpPr>
        <p:spPr>
          <a:xfrm>
            <a:off x="372960" y="1762560"/>
            <a:ext cx="3260520" cy="44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2CA1613-C898-4589-8D0E-07A4822DC52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Filesystem API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6" name="PlaceHolder 2"/>
          <p:cNvSpPr>
            <a:spLocks noGrp="1"/>
          </p:cNvSpPr>
          <p:nvPr>
            <p:ph type="ftr" idx="7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7.2 Filesystem API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 standard library defines unified API for filesystem accesses (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stdio.h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fopen()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Open a file and returns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FILE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pointer for use in other file related functions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fread()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Read data from a file into a block of memory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fwrite()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Write data from a block of memory into a file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ftell()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: Get the current read/write position of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FILE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pointer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ftell()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: Move the read/write position of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FILE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pointer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Operating system exposes system calls for file access (e.g., POSIX compatible)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APIs must be implemented separately for each operating system, using specific system calls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8477B20C-348E-4D01-9056-4FAFDEBE2C8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2"/>
          <p:cNvSpPr>
            <a:spLocks noGrp="1"/>
          </p:cNvSpPr>
          <p:nvPr>
            <p:ph type="ftr" idx="7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7.2 Filesystem API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540000" y="1080000"/>
            <a:ext cx="6839280" cy="3779280"/>
          </a:xfrm>
          <a:prstGeom prst="rect">
            <a:avLst/>
          </a:prstGeom>
          <a:solidFill>
            <a:srgbClr val="FFFF6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>
            <a:off x="540000" y="1080000"/>
            <a:ext cx="6839280" cy="38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const char 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*write_msg = </a:t>
            </a:r>
            <a:r>
              <a:rPr lang="de-DE" sz="10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"Hello, World!"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00"/>
            </a:b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read_msg[</a:t>
            </a:r>
            <a:r>
              <a:rPr lang="de-DE" sz="10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000"/>
            </a:br>
            <a:br>
              <a:rPr sz="1000"/>
            </a:b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void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Open file for reading and writing (create if not exists)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FILE *file =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fopen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de-DE" sz="10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"hello.txt"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0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"w+"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(file == NULL) {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000"/>
            </a:b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fwrite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(write_msg, </a:t>
            </a:r>
            <a:r>
              <a:rPr lang="de-DE" sz="10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strlen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(write_msg), file); </a:t>
            </a:r>
            <a:r>
              <a:rPr lang="de-DE" sz="100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Write message to file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fseek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(file, </a:t>
            </a:r>
            <a:r>
              <a:rPr lang="de-DE" sz="10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SEEK_SET); </a:t>
            </a:r>
            <a:r>
              <a:rPr lang="de-DE" sz="100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Seek back to beginning of file</a:t>
            </a:r>
            <a:br>
              <a:rPr sz="1000"/>
            </a:b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Read file content into buffer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memset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(read_msg, </a:t>
            </a:r>
            <a:r>
              <a:rPr lang="de-DE" sz="10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(read_msg));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fread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(read_msg, </a:t>
            </a:r>
            <a:r>
              <a:rPr lang="de-DE" sz="10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0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(read_msg), file);</a:t>
            </a:r>
            <a:br>
              <a:rPr sz="1000"/>
            </a:b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Print read message and close file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puts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(read_msg);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de-DE" sz="10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fclose</a:t>
            </a: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(file);</a:t>
            </a:r>
            <a:br>
              <a:rPr sz="1000"/>
            </a:br>
            <a:r>
              <a:rPr lang="de-DE" sz="10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C68D56EA-73DC-42B6-8649-608E82DC526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Filesytem System Calls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2"/>
          <p:cNvSpPr>
            <a:spLocks noGrp="1"/>
          </p:cNvSpPr>
          <p:nvPr>
            <p:ph type="ftr" idx="7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7.2 Filesystem API             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  Picture: https://en.wikipedia.org/wiki/File_descriptor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PlaceHolder 16"/>
          <p:cNvSpPr/>
          <p:nvPr/>
        </p:nvSpPr>
        <p:spPr>
          <a:xfrm>
            <a:off x="545760" y="1154160"/>
            <a:ext cx="8093880" cy="37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open()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system call on Linux: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int open(const char *path, int flags)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Return value is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File Descriptor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used to access the opened file in further system calls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32400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 read()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system call: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ssize_t read(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int fd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, void *buf, size_t count)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must be a valid file descriptor, returned by a former call to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open()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All file related system call work on file descriptors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Each process has a table of open files; File descriptors are indices into this table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5" name=""/>
          <p:cNvPicPr/>
          <p:nvPr/>
        </p:nvPicPr>
        <p:blipFill>
          <a:blip r:embed="rId1"/>
          <a:stretch/>
        </p:blipFill>
        <p:spPr>
          <a:xfrm>
            <a:off x="2521440" y="3161160"/>
            <a:ext cx="3598200" cy="177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7C7C60C1-A4F6-4389-8F83-11D548EDA34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2"/>
          <p:cNvSpPr>
            <a:spLocks noGrp="1"/>
          </p:cNvSpPr>
          <p:nvPr>
            <p:ph type="ftr" idx="75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Physical vs. Virtual Filesystems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Filesystem API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HeineOS Filesystem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9" name="Rounded Rectangle 1"/>
          <p:cNvSpPr/>
          <p:nvPr/>
        </p:nvSpPr>
        <p:spPr>
          <a:xfrm>
            <a:off x="372960" y="2338560"/>
            <a:ext cx="3260520" cy="44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1400C1-FF74-4B4C-BF9E-B68A0811DD7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Multiboot Modules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1" name="PlaceHolder 2"/>
          <p:cNvSpPr>
            <a:spLocks noGrp="1"/>
          </p:cNvSpPr>
          <p:nvPr>
            <p:ph type="ftr" idx="76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7.3 HeineOS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Bootloader can load additional files (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modules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 along with the kernel into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use a TAR-archive as basis for our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read-only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filesystem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Bootloader (towboot) loads the file into memory for us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 in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boot.rs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via 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JetBrains Mono"/>
              </a:rPr>
              <a:t>multiboot.find_tag::&lt;ModuleTag&gt;(</a:t>
            </a:r>
            <a:r>
              <a:rPr lang="de-DE" sz="1400" b="0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JetBrains Mono"/>
              </a:rPr>
              <a:t>TagType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JetBrains Mono"/>
              </a:rPr>
              <a:t>::</a:t>
            </a:r>
            <a:r>
              <a:rPr lang="de-DE" sz="1400" b="0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JetBrains Mono"/>
              </a:rPr>
              <a:t>Module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JetBrains Mono"/>
              </a:rPr>
              <a:t>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3" name=""/>
          <p:cNvSpPr/>
          <p:nvPr/>
        </p:nvSpPr>
        <p:spPr>
          <a:xfrm>
            <a:off x="720000" y="2592000"/>
            <a:ext cx="7012440" cy="2195640"/>
          </a:xfrm>
          <a:prstGeom prst="rect">
            <a:avLst/>
          </a:prstGeom>
          <a:solidFill>
            <a:srgbClr val="FFFF6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default = "heineos"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	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loader/towboot.toml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timeout =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log_level = "info"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[entries]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[entries.heineos]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name = "HeineOS"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image = "kernel.elf"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modules = [ { image = "initrd.tar", argv = "initrd.tar" } 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argv = "log_level=debug log_to_terminal=true"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748EC156-4C6A-489A-8A77-8DC02E3EF14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TAR Archive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ftr" idx="7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7.3 HeineOS Filesystem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       Source for header table: https://en.wikipedia.org/wiki/Tar_(computing)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TAR archives store multiple files sequentially in a single uncompressed archive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Each file is preceeded by a 512 byte header and its length padded to a multiple of 512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use the crate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tar-no-std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for parsing TAR archives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br>
              <a:rPr sz="600"/>
            </a:br>
            <a:br>
              <a:rPr sz="600"/>
            </a:br>
            <a:br>
              <a:rPr sz="600"/>
            </a:br>
            <a:endParaRPr lang="en-GB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                                                  </a:t>
            </a: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Original Unix TAR file header</a:t>
            </a:r>
            <a:endParaRPr lang="en-GB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17" name=""/>
          <p:cNvGraphicFramePr/>
          <p:nvPr/>
        </p:nvGraphicFramePr>
        <p:xfrm>
          <a:off x="2106720" y="2166840"/>
          <a:ext cx="4289040" cy="2583000"/>
        </p:xfrm>
        <a:graphic>
          <a:graphicData uri="http://schemas.openxmlformats.org/drawingml/2006/table">
            <a:tbl>
              <a:tblPr/>
              <a:tblGrid>
                <a:gridCol w="1222200"/>
                <a:gridCol w="1028520"/>
                <a:gridCol w="2038680"/>
              </a:tblGrid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Field Offset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Field Size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Field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File path and name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File mode (octal)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Owner UID (octal)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Group GID (octal)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124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File size in bytes (octal)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Last mod. time (octal)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Header Checksum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Link indicator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157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 of linked file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PlaceHolder 4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33DFCE89-E4A5-4036-8F8A-1ED7D67B9E6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HeineOS Filesystem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2"/>
          <p:cNvSpPr>
            <a:spLocks noGrp="1"/>
          </p:cNvSpPr>
          <p:nvPr>
            <p:ph type="ftr" idx="7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7.3 HeineOS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9800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 API 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 fn </a:t>
            </a:r>
            <a:r>
              <a:rPr lang="de-DE" sz="1200" b="0" u="none" strike="noStrike">
                <a:solidFill>
                  <a:srgbClr val="57AAF7"/>
                </a:solidFill>
                <a:effectLst/>
                <a:uFillTx/>
                <a:latin typeface="JetBrains Mono"/>
                <a:ea typeface="JetBrains Mono"/>
              </a:rPr>
              <a:t>open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de-DE" sz="12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path: &amp;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str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-&gt; </a:t>
            </a:r>
            <a:r>
              <a:rPr lang="de-DE" sz="1200" b="0" i="1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Result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FileHandle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200" b="0" i="1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FsError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&gt;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 fn </a:t>
            </a:r>
            <a:r>
              <a:rPr lang="de-DE" sz="1200" b="0" u="none" strike="noStrike">
                <a:solidFill>
                  <a:srgbClr val="57AAF7"/>
                </a:solidFill>
                <a:effectLst/>
                <a:uFillTx/>
                <a:latin typeface="JetBrains Mono"/>
                <a:ea typeface="JetBrains Mono"/>
              </a:rPr>
              <a:t>read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de-DE" sz="12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handle: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FileHandle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buffer: &amp;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u8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 -&gt; </a:t>
            </a:r>
            <a:r>
              <a:rPr lang="de-DE" sz="1200" b="0" i="1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Result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usize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200" b="0" i="1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FsError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&gt;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All files reside inside a TAR archive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Open </a:t>
            </a:r>
            <a:r>
              <a:rPr lang="en-GB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file handles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(descriptors) are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   managed in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JetBrains Mono"/>
              </a:rPr>
              <a:t>open_handles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table.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JetBrains Mono"/>
              </a:rPr>
              <a:t>OpenFile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struct references data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   inside the TAR archive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Conceptually similar to UNIX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   →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JetBrains Mono"/>
              </a:rPr>
              <a:t>FileHandle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just wraps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       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JetBrains Mono"/>
              </a:rPr>
              <a:t>usize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value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Easily portable to user space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   via system calls (later!)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21" name=""/>
          <p:cNvPicPr/>
          <p:nvPr/>
        </p:nvPicPr>
        <p:blipFill>
          <a:blip r:embed="rId1"/>
          <a:stretch/>
        </p:blipFill>
        <p:spPr>
          <a:xfrm>
            <a:off x="3960000" y="2165400"/>
            <a:ext cx="4909680" cy="26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A570819-1FFF-483F-8A2D-89C44F36768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3" name="PlaceHolder 2"/>
          <p:cNvSpPr>
            <a:spLocks noGrp="1"/>
          </p:cNvSpPr>
          <p:nvPr>
            <p:ph type="ftr" idx="7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 Filesystem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Physical vs. Virtual Filesystems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Filesystem API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HeineOS Filesystem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5" name="Rounded Rectangle 2"/>
          <p:cNvSpPr/>
          <p:nvPr/>
        </p:nvSpPr>
        <p:spPr>
          <a:xfrm>
            <a:off x="372960" y="2914560"/>
            <a:ext cx="3260520" cy="44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F88F71-A0C1-4B73-B8CD-E60A90267460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2"/>
          <p:cNvSpPr>
            <a:spLocks noGrp="1"/>
          </p:cNvSpPr>
          <p:nvPr>
            <p:ph type="ftr" idx="8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7.4 Summary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Filesystems store files on (sector/block based) drives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Allocation/Deallocation of sectors on a device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Operating system manages open files (per process)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User API uses system calls to access open files via file descriptors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do not have persistent storage in HeineOS and resort to a TAR archive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File API is designed similar to UNIX-based operating systems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DD4D37FD-34F3-4DD1-803C-381FA97425E4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12273</TotalTime>
  <Application>LibreOffice/26.2.4.2$Linux_X86_64 LibreOffice_project/f4d82cf4d44730936b3f1a72d05a6253f577d3e9</Application>
  <AppVersion>15.0000</AppVersion>
  <Words>1595</Words>
  <Paragraphs>331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2026-06-16T12:02:16Z</cp:lastPrinted>
  <dcterms:modified xsi:type="dcterms:W3CDTF">2026-06-16T12:03:26Z</dcterms:modified>
  <cp:revision>1063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Custom</vt:lpwstr>
  </property>
  <property fmtid="{D5CDD505-2E9C-101B-9397-08002B2CF9AE}" pid="4" name="Slides">
    <vt:i4>28</vt:i4>
  </property>
</Properties>
</file>