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69F50C-EFE3-4719-B7B9-F4B6A5115345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200" cy="3490560"/>
          </a:xfrm>
          <a:custGeom>
            <a:avLst/>
            <a:gdLst>
              <a:gd name="textAreaLeft" fmla="*/ 0 w 3166200"/>
              <a:gd name="textAreaRight" fmla="*/ 3168000 w 3166200"/>
              <a:gd name="textAreaTop" fmla="*/ 0 h 3490560"/>
              <a:gd name="textAreaBottom" fmla="*/ 3492360 h 34905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9200" cy="10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7800" cy="29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200" cy="3490560"/>
          </a:xfrm>
          <a:custGeom>
            <a:avLst/>
            <a:gdLst>
              <a:gd name="textAreaLeft" fmla="*/ 0 w 3166200"/>
              <a:gd name="textAreaRight" fmla="*/ 3168000 w 3166200"/>
              <a:gd name="textAreaTop" fmla="*/ 0 h 3490560"/>
              <a:gd name="textAreaBottom" fmla="*/ 3492360 h 34905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7920" cy="5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7920" cy="11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4880" cy="11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1160" cy="3824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8520" cy="11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6200" cy="3824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1880" cy="5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6560" cy="239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1200" cy="239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07E0C4E-462B-4222-98CF-62617BEFF7E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8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0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1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1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1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2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32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33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25B1D24-5C66-4AD2-82A7-785DEE4B0E4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6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2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64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4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4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5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6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36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37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A817CC5-CCD0-47F2-8E05-2ED0998A966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8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3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4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85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86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2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96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9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00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2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5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06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0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FF344DA-3EA1-46F0-8646-7BB94A84184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028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1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2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64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1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2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2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2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43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3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4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9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50" name="Gruppieren 53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5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4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7493310-5C87-4BE8-90DA-36CD181B31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592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57" name="Gerader Verbinder 46"/>
          <p:cNvCxnSpPr/>
          <p:nvPr/>
        </p:nvCxnSpPr>
        <p:spPr>
          <a:xfrm>
            <a:off x="4625640" y="974520"/>
            <a:ext cx="272952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8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5360" cy="491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000" cy="3485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5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6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6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63" name="Freihandform: Form 68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Freihandform: Form 69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70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71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72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73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9" name="Freihandform: Form 45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Freihandform: Form 4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4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473" name="Freihandform: Form 66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67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5" name="Freihandform: Form 50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77" name="Freihandform: Form 6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6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9" name="Freihandform: Form 52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ihandform: Form 5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5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83" name="Freihandform: Form 6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6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6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6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8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9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9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9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9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0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0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1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8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9" name="Gruppieren 54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2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3" name="PlaceHolder 1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0D6636A-0E67-474E-B018-B2C29D71B0E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592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26" name="Gerader Verbinder 47"/>
          <p:cNvCxnSpPr/>
          <p:nvPr/>
        </p:nvCxnSpPr>
        <p:spPr>
          <a:xfrm>
            <a:off x="4625640" y="974520"/>
            <a:ext cx="272952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7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4280" cy="242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4280" cy="2419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8520" cy="3485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85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3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3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33" name="Freihandform: Form 69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70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71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ihandform: Form 72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73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ihandform: Form 74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9" name="Freihandform: Form 45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Freihandform: Form 46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Freihandform: Form 49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43" name="Freihandform: Form 67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ihandform: Form 68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5" name="Freihandform: Form 51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47" name="Freihandform: Form 65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66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9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Freihandform: Form 58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Freihandform: Form 59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53" name="Freihandform: Form 61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Freihandform: Form 62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ihandform: Form 63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Freihandform: Form 64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5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6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6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6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6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7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7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8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8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84576C7-C40F-4E34-88DF-9404850A74F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284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284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9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0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0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1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1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2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C068BF1-1CB7-42EC-A57A-3C84611A61C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7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728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7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6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4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4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5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5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6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5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A541E0B-1113-4C96-869C-22FAEA68369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2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672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5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6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77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78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4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7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88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0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1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92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4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7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98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2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FA73342-3B4E-4144-9CDA-498B147DC9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0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0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1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13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9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23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727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9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33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7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183A25A-A7F5-40D3-8481-C30EB1FB574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928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4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4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5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6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76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7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6A3EFC3-F575-4B68-928D-C0857638004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9280" cy="330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8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8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8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8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8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9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0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0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1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1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2A58C82-1E0F-46B3-B4A9-1D973BC7DCF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1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2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2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3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3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4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45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6" name="Gruppieren 49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4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920" cy="91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51" name="Grafik 11"/>
          <p:cNvSpPr/>
          <p:nvPr/>
        </p:nvSpPr>
        <p:spPr>
          <a:xfrm>
            <a:off x="0" y="0"/>
            <a:ext cx="3730320" cy="4913280"/>
          </a:xfrm>
          <a:custGeom>
            <a:avLst/>
            <a:gdLst>
              <a:gd name="textAreaLeft" fmla="*/ 0 w 3730320"/>
              <a:gd name="textAreaRight" fmla="*/ 3732120 w 3730320"/>
              <a:gd name="textAreaTop" fmla="*/ 0 h 4913280"/>
              <a:gd name="textAreaBottom" fmla="*/ 4915080 h 491328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237A6C0-1589-42F3-BC88-6AD137B4EAA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54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55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56" name="Freihandform: Form 6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6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6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6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6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7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3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Freihandform: Form 44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Freihandform: Form 45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5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66" name="Freihandform: Form 6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ihandform: Form 6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8" name="Freihandform: Form 47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70" name="Freihandform: Form 6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6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2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Freihandform: Form 5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Freihandform: Form 5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5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76" name="Freihandform: Form 5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ihandform: Form 5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5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6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8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8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8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8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9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0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0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11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12" name="Gruppieren 49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1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920" cy="91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52257EC-D94C-45C2-9823-6E8F7AA3658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2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21" name="Freihandform: Form 6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Freihandform: Form 6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ihandform: Form 6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ihandform: Form 6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6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7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3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Freihandform: Form 44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Freihandform: Form 45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31" name="Freihandform: Form 6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Freihandform: Form 6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3" name="Freihandform: Form 47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35" name="Freihandform: Form 6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6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7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Freihandform: Form 5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Freihandform: Form 5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41" name="Freihandform: Form 5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5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5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4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5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5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6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6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7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2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4C00131-3CE3-4D2E-A5CA-F99908A5607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40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460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8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8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8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9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0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0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3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F6E827F-3E4D-4686-BA35-26CFE2DF54A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1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2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2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3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3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4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9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399150B-23A4-47FE-ADA7-BE5E6090660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840" cy="3422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640" cy="3422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5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6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6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7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7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8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6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87" name="Gruppieren 52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8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93" name="Freihandform: Form 3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3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3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3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4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17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18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19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03" name="Freihandform: Form 3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21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07" name="Freihandform: Form 3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2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2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2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13" name="Freihandform: Form 2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2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2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3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Grafik 11"/>
          <p:cNvSpPr/>
          <p:nvPr/>
        </p:nvSpPr>
        <p:spPr>
          <a:xfrm>
            <a:off x="0" y="0"/>
            <a:ext cx="3730320" cy="4913280"/>
          </a:xfrm>
          <a:custGeom>
            <a:avLst/>
            <a:gdLst>
              <a:gd name="textAreaLeft" fmla="*/ 0 w 3730320"/>
              <a:gd name="textAreaRight" fmla="*/ 3732120 w 3730320"/>
              <a:gd name="textAreaTop" fmla="*/ 0 h 4913280"/>
              <a:gd name="textAreaBottom" fmla="*/ 4915080 h 491328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B81AC67-654E-4379-8D17-CFDBC9D8D09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756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21" name="Gerader Verbinder 45"/>
          <p:cNvCxnSpPr/>
          <p:nvPr/>
        </p:nvCxnSpPr>
        <p:spPr>
          <a:xfrm>
            <a:off x="4464000" y="974520"/>
            <a:ext cx="289116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22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16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656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12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2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13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13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4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4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5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5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2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2BE403F-6FF9-4DC0-9985-C913E286878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8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16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09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09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16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16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17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8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8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9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45E80FC-D795-4DE6-81EC-CB24C3562D4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F8B7F62-2F80-4CF5-B5ED-A156AFA388E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12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61DAE15-4D00-4C07-8426-048EC8F7652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12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7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0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8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83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9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93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4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5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97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9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303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7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8C73A58-F9EB-41DB-BF2B-B4F23385CA2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16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hhu-bsinfo/HeineOS" TargetMode="Externa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osdev.org/" TargetMode="Externa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3600000" y="2268000"/>
            <a:ext cx="4948200" cy="10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Betriebssystem-Entwicklung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Einführung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200" cy="603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br>
              <a:rPr sz="1600"/>
            </a:b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Organisation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Lernziele und Nutzen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Inhalte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Literatur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Einordnung der Veranstaltung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Beispiel: Töne erzeugen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B1C3C35E-5BC8-455F-A94B-5637B9D55A4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6" name="Rounded Rectangle 1"/>
          <p:cNvSpPr/>
          <p:nvPr/>
        </p:nvSpPr>
        <p:spPr>
          <a:xfrm>
            <a:off x="372960" y="1206720"/>
            <a:ext cx="3261240" cy="358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27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1.6 Beispiel: Töne erzeugen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DC9C2EA1-44AC-43C6-A5C1-68B4DC3A89F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Vorlesung: 1 SWS und Übung: 3 SWS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Präsenztermine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Montag, 8:30 - 10:00Uhr, 25.12.01.51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Donnerstag,14:30 - 16:00Uhr, 25.12.01.51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Hauptziel: Jede Person baut ein eigenes kleines 64-Bit Betriebssystem für x86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(Name: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HeineOS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Dies entsteht durch die Übungen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Für die verschiedenen Komponenten gibt es jeweils Vorgaben,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sodass nicht alles selbst programmiert werden muss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0E144D5A-7B66-489A-94FA-4F4DE9FA97B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Vorlesungs- und Übungsunterlagen: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auf GitHub (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https://github.com/hhu-bsinfo/HeineOS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Rocketchat-Grupe (Betriebssystementwicklung 2026)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Voraussetzungen: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Betriebssystem-Grundkenntnisse empfohlen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Spaß and hardwarenaher Programmierung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Durchhaltevermögen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C3F31359-0F33-4117-933C-B991687C741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Übungen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Ziel: jede Person soll am Ende ein eigenes kleines Betriebssystem geschrieben haben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verpflichtende Abgabe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Übungsblätter bauen aufeinander auf, wodurch sich das Betriebssystem ergibt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Das Betriebssystem muss in Qemu laufen!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Rechner zum Testen auf echter Hardware wird in der Übung bereitgestellt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Programmierung erfolgt in Rust (punktuell wird Assembler benötigt)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40B482B5-8F56-4B1A-815E-3E24A246175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Prüfung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 ECTS für den Studiengang Master Informatik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Prüfungsform: Portfolio + Prüfungsgespräch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Das eigene Betriebssystems muss zwei Wochen vor dem Gespräch abgegeben werden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 Prüfungsgespräch muss eine Demo vorgeführt werden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Für die Note 1.0 müssen alle Funktionen aus allen Übungsblättern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funktionieren sowie eine Anwendung oder Erweiterung vorzeigbar sein.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Beantwortung der Fragen zum eigenen Projekt fließt auch in die Bewertung ein.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DBDEF9DB-63DB-458B-B19D-34CE20C5B6DF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Rounded Rectangle 1"/>
          <p:cNvSpPr/>
          <p:nvPr/>
        </p:nvSpPr>
        <p:spPr>
          <a:xfrm>
            <a:off x="372960" y="1782720"/>
            <a:ext cx="3261240" cy="358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8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1.6 Beispiel: Töne erzeugen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C6FE3A0C-1BA1-4003-8AA3-9EDA18D95F2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1.2 Lernziele und Nutzen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Vertieftes Verständnis für Betriebssystem-Techniken/-Konzepten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Struktur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Funktionsweise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Implementierung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Grundlegende BS-Funktionen in Rust implementieren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 Weg ist das Ziel: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HeineOS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Entwicklung eines eigenen Betriebssystems von der Pike auf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x86-Technologie besser verstehen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1.2 Lernziele und Nutzen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080E2A2-811A-4BBD-9FAC-7EA199CEC56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1.2 Lernziele und Nutzen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Kenntnisse nützlich für die Entwicklung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von Kernel-Komponenten und Treibern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von Middleware und Anwendungen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Zusätzliche Möglichkeiten auf der Hardware-Ebene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Bei Bedarf Leistungsreserven der Hardware voll nutzbar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„If you want to travel around the world and be invited to speak at a lot of different places, just write a UNIX operating system“ - Linus Torvalds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3" name="WordArt 4"/>
          <p:cNvSpPr txBox="1"/>
          <p:nvPr/>
        </p:nvSpPr>
        <p:spPr>
          <a:xfrm rot="21103800">
            <a:off x="2376720" y="2820600"/>
            <a:ext cx="6585480" cy="973800"/>
          </a:xfrm>
          <a:prstGeom prst="rect">
            <a:avLst/>
          </a:prstGeom>
        </p:spPr>
        <p:txBody>
          <a:bodyPr numCol="1" spcCol="0" wrap="none" lIns="0" tIns="0" rIns="0" bIns="0" anchor="ctr" anchorCtr="1">
            <a:prstTxWarp prst="textCurveUp">
              <a:avLst>
                <a:gd name="adj" fmla="val 45977"/>
              </a:avLst>
            </a:prstTxWarp>
            <a:noAutofit/>
            <a:scene3d>
              <a:camera prst="legacyPerspectiveFront">
                <a:rot lat="19799999" lon="19439998" rev="0"/>
              </a:camera>
              <a:lightRig dir="t" rig="legacyNormal2"/>
            </a:scene3d>
            <a:sp3d extrusionH="354000" prstMaterial="legacyMatte">
              <a:extrusionClr>
                <a:srgbClr val="939676"/>
              </a:extrusionClr>
              <a:contourClr>
                <a:srgbClr val="FFFFFF"/>
              </a:contourClr>
            </a:sp3d>
          </a:bodyPr>
          <a:p>
            <a:pPr algn="ctr" defTabSz="686160">
              <a:lnSpc>
                <a:spcPct val="100000"/>
              </a:lnSpc>
            </a:pPr>
            <a:r>
              <a:rPr lang="en-GB" sz="2650" b="0" u="none" spc="536" strike="noStrike">
                <a:ln w="0">
                  <a:noFill/>
                </a:ln>
                <a:gradFill rotWithShape="0">
                  <a:gsLst>
                    <a:gs pos="0">
                      <a:srgbClr val="707070"/>
                    </a:gs>
                    <a:gs pos="50000">
                      <a:srgbClr val="FFFFFF"/>
                    </a:gs>
                    <a:gs pos="100000">
                      <a:srgbClr val="707070"/>
                    </a:gs>
                  </a:gsLst>
                  <a:lin ang="3636000"/>
                </a:gradFill>
                <a:uFillTx/>
                <a:latin typeface="Impact"/>
                <a:ea typeface="Times New Roman"/>
              </a:rPr>
              <a:t>Programming to the bare metal</a:t>
            </a:r>
            <a:endParaRPr lang="de-DE" sz="2650" b="0" u="none" strike="noStrike">
              <a:ln w="0">
                <a:noFill/>
              </a:ln>
              <a:gradFill rotWithShape="0">
                <a:gsLst>
                  <a:gs pos="0">
                    <a:srgbClr val="707070"/>
                  </a:gs>
                  <a:gs pos="50000">
                    <a:srgbClr val="FFFFFF"/>
                  </a:gs>
                  <a:gs pos="100000">
                    <a:srgbClr val="707070"/>
                  </a:gs>
                </a:gsLst>
                <a:lin ang="3636000"/>
              </a:gra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1.2 Lernziele und Nutzen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B311CDA2-7263-45CE-A390-B89DB87C20F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5" name="Rounded Rectangle 1"/>
          <p:cNvSpPr/>
          <p:nvPr/>
        </p:nvSpPr>
        <p:spPr>
          <a:xfrm>
            <a:off x="372960" y="2359080"/>
            <a:ext cx="3261240" cy="358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6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1.6 Beispiel: Töne erzeugen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3B29B526-10A5-4306-9C08-8A856A5E9DC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Inhalte der Vorlesung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Einleitung (mit PC-Speaker)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BS-Entwicklung (Bootvorgang &amp; Debugging)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 Architektur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(PIC &amp; APIC)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Koroutinen &amp; Threads &amp; Scheduling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Synchronisierung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Gerätetreiberarchitekturen (Linux, Windows)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EECF6700-196A-4222-B5A0-6939B85ECD6C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Inhalte der Übungen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Ein-/Ausgabe: Serielle Schnittstelle, Bildschirm &amp; Tastatur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Heap-Verwaltung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Interrupts: PIC &amp; Tastatur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Nebenläufigkeit: Koroutinen, kooperative Threads, Scheduler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Preemptives Multi-Threading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Dateisystem &amp; GameBoy Emulator (Peanut-GB)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Eine eigene Anwendung oder Erweiterung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56D5E181-4981-4940-A512-8C79FAE3786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Komponenten von HeineOS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52" name="Group 1"/>
          <p:cNvGrpSpPr/>
          <p:nvPr/>
        </p:nvGrpSpPr>
        <p:grpSpPr>
          <a:xfrm>
            <a:off x="1415520" y="1416960"/>
            <a:ext cx="5819040" cy="2923200"/>
            <a:chOff x="1415520" y="1416960"/>
            <a:chExt cx="5819040" cy="2923200"/>
          </a:xfrm>
        </p:grpSpPr>
        <p:sp>
          <p:nvSpPr>
            <p:cNvPr id="1353" name="Abgerundetes Rechteck 3"/>
            <p:cNvSpPr/>
            <p:nvPr/>
          </p:nvSpPr>
          <p:spPr>
            <a:xfrm>
              <a:off x="1415520" y="3846600"/>
              <a:ext cx="5819040" cy="4935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BB9D"/>
                </a:gs>
                <a:gs pos="50000">
                  <a:srgbClr val="FBB190"/>
                </a:gs>
                <a:gs pos="100000">
                  <a:srgbClr val="FAA57B"/>
                </a:gs>
              </a:gsLst>
              <a:lin ang="5400000"/>
            </a:gradFill>
            <a:ln>
              <a:solidFill>
                <a:srgbClr val="EE7F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Hardware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Abgerundetes Rechteck 4"/>
            <p:cNvSpPr/>
            <p:nvPr/>
          </p:nvSpPr>
          <p:spPr>
            <a:xfrm>
              <a:off x="1415520" y="2945160"/>
              <a:ext cx="16740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Geräte-Treiber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Abgerundetes Rechteck 5"/>
            <p:cNvSpPr/>
            <p:nvPr/>
          </p:nvSpPr>
          <p:spPr>
            <a:xfrm>
              <a:off x="1415520" y="1416960"/>
              <a:ext cx="5819040" cy="4935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ADD9D5"/>
                </a:gs>
                <a:gs pos="50000">
                  <a:srgbClr val="A0D2CD"/>
                </a:gs>
                <a:gs pos="100000">
                  <a:srgbClr val="8FCFC8"/>
                </a:gs>
              </a:gsLst>
              <a:lin ang="5400000"/>
            </a:gradFill>
            <a:ln>
              <a:solidFill>
                <a:srgbClr val="57BAB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Anwendungen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Abgerundetes Rechteck 6"/>
            <p:cNvSpPr/>
            <p:nvPr/>
          </p:nvSpPr>
          <p:spPr>
            <a:xfrm>
              <a:off x="3376080" y="2945160"/>
              <a:ext cx="16740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Interrupt-Behandlung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Abgerundetes Rechteck 7"/>
            <p:cNvSpPr/>
            <p:nvPr/>
          </p:nvSpPr>
          <p:spPr>
            <a:xfrm>
              <a:off x="3376080" y="2066040"/>
              <a:ext cx="16740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Speicher-Verwaltung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Abgerundetes Rechteck 8"/>
            <p:cNvSpPr/>
            <p:nvPr/>
          </p:nvSpPr>
          <p:spPr>
            <a:xfrm>
              <a:off x="5369760" y="2945160"/>
              <a:ext cx="18648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Synchronisierung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Abgerundetes Rechteck 9"/>
            <p:cNvSpPr/>
            <p:nvPr/>
          </p:nvSpPr>
          <p:spPr>
            <a:xfrm>
              <a:off x="5369760" y="2066040"/>
              <a:ext cx="18648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Threads &amp; Scheduler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Abgerundetes Rechteck 10"/>
            <p:cNvSpPr/>
            <p:nvPr/>
          </p:nvSpPr>
          <p:spPr>
            <a:xfrm>
              <a:off x="1415520" y="2066040"/>
              <a:ext cx="1674000" cy="7318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Bibliotheken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BB8C87DB-040D-45B2-8FC1-A44E2B2764C5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2" name="Rounded Rectangle 1"/>
          <p:cNvSpPr/>
          <p:nvPr/>
        </p:nvSpPr>
        <p:spPr>
          <a:xfrm>
            <a:off x="372960" y="2935080"/>
            <a:ext cx="3261240" cy="358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3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1.6 Beispiel: Töne erzeugen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2478342A-0D14-4FE0-9AC0-93FE0315BCA7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1.4 Literatur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sng" strike="noStrike">
                <a:solidFill>
                  <a:srgbClr val="AEABAB"/>
                </a:solidFill>
                <a:effectLst/>
                <a:uFillTx/>
                <a:latin typeface="Arial"/>
                <a:hlinkClick r:id="rId1"/>
              </a:rPr>
              <a:t>https://OSDev.org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Manuals von Intel und AMD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1.4 Literatur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76BC9A4B-ACD7-4366-86B7-38997609EB5E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7" name="Rounded Rectangle 1"/>
          <p:cNvSpPr/>
          <p:nvPr/>
        </p:nvSpPr>
        <p:spPr>
          <a:xfrm>
            <a:off x="372960" y="3583080"/>
            <a:ext cx="3261240" cy="358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8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1.6 Beispiel: Töne erzeugen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11164A29-3FD8-4C46-A80E-B2FA5621A5B7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1.5 Einordnung der Veranstaltung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70" name=""/>
          <p:cNvPicPr/>
          <p:nvPr/>
        </p:nvPicPr>
        <p:blipFill>
          <a:blip r:embed="rId1"/>
          <a:stretch/>
        </p:blipFill>
        <p:spPr>
          <a:xfrm>
            <a:off x="540000" y="1440000"/>
            <a:ext cx="7899120" cy="27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1.5 Einordnung der Veranstaltung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C3BAC067-C4DA-4C4B-83A3-ECF7EA2BC379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8140</TotalTime>
  <Application>LibreOffice/26.2.2.2$Linux_X86_64 LibreOffice_project/42d76a33568d9a37e1fc00c3228d3881e2f8df73</Application>
  <AppVersion>15.0000</AppVersion>
  <Words>1521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2026-04-13T10:22:43Z</dcterms:modified>
  <cp:revision>926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