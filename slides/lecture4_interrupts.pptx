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media/image11.wmf" ContentType="image/x-wmf"/>
  <Override PartName="/ppt/media/image12.wmf" ContentType="image/x-wmf"/>
  <Override PartName="/ppt/media/image8.wmf" ContentType="image/x-wmf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PlaceHolder 4"/>
          <p:cNvSpPr>
            <a:spLocks noGrp="1"/>
          </p:cNvSpPr>
          <p:nvPr>
            <p:ph type="dt" idx="5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5"/>
          <p:cNvSpPr>
            <a:spLocks noGrp="1"/>
          </p:cNvSpPr>
          <p:nvPr>
            <p:ph type="ftr" idx="5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6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579FA7C-487E-43EB-ABEF-825AF4FB115A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1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4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7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0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9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2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5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1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7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7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0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3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6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9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2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5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8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1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7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0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6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9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2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7760" cy="3084120"/>
          </a:xfrm>
          <a:prstGeom prst="rect">
            <a:avLst/>
          </a:prstGeom>
          <a:ln w="0">
            <a:noFill/>
          </a:ln>
        </p:spPr>
      </p:sp>
      <p:sp>
        <p:nvSpPr>
          <p:cNvPr id="1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5840" cy="3490200"/>
          </a:xfrm>
          <a:custGeom>
            <a:avLst/>
            <a:gdLst>
              <a:gd name="textAreaLeft" fmla="*/ 0 w 3165840"/>
              <a:gd name="textAreaRight" fmla="*/ 3168000 w 3165840"/>
              <a:gd name="textAreaTop" fmla="*/ 0 h 3490200"/>
              <a:gd name="textAreaBottom" fmla="*/ 3492360 h 349020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398840" cy="1067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7440" cy="29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5840" cy="3490200"/>
          </a:xfrm>
          <a:custGeom>
            <a:avLst/>
            <a:gdLst>
              <a:gd name="textAreaLeft" fmla="*/ 0 w 3165840"/>
              <a:gd name="textAreaRight" fmla="*/ 3168000 w 3165840"/>
              <a:gd name="textAreaTop" fmla="*/ 0 h 3490200"/>
              <a:gd name="textAreaBottom" fmla="*/ 3492360 h 349020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899440"/>
            <a:ext cx="6397560" cy="53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6397560" cy="110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4934520" cy="110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 hasCustomPrompt="1"/>
          </p:nvPr>
        </p:nvSpPr>
        <p:spPr>
          <a:xfrm>
            <a:off x="5621040" y="1088280"/>
            <a:ext cx="3520800" cy="3824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250360"/>
            <a:ext cx="2828160" cy="118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 hasCustomPrompt="1"/>
          </p:nvPr>
        </p:nvSpPr>
        <p:spPr>
          <a:xfrm>
            <a:off x="3546000" y="1088280"/>
            <a:ext cx="5595840" cy="3824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52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3818520"/>
            <a:ext cx="5771520" cy="56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6040" cy="581400"/>
            <a:chOff x="522720" y="385200"/>
            <a:chExt cx="1526040" cy="58140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59840" cy="141120"/>
            </a:xfrm>
            <a:custGeom>
              <a:avLst/>
              <a:gdLst>
                <a:gd name="textAreaLeft" fmla="*/ 0 w 159840"/>
                <a:gd name="textAreaRight" fmla="*/ 162000 w 159840"/>
                <a:gd name="textAreaTop" fmla="*/ 0 h 141120"/>
                <a:gd name="textAreaBottom" fmla="*/ 143280 h 14112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9920" tIns="45000" rIns="7992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2400" cy="39528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395280"/>
                <a:gd name="textAreaBottom" fmla="*/ 397440 h 39528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2400" cy="511560"/>
            </a:xfrm>
            <a:custGeom>
              <a:avLst/>
              <a:gdLst>
                <a:gd name="textAreaLeft" fmla="*/ 0 w 392400"/>
                <a:gd name="textAreaRight" fmla="*/ 394560 w 392400"/>
                <a:gd name="textAreaTop" fmla="*/ 0 h 511560"/>
                <a:gd name="textAreaBottom" fmla="*/ 513720 h 51156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6676200" cy="2394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 hasCustomPrompt="1"/>
          </p:nvPr>
        </p:nvSpPr>
        <p:spPr>
          <a:xfrm>
            <a:off x="6741000" y="1422360"/>
            <a:ext cx="2400840" cy="2394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494207D-33CD-411F-B065-459B9C991DB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914184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305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8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09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310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311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7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0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321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3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4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325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7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30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331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5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B7E1A1E-8B70-4B5B-BCBE-8FFF5C80E75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9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340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2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3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4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345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346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7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8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2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4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5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356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8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9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360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2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3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4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5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366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70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B348DA9-B9F1-4F48-9F5B-23320EE0135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09892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6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377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80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81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382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383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9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2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393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5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6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397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8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9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0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1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02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403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7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DCE8C29-1405-4015-9478-A3F10CE7B0A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098920" cy="3309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3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414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5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7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8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419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420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3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4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5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6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7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9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430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2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3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434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6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7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8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9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440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4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1"/>
          <p:cNvSpPr>
            <a:spLocks noGrp="1"/>
          </p:cNvSpPr>
          <p:nvPr>
            <p:ph type="ftr" idx="15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sldNum" idx="16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B0B082E-328F-4E48-9487-D83A49F26DF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44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5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5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45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45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46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46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47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78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79" name="Gruppieren 49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480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1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2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7560" cy="91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84" name="Grafik 11"/>
          <p:cNvSpPr/>
          <p:nvPr/>
        </p:nvSpPr>
        <p:spPr>
          <a:xfrm>
            <a:off x="0" y="0"/>
            <a:ext cx="3729960" cy="4912920"/>
          </a:xfrm>
          <a:custGeom>
            <a:avLst/>
            <a:gdLst>
              <a:gd name="textAreaLeft" fmla="*/ 0 w 3729960"/>
              <a:gd name="textAreaRight" fmla="*/ 3732120 w 3729960"/>
              <a:gd name="textAreaTop" fmla="*/ 0 h 4912920"/>
              <a:gd name="textAreaBottom" fmla="*/ 4915080 h 491292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ftr" idx="17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18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51BD384-7D28-4B9A-AC3C-F53FC28AA57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87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488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489" name="Freihandform: Form 65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Freihandform: Form 66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Freihandform: Form 67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Freihandform: Form 68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Freihandform: Form 69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Freihandform: Form 70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5" name="Freihandform: Form 43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6" name="Freihandform: Form 44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7" name="Freihandform: Form 45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8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499" name="Freihandform: Form 63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Freihandform: Form 64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1" name="Freihandform: Form 47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2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503" name="Freihandform: Form 61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62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5" name="Freihandform: Form 53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6" name="Freihandform: Form 54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7" name="Freihandform: Form 55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8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509" name="Freihandform: Form 57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Freihandform: Form 58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Freihandform: Form 59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Freihandform: Form 60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3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514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5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6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7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18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519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520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2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3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4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5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6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7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8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9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530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2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33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534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5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6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7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8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39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540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44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45" name="Gruppieren 49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546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7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8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7560" cy="91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ftr" idx="19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20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AF22849-22F1-41CD-94A1-D4C40DD969B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55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55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554" name="Freihandform: Form 65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Freihandform: Form 66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Freihandform: Form 67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Freihandform: Form 68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Freihandform: Form 69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Freihandform: Form 70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0" name="Freihandform: Form 43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1" name="Freihandform: Form 44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2" name="Freihandform: Form 45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564" name="Freihandform: Form 63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5" name="Freihandform: Form 64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6" name="Freihandform: Form 47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568" name="Freihandform: Form 61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9" name="Freihandform: Form 62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0" name="Freihandform: Form 53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1" name="Freihandform: Form 54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2" name="Freihandform: Form 55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574" name="Freihandform: Form 57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Freihandform: Form 58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Freihandform: Form 59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Freihandform: Form 60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8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579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0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1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82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83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584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585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1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2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3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4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595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7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8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599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1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2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3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04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605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09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1"/>
          <p:cNvSpPr>
            <a:spLocks noGrp="1"/>
          </p:cNvSpPr>
          <p:nvPr>
            <p:ph type="title" hasCustomPrompt="1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2"/>
          <p:cNvSpPr>
            <a:spLocks noGrp="1"/>
          </p:cNvSpPr>
          <p:nvPr>
            <p:ph type="sldNum" idx="21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272E647-4CF8-4EA5-AFE1-02041659DC4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ftr" idx="22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PlaceHolder 4"/>
          <p:cNvSpPr>
            <a:spLocks noGrp="1"/>
          </p:cNvSpPr>
          <p:nvPr>
            <p:ph type="body" hasCustomPrompt="1"/>
          </p:nvPr>
        </p:nvSpPr>
        <p:spPr>
          <a:xfrm>
            <a:off x="5488200" y="1422360"/>
            <a:ext cx="365364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424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5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616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7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8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19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20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621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622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6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7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8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9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0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1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632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3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4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5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636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8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9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0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41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642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46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 type="sldNum" idx="23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739C610-EC6F-4B64-9B46-15ACA028918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0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651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2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54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55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656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657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9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0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1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2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3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5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6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667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9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0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671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3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5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6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677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81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 type="ftr" idx="24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5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30EAFDC-CC8A-4D0E-A3A0-FD7FB1810E1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39480" cy="34221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1280" cy="34221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68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9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9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69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69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70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70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1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1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71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18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 type="ftr" idx="26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 type="sldNum" idx="27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522D27B-E8A7-431B-BB86-70DC9AF55D9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3948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128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5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726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7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8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29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30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731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732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8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9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0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41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742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44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45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746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48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9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0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51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752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56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57" name="Gruppieren 52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75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1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762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763" name="Freihandform: Form 35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Freihandform: Form 36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Freihandform: Form 37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Freihandform: Form 38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Freihandform: Form 39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8" name="Freihandform: Form 40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9" name="Freihandform: Form 17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0" name="Freihandform: Form 18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1" name="Freihandform: Form 19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2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773" name="Freihandform: Form 33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ihandform: Form 34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5" name="Freihandform: Form 21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6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777" name="Freihandform: Form 31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Freihandform: Form 32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9" name="Freihandform: Form 23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0" name="Freihandform: Form 24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1" name="Freihandform: Form 25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82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783" name="Freihandform: Form 27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ihandform: Form 28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ihandform: Form 29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6" name="Freihandform: Form 30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7" name="Grafik 11"/>
          <p:cNvSpPr/>
          <p:nvPr/>
        </p:nvSpPr>
        <p:spPr>
          <a:xfrm>
            <a:off x="0" y="0"/>
            <a:ext cx="3729960" cy="4912920"/>
          </a:xfrm>
          <a:custGeom>
            <a:avLst/>
            <a:gdLst>
              <a:gd name="textAreaLeft" fmla="*/ 0 w 3729960"/>
              <a:gd name="textAreaRight" fmla="*/ 3732120 w 3729960"/>
              <a:gd name="textAreaTop" fmla="*/ 0 h 4912920"/>
              <a:gd name="textAreaBottom" fmla="*/ 4915080 h 491292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1"/>
          <p:cNvSpPr>
            <a:spLocks noGrp="1"/>
          </p:cNvSpPr>
          <p:nvPr>
            <p:ph type="ftr" idx="28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PlaceHolder 2"/>
          <p:cNvSpPr>
            <a:spLocks noGrp="1"/>
          </p:cNvSpPr>
          <p:nvPr>
            <p:ph type="sldNum" idx="29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5DB4EFE-2C12-47A1-B521-1FEC610E6E6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title" hasCustomPrompt="1"/>
          </p:nvPr>
        </p:nvSpPr>
        <p:spPr>
          <a:xfrm>
            <a:off x="4464000" y="330840"/>
            <a:ext cx="288720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791" name="Gerader Verbinder 45"/>
          <p:cNvCxnSpPr/>
          <p:nvPr/>
        </p:nvCxnSpPr>
        <p:spPr>
          <a:xfrm>
            <a:off x="4464000" y="974520"/>
            <a:ext cx="289152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792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680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620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4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795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6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7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98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99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800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801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7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8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9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0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811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2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3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4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815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6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7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8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9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20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821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25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2"/>
          <p:cNvSpPr>
            <a:spLocks noGrp="1"/>
          </p:cNvSpPr>
          <p:nvPr>
            <p:ph type="ftr" idx="30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31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1D761F6-C716-4041-BE85-D316AF81885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3948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480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056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32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056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3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834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5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6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37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38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839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840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4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5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6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7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8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9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850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2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3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854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6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7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8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9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860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2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3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64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A9429B0-3C44-4280-817B-D39D32D0CEF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PlaceHolder 4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809820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871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2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3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74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75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876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877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3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4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5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6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887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9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0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891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3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5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6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897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1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3" name="PlaceHolder 2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F2D1891-99B8-4795-97E5-982C6AD83DA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PlaceHolder 3"/>
          <p:cNvSpPr>
            <a:spLocks noGrp="1"/>
          </p:cNvSpPr>
          <p:nvPr>
            <p:ph type="ftr" idx="35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876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5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530820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8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909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0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1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12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13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914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915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1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2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3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4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925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7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8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929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1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3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4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935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39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41" name="PlaceHolder 2"/>
          <p:cNvSpPr>
            <a:spLocks noGrp="1"/>
          </p:cNvSpPr>
          <p:nvPr>
            <p:ph type="sldNum" idx="36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C9836FA-E2E3-4BD1-B455-92362234ED2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PlaceHolder 3"/>
          <p:cNvSpPr>
            <a:spLocks noGrp="1"/>
          </p:cNvSpPr>
          <p:nvPr>
            <p:ph type="ftr" idx="37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876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4" name="PlaceHolder 5"/>
          <p:cNvSpPr>
            <a:spLocks noGrp="1"/>
          </p:cNvSpPr>
          <p:nvPr>
            <p:ph type="body" hasCustomPrompt="1"/>
          </p:nvPr>
        </p:nvSpPr>
        <p:spPr>
          <a:xfrm>
            <a:off x="3311640" y="1422360"/>
            <a:ext cx="530820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6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947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8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9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0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51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952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953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9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0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1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2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963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4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5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6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967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8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9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0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1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72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973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77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79" name="PlaceHolder 2"/>
          <p:cNvSpPr>
            <a:spLocks noGrp="1"/>
          </p:cNvSpPr>
          <p:nvPr>
            <p:ph type="ftr" idx="38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PlaceHolder 3"/>
          <p:cNvSpPr>
            <a:spLocks noGrp="1"/>
          </p:cNvSpPr>
          <p:nvPr>
            <p:ph type="sldNum" idx="39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E4AAAED-7BAF-4C16-B68C-1765F39E8C8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39480" cy="163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2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9480" cy="163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3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39480" cy="163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1280" cy="163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5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986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7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8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89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90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991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992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8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9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0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1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002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3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4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5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006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7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8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9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0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11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012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3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4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5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16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18" name="PlaceHolder 2"/>
          <p:cNvSpPr>
            <a:spLocks noGrp="1"/>
          </p:cNvSpPr>
          <p:nvPr>
            <p:ph type="ftr" idx="40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41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2D431A8-BCEF-401D-8467-7F256677DD6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451620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21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228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2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228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3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024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5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6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27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28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029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030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6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7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8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9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040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2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3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044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6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7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8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9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050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3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54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6" name="PlaceHolder 2"/>
          <p:cNvSpPr>
            <a:spLocks noGrp="1"/>
          </p:cNvSpPr>
          <p:nvPr>
            <p:ph type="ftr" idx="42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ldNum" idx="43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A2BF467-08FC-45C1-B676-083390D2047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9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060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1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2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63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64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065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066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7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2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3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4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5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076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7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8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9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080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1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82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3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4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5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086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90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9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92" name="PlaceHolder 2"/>
          <p:cNvSpPr>
            <a:spLocks noGrp="1"/>
          </p:cNvSpPr>
          <p:nvPr>
            <p:ph type="ftr" idx="44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45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6DBB9A0-EC85-40DA-BA36-8A328C10AC9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223992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95" name="PlaceHolder 5"/>
          <p:cNvSpPr>
            <a:spLocks noGrp="1"/>
          </p:cNvSpPr>
          <p:nvPr>
            <p:ph type="body" hasCustomPrompt="1"/>
          </p:nvPr>
        </p:nvSpPr>
        <p:spPr>
          <a:xfrm>
            <a:off x="6921000" y="1422360"/>
            <a:ext cx="222084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96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2280" cy="349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97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228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8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099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0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1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02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03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104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105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6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8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9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0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1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2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3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4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115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6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7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8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119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0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21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2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3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4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125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6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7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8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29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30" name="Gruppieren 53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131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2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3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34" name="PlaceHolder 1"/>
          <p:cNvSpPr>
            <a:spLocks noGrp="1"/>
          </p:cNvSpPr>
          <p:nvPr>
            <p:ph type="ftr" idx="46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PlaceHolder 2"/>
          <p:cNvSpPr>
            <a:spLocks noGrp="1"/>
          </p:cNvSpPr>
          <p:nvPr>
            <p:ph type="sldNum" idx="47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FE8B5AB-21CE-43A3-A295-979ECE86D50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556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37" name="Gerader Verbinder 46"/>
          <p:cNvCxnSpPr/>
          <p:nvPr/>
        </p:nvCxnSpPr>
        <p:spPr>
          <a:xfrm>
            <a:off x="4625640" y="974520"/>
            <a:ext cx="272988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38" name="PlaceHolder 4"/>
          <p:cNvSpPr>
            <a:spLocks noGrp="1"/>
          </p:cNvSpPr>
          <p:nvPr>
            <p:ph type="body" hasCustomPrompt="1"/>
          </p:nvPr>
        </p:nvSpPr>
        <p:spPr>
          <a:xfrm>
            <a:off x="-6120" y="0"/>
            <a:ext cx="4275000" cy="4912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39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5640" cy="34855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40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4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141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142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143" name="Freihandform: Form 68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4" name="Freihandform: Form 69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5" name="Freihandform: Form 70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6" name="Freihandform: Form 71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7" name="Freihandform: Form 72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8" name="Freihandform: Form 73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9" name="Freihandform: Form 45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0" name="Freihandform: Form 4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1" name="Freihandform: Form 4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2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153" name="Freihandform: Form 66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Freihandform: Form 67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5" name="Freihandform: Form 50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6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157" name="Freihandform: Form 6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8" name="Freihandform: Form 6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9" name="Freihandform: Form 52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0" name="Freihandform: Form 5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1" name="Freihandform: Form 5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62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163" name="Freihandform: Form 6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Freihandform: Form 6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5" name="Freihandform: Form 6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6" name="Freihandform: Form 6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16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7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7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17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17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18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18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19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98" name="Freihandform: Form 44" hidden="1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99" name="Gruppieren 54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200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3" name="PlaceHolder 1"/>
          <p:cNvSpPr>
            <a:spLocks noGrp="1"/>
          </p:cNvSpPr>
          <p:nvPr>
            <p:ph type="ftr" idx="48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PlaceHolder 2"/>
          <p:cNvSpPr>
            <a:spLocks noGrp="1"/>
          </p:cNvSpPr>
          <p:nvPr>
            <p:ph type="sldNum" idx="49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B564675-2E4A-4003-8A1F-6A6FC398E57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556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206" name="Gerader Verbinder 47"/>
          <p:cNvCxnSpPr/>
          <p:nvPr/>
        </p:nvCxnSpPr>
        <p:spPr>
          <a:xfrm>
            <a:off x="4625640" y="974520"/>
            <a:ext cx="272988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207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4273920" cy="242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08" name="PlaceHolder 5"/>
          <p:cNvSpPr>
            <a:spLocks noGrp="1"/>
          </p:cNvSpPr>
          <p:nvPr>
            <p:ph type="body" hasCustomPrompt="1"/>
          </p:nvPr>
        </p:nvSpPr>
        <p:spPr>
          <a:xfrm>
            <a:off x="0" y="2493720"/>
            <a:ext cx="4273920" cy="24188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09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8160" cy="34855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0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816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11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212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213" name="Freihandform: Form 69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4" name="Freihandform: Form 70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5" name="Freihandform: Form 71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6" name="Freihandform: Form 72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7" name="Freihandform: Form 73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8" name="Freihandform: Form 74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9" name="Freihandform: Form 45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0" name="Freihandform: Form 46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1" name="Freihandform: Form 49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2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223" name="Freihandform: Form 67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4" name="Freihandform: Form 68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5" name="Freihandform: Form 51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6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227" name="Freihandform: Form 65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Freihandform: Form 66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9" name="Freihandform: Form 53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0" name="Freihandform: Form 58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1" name="Freihandform: Form 59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2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233" name="Freihandform: Form 61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4" name="Freihandform: Form 62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5" name="Freihandform: Form 63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6" name="Freihandform: Form 64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7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238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9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0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1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2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243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244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5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6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7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0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1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2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3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254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6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7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258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0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1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2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3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264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68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2"/>
          <p:cNvSpPr>
            <a:spLocks noGrp="1"/>
          </p:cNvSpPr>
          <p:nvPr>
            <p:ph type="ftr" idx="50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51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919655F-D14D-4626-A934-00C018C9663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454248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3" name="PlaceHolder 5"/>
          <p:cNvSpPr>
            <a:spLocks noGrp="1"/>
          </p:cNvSpPr>
          <p:nvPr>
            <p:ph type="body" hasCustomPrompt="1"/>
          </p:nvPr>
        </p:nvSpPr>
        <p:spPr>
          <a:xfrm>
            <a:off x="4599360" y="1422360"/>
            <a:ext cx="454248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5" name="Gruppieren 6"/>
          <p:cNvGrpSpPr/>
          <p:nvPr/>
        </p:nvGrpSpPr>
        <p:grpSpPr>
          <a:xfrm>
            <a:off x="-5040" y="4950720"/>
            <a:ext cx="9146880" cy="195840"/>
            <a:chOff x="-5040" y="4950720"/>
            <a:chExt cx="9146880" cy="195840"/>
          </a:xfrm>
        </p:grpSpPr>
        <p:sp>
          <p:nvSpPr>
            <p:cNvPr id="1276" name="bk object 18"/>
            <p:cNvSpPr/>
            <p:nvPr/>
          </p:nvSpPr>
          <p:spPr>
            <a:xfrm>
              <a:off x="-5040" y="4950720"/>
              <a:ext cx="482760" cy="195840"/>
            </a:xfrm>
            <a:custGeom>
              <a:avLst/>
              <a:gdLst>
                <a:gd name="textAreaLeft" fmla="*/ 0 w 482760"/>
                <a:gd name="textAreaRight" fmla="*/ 484920 w 48276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7" name="bk object 18"/>
            <p:cNvSpPr/>
            <p:nvPr/>
          </p:nvSpPr>
          <p:spPr>
            <a:xfrm>
              <a:off x="522360" y="4950720"/>
              <a:ext cx="8619480" cy="195840"/>
            </a:xfrm>
            <a:custGeom>
              <a:avLst/>
              <a:gdLst>
                <a:gd name="textAreaLeft" fmla="*/ 0 w 8619480"/>
                <a:gd name="textAreaRight" fmla="*/ 8621640 w 8619480"/>
                <a:gd name="textAreaTop" fmla="*/ 0 h 195840"/>
                <a:gd name="textAreaBottom" fmla="*/ 198000 h 19584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8" name="Holder 3"/>
            <p:cNvSpPr/>
            <p:nvPr/>
          </p:nvSpPr>
          <p:spPr>
            <a:xfrm>
              <a:off x="8194680" y="4966200"/>
              <a:ext cx="447480" cy="16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79" name="Gerader Verbinder 11"/>
          <p:cNvCxnSpPr/>
          <p:nvPr/>
        </p:nvCxnSpPr>
        <p:spPr>
          <a:xfrm>
            <a:off x="521280" y="974520"/>
            <a:ext cx="6834240" cy="216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0" name="Grafik 9"/>
          <p:cNvGrpSpPr/>
          <p:nvPr/>
        </p:nvGrpSpPr>
        <p:grpSpPr>
          <a:xfrm>
            <a:off x="7741440" y="394200"/>
            <a:ext cx="1047960" cy="618840"/>
            <a:chOff x="7741440" y="394200"/>
            <a:chExt cx="1047960" cy="618840"/>
          </a:xfrm>
        </p:grpSpPr>
        <p:grpSp>
          <p:nvGrpSpPr>
            <p:cNvPr id="1281" name="Grafik 9"/>
            <p:cNvGrpSpPr/>
            <p:nvPr/>
          </p:nvGrpSpPr>
          <p:grpSpPr>
            <a:xfrm>
              <a:off x="7741440" y="394200"/>
              <a:ext cx="882720" cy="430200"/>
              <a:chOff x="7741440" y="394200"/>
              <a:chExt cx="882720" cy="430200"/>
            </a:xfrm>
          </p:grpSpPr>
          <p:sp>
            <p:nvSpPr>
              <p:cNvPr id="1282" name="Freihandform: Form 20"/>
              <p:cNvSpPr/>
              <p:nvPr/>
            </p:nvSpPr>
            <p:spPr>
              <a:xfrm>
                <a:off x="8358120" y="480600"/>
                <a:ext cx="266040" cy="26640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266400"/>
                  <a:gd name="textAreaBottom" fmla="*/ 268560 h 26640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3" name="Freihandform: Form 21"/>
              <p:cNvSpPr/>
              <p:nvPr/>
            </p:nvSpPr>
            <p:spPr>
              <a:xfrm>
                <a:off x="774144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4" name="Freihandform: Form 22"/>
              <p:cNvSpPr/>
              <p:nvPr/>
            </p:nvSpPr>
            <p:spPr>
              <a:xfrm>
                <a:off x="8050680" y="394200"/>
                <a:ext cx="266040" cy="346320"/>
              </a:xfrm>
              <a:custGeom>
                <a:avLst/>
                <a:gdLst>
                  <a:gd name="textAreaLeft" fmla="*/ 0 w 266040"/>
                  <a:gd name="textAreaRight" fmla="*/ 268200 w 266040"/>
                  <a:gd name="textAreaTop" fmla="*/ 0 h 346320"/>
                  <a:gd name="textAreaBottom" fmla="*/ 348480 h 34632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Freihandform: Form 23"/>
              <p:cNvSpPr/>
              <p:nvPr/>
            </p:nvSpPr>
            <p:spPr>
              <a:xfrm>
                <a:off x="784800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Freihandform: Form 24"/>
              <p:cNvSpPr/>
              <p:nvPr/>
            </p:nvSpPr>
            <p:spPr>
              <a:xfrm>
                <a:off x="795816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5"/>
              <p:cNvSpPr/>
              <p:nvPr/>
            </p:nvSpPr>
            <p:spPr>
              <a:xfrm>
                <a:off x="8212320" y="817560"/>
                <a:ext cx="6840" cy="6840"/>
              </a:xfrm>
              <a:custGeom>
                <a:avLst/>
                <a:gdLst>
                  <a:gd name="textAreaLeft" fmla="*/ 0 w 6840"/>
                  <a:gd name="textAreaRight" fmla="*/ 9000 w 6840"/>
                  <a:gd name="textAreaTop" fmla="*/ 0 h 6840"/>
                  <a:gd name="textAreaBottom" fmla="*/ 9000 h 684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88" name="Freihandform: Form 26"/>
            <p:cNvSpPr/>
            <p:nvPr/>
          </p:nvSpPr>
          <p:spPr>
            <a:xfrm>
              <a:off x="774144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9" name="Freihandform: Form 27"/>
            <p:cNvSpPr/>
            <p:nvPr/>
          </p:nvSpPr>
          <p:spPr>
            <a:xfrm>
              <a:off x="779976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0" name="Freihandform: Form 28"/>
            <p:cNvSpPr/>
            <p:nvPr/>
          </p:nvSpPr>
          <p:spPr>
            <a:xfrm>
              <a:off x="784908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1" name="Grafik 9"/>
            <p:cNvGrpSpPr/>
            <p:nvPr/>
          </p:nvGrpSpPr>
          <p:grpSpPr>
            <a:xfrm>
              <a:off x="7872120" y="834120"/>
              <a:ext cx="73080" cy="39600"/>
              <a:chOff x="7872120" y="834120"/>
              <a:chExt cx="73080" cy="39600"/>
            </a:xfrm>
          </p:grpSpPr>
          <p:sp>
            <p:nvSpPr>
              <p:cNvPr id="1292" name="Freihandform: Form 30"/>
              <p:cNvSpPr/>
              <p:nvPr/>
            </p:nvSpPr>
            <p:spPr>
              <a:xfrm>
                <a:off x="787212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3" name="Freihandform: Form 31"/>
              <p:cNvSpPr/>
              <p:nvPr/>
            </p:nvSpPr>
            <p:spPr>
              <a:xfrm>
                <a:off x="7922160" y="834120"/>
                <a:ext cx="23040" cy="39600"/>
              </a:xfrm>
              <a:custGeom>
                <a:avLst/>
                <a:gdLst>
                  <a:gd name="textAreaLeft" fmla="*/ 0 w 23040"/>
                  <a:gd name="textAreaRight" fmla="*/ 25200 w 23040"/>
                  <a:gd name="textAreaTop" fmla="*/ 0 h 39600"/>
                  <a:gd name="textAreaBottom" fmla="*/ 41760 h 3960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520" tIns="-3240" rIns="115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4" name="Freihandform: Form 32"/>
            <p:cNvSpPr/>
            <p:nvPr/>
          </p:nvSpPr>
          <p:spPr>
            <a:xfrm>
              <a:off x="795924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5" name="Grafik 9"/>
            <p:cNvGrpSpPr/>
            <p:nvPr/>
          </p:nvGrpSpPr>
          <p:grpSpPr>
            <a:xfrm>
              <a:off x="7979760" y="812160"/>
              <a:ext cx="77040" cy="63360"/>
              <a:chOff x="7979760" y="812160"/>
              <a:chExt cx="77040" cy="63360"/>
            </a:xfrm>
          </p:grpSpPr>
          <p:sp>
            <p:nvSpPr>
              <p:cNvPr id="1296" name="Freihandform: Form 34"/>
              <p:cNvSpPr/>
              <p:nvPr/>
            </p:nvSpPr>
            <p:spPr>
              <a:xfrm>
                <a:off x="7979760" y="834120"/>
                <a:ext cx="32400" cy="414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41400"/>
                  <a:gd name="textAreaBottom" fmla="*/ 43560 h 4140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1440" rIns="162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Freihandform: Form 35"/>
              <p:cNvSpPr/>
              <p:nvPr/>
            </p:nvSpPr>
            <p:spPr>
              <a:xfrm>
                <a:off x="8024400" y="812160"/>
                <a:ext cx="32400" cy="612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61200"/>
                  <a:gd name="textAreaBottom" fmla="*/ 63360 h 6120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18360" rIns="162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8" name="Freihandform: Form 36"/>
            <p:cNvSpPr/>
            <p:nvPr/>
          </p:nvSpPr>
          <p:spPr>
            <a:xfrm>
              <a:off x="8106480" y="817920"/>
              <a:ext cx="41400" cy="55800"/>
            </a:xfrm>
            <a:custGeom>
              <a:avLst/>
              <a:gdLst>
                <a:gd name="textAreaLeft" fmla="*/ 0 w 41400"/>
                <a:gd name="textAreaRight" fmla="*/ 43560 w 41400"/>
                <a:gd name="textAreaTop" fmla="*/ 0 h 55800"/>
                <a:gd name="textAreaBottom" fmla="*/ 57960 h 5580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9" name="Freihandform: Form 37"/>
            <p:cNvSpPr/>
            <p:nvPr/>
          </p:nvSpPr>
          <p:spPr>
            <a:xfrm>
              <a:off x="8164800" y="834120"/>
              <a:ext cx="34200" cy="41400"/>
            </a:xfrm>
            <a:custGeom>
              <a:avLst/>
              <a:gdLst>
                <a:gd name="textAreaLeft" fmla="*/ 0 w 34200"/>
                <a:gd name="textAreaRight" fmla="*/ 36360 w 34200"/>
                <a:gd name="textAreaTop" fmla="*/ 0 h 41400"/>
                <a:gd name="textAreaBottom" fmla="*/ 43560 h 4140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0" name="Freihandform: Form 38"/>
            <p:cNvSpPr/>
            <p:nvPr/>
          </p:nvSpPr>
          <p:spPr>
            <a:xfrm>
              <a:off x="8213400" y="835200"/>
              <a:ext cx="5040" cy="37800"/>
            </a:xfrm>
            <a:custGeom>
              <a:avLst/>
              <a:gdLst>
                <a:gd name="textAreaLeft" fmla="*/ 0 w 5040"/>
                <a:gd name="textAreaRight" fmla="*/ 7200 w 5040"/>
                <a:gd name="textAreaTop" fmla="*/ 0 h 37800"/>
                <a:gd name="textAreaBottom" fmla="*/ 39960 h 3780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20" tIns="-5040" rIns="252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1" name="Grafik 9"/>
            <p:cNvGrpSpPr/>
            <p:nvPr/>
          </p:nvGrpSpPr>
          <p:grpSpPr>
            <a:xfrm>
              <a:off x="7741440" y="834120"/>
              <a:ext cx="1047960" cy="178920"/>
              <a:chOff x="7741440" y="834120"/>
              <a:chExt cx="1047960" cy="178920"/>
            </a:xfrm>
          </p:grpSpPr>
          <p:sp>
            <p:nvSpPr>
              <p:cNvPr id="1302" name="Freihandform: Form 40"/>
              <p:cNvSpPr/>
              <p:nvPr/>
            </p:nvSpPr>
            <p:spPr>
              <a:xfrm>
                <a:off x="8236440" y="834120"/>
                <a:ext cx="32400" cy="39600"/>
              </a:xfrm>
              <a:custGeom>
                <a:avLst/>
                <a:gdLst>
                  <a:gd name="textAreaLeft" fmla="*/ 0 w 32400"/>
                  <a:gd name="textAreaRight" fmla="*/ 34560 w 32400"/>
                  <a:gd name="textAreaTop" fmla="*/ 0 h 39600"/>
                  <a:gd name="textAreaBottom" fmla="*/ 41760 h 3960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200" tIns="-3240" rIns="1620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3" name="Freihandform: Form 41"/>
              <p:cNvSpPr/>
              <p:nvPr/>
            </p:nvSpPr>
            <p:spPr>
              <a:xfrm>
                <a:off x="8284680" y="834120"/>
                <a:ext cx="34200" cy="41400"/>
              </a:xfrm>
              <a:custGeom>
                <a:avLst/>
                <a:gdLst>
                  <a:gd name="textAreaLeft" fmla="*/ 0 w 34200"/>
                  <a:gd name="textAreaRight" fmla="*/ 36360 w 34200"/>
                  <a:gd name="textAreaTop" fmla="*/ 0 h 41400"/>
                  <a:gd name="textAreaBottom" fmla="*/ 43560 h 4140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Freihandform: Form 42"/>
              <p:cNvSpPr/>
              <p:nvPr/>
            </p:nvSpPr>
            <p:spPr>
              <a:xfrm>
                <a:off x="7741440" y="914040"/>
                <a:ext cx="882360" cy="61200"/>
              </a:xfrm>
              <a:custGeom>
                <a:avLst/>
                <a:gdLst>
                  <a:gd name="textAreaLeft" fmla="*/ 0 w 882360"/>
                  <a:gd name="textAreaRight" fmla="*/ 884520 w 882360"/>
                  <a:gd name="textAreaTop" fmla="*/ 0 h 61200"/>
                  <a:gd name="textAreaBottom" fmla="*/ 63360 h 6120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Freihandform: Form 43"/>
              <p:cNvSpPr/>
              <p:nvPr/>
            </p:nvSpPr>
            <p:spPr>
              <a:xfrm>
                <a:off x="8677440" y="915480"/>
                <a:ext cx="111960" cy="97560"/>
              </a:xfrm>
              <a:custGeom>
                <a:avLst/>
                <a:gdLst>
                  <a:gd name="textAreaLeft" fmla="*/ 0 w 111960"/>
                  <a:gd name="textAreaRight" fmla="*/ 114120 w 111960"/>
                  <a:gd name="textAreaTop" fmla="*/ 0 h 97560"/>
                  <a:gd name="textAreaBottom" fmla="*/ 99720 h 9756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6" name="Freihandform: Form 44"/>
          <p:cNvSpPr/>
          <p:nvPr/>
        </p:nvSpPr>
        <p:spPr>
          <a:xfrm>
            <a:off x="-5040" y="407880"/>
            <a:ext cx="335160" cy="292680"/>
          </a:xfrm>
          <a:custGeom>
            <a:avLst/>
            <a:gdLst>
              <a:gd name="textAreaLeft" fmla="*/ 0 w 335160"/>
              <a:gd name="textAreaRight" fmla="*/ 337320 w 335160"/>
              <a:gd name="textAreaTop" fmla="*/ 0 h 292680"/>
              <a:gd name="textAreaBottom" fmla="*/ 294840 h 29268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08" name="PlaceHolder 2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53"/>
          </p:nvPr>
        </p:nvSpPr>
        <p:spPr>
          <a:xfrm>
            <a:off x="35640" y="4975560"/>
            <a:ext cx="33516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9C84F35-3A4D-4AE7-AB6B-8698542B7DF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297684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5"/>
          <p:cNvSpPr>
            <a:spLocks noGrp="1"/>
          </p:cNvSpPr>
          <p:nvPr>
            <p:ph type="body" hasCustomPrompt="1"/>
          </p:nvPr>
        </p:nvSpPr>
        <p:spPr>
          <a:xfrm>
            <a:off x="3032640" y="1422360"/>
            <a:ext cx="307692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6"/>
          <p:cNvSpPr>
            <a:spLocks noGrp="1"/>
          </p:cNvSpPr>
          <p:nvPr>
            <p:ph type="body" hasCustomPrompt="1"/>
          </p:nvPr>
        </p:nvSpPr>
        <p:spPr>
          <a:xfrm>
            <a:off x="6165000" y="1422360"/>
            <a:ext cx="2976840" cy="349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8920" cy="32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5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8.wmf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wmf"/><Relationship Id="rId3" Type="http://schemas.openxmlformats.org/officeDocument/2006/relationships/slideLayout" Target="../slideLayouts/slideLayout15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2.wmf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947840" cy="1067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OS Development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4. Interrupts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8840" cy="602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2"/>
          <p:cNvSpPr>
            <a:spLocks noGrp="1"/>
          </p:cNvSpPr>
          <p:nvPr>
            <p:ph type="ftr" idx="57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 Interrupts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Basics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x86_64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Advanced 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Operating Systems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"/>
          <p:cNvSpPr/>
          <p:nvPr/>
        </p:nvSpPr>
        <p:spPr>
          <a:xfrm>
            <a:off x="372960" y="1146240"/>
            <a:ext cx="3260880" cy="4186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E1C126D-F49F-4C15-848C-966EF6474E39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4.1 Basics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were introduced, to allow overlapping execution of input/output operations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Instead of actively waiting for an I/O-operation to end, the affected thread is blocked and another thread is executed</a:t>
            </a: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This way, the CPU is used in a meaningful way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Furthermore, interrupts form the basis of preemptive multithreading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Programme Interval Timer (PIT) generates periodic interrupts (see PC Speaker)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Preemtpive multithreading is discussed (and implemented) later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28" name="Picture 8"/>
          <p:cNvPicPr/>
          <p:nvPr/>
        </p:nvPicPr>
        <p:blipFill>
          <a:blip r:embed="rId1"/>
          <a:stretch/>
        </p:blipFill>
        <p:spPr>
          <a:xfrm>
            <a:off x="4716000" y="3738960"/>
            <a:ext cx="1308960" cy="107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9" name="Picture 9"/>
          <p:cNvPicPr/>
          <p:nvPr/>
        </p:nvPicPr>
        <p:blipFill>
          <a:blip r:embed="rId2"/>
          <a:stretch/>
        </p:blipFill>
        <p:spPr>
          <a:xfrm>
            <a:off x="6343560" y="3761280"/>
            <a:ext cx="1611360" cy="100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0" name="PlaceHolder 4"/>
          <p:cNvSpPr/>
          <p:nvPr/>
        </p:nvSpPr>
        <p:spPr>
          <a:xfrm>
            <a:off x="628920" y="497592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96C72B4-B47A-424D-92F9-336C7FB6993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Hardware: Single Core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32" name="Picture 3"/>
          <p:cNvPicPr/>
          <p:nvPr/>
        </p:nvPicPr>
        <p:blipFill>
          <a:blip r:embed="rId1"/>
          <a:stretch/>
        </p:blipFill>
        <p:spPr>
          <a:xfrm>
            <a:off x="2411640" y="1206720"/>
            <a:ext cx="3814200" cy="340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3" name="TextBox 4"/>
          <p:cNvSpPr/>
          <p:nvPr/>
        </p:nvSpPr>
        <p:spPr>
          <a:xfrm>
            <a:off x="2988000" y="4936320"/>
            <a:ext cx="4594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4" name="PlaceHolder 5"/>
          <p:cNvSpPr/>
          <p:nvPr/>
        </p:nvSpPr>
        <p:spPr>
          <a:xfrm>
            <a:off x="629280" y="4976280"/>
            <a:ext cx="224928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7536163-BE3D-4005-8A3C-A18F0AF48E3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Priorization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Background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Multiple interrupts may be signaled at the same time → Which one is more important?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While the CPU is handling an interrupt, further interrupts may be signaled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Priorization mechanism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software: The CPU only has a single IRQ (interrupt request) input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hardware: A priorization circuit assigns a priority to each device and only forwards the most important IRQ to the CPU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Modern interrupt controllers allow dynamic priorities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7" name="PlaceHolder 6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DC7B038-F2E0-4573-8C9E-2F96BE09A8D9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Assignment of Interrupt Handlers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Software should know which device has triggered an interrupt as fast as possible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do not want to ask all devices manually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Vector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Assign a unique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vector number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to each interupt, that is used as an index into a vector table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vector number does not necessarily correlate with its priority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practice, multiple device might have to share the same vector number (Shared Interrupts)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Structure of the interrupt vector table depends on the CPU architecture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Oftentimes only contains function pointers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0" name="PlaceHolder 7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30E40B3-92DB-49BF-82BE-4670ACFC115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Storing the System State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After executing an interrupt handler, the CPU must return to the thread context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interrupt handler should be "slid in" unnoticed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 Store the system state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By Hardware: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Only the essentials: e.g.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return address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and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flags register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Restoring is done via a special instriction (e.g, 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iret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, ...)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By Software: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Because interrupts may occur any time, the handler must store and restore all registers it uses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3" name="PlaceHolder 8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65667C9-B9CA-40F2-94B0-EC893A8086E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Nested Interrupts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To handle important events as fast as possible, interrupt handlers should also be interruptible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Infinite nesting depth must be avoided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CPU only allows interrupts with a higher priority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Rarely implemented, since it introduces complexity and is usually not needed in practice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6" name="PlaceHolder 9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6CAC773-E535-4292-96CD-F4C95BAEF68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Multicore Systems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Which core handles an interrupt?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Handling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inter-processor interrupts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(IPI)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 Additional hardware for interrupt handling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Routing interrrupts to CPU cores is controllable via software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Fixed or random assignment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Assignment with respect to the thread priorities on the respective CPU core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9" name="PlaceHolder 10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1F8FF1-5159-4E96-85B6-AAC7C5AE8D6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Hardware: Multicore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Box 1"/>
          <p:cNvSpPr/>
          <p:nvPr/>
        </p:nvSpPr>
        <p:spPr>
          <a:xfrm>
            <a:off x="2988000" y="4936320"/>
            <a:ext cx="4594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2" name="Picture 4"/>
          <p:cNvPicPr/>
          <p:nvPr/>
        </p:nvPicPr>
        <p:blipFill>
          <a:blip r:embed="rId1"/>
          <a:stretch/>
        </p:blipFill>
        <p:spPr>
          <a:xfrm>
            <a:off x="3181680" y="1206720"/>
            <a:ext cx="2778840" cy="347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3" name="PlaceHolder 11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0657B0E-99A3-40F4-AFAF-003FCFC07C3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Danger: </a:t>
            </a:r>
            <a:r>
              <a:rPr lang="de-DE" sz="2700" b="0" i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Spurious Interrupts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5" name="PlaceHolder 2"/>
          <p:cNvSpPr>
            <a:spLocks noGrp="1"/>
          </p:cNvSpPr>
          <p:nvPr>
            <p:ph/>
          </p:nvPr>
        </p:nvSpPr>
        <p:spPr>
          <a:xfrm>
            <a:off x="521640" y="90000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 Wrong interrupt request, because of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Hardware faults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Incorrectly programmed devices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Avoid hard- and software errors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"Defensive" programming in operating systems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Expect spurious interrupts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56" name="PlaceHolder 12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EB94CA-EC76-4A3B-A5B7-6E700E52A036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Danger: </a:t>
            </a:r>
            <a:r>
              <a:rPr lang="de-DE" sz="2700" b="0" i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Storms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8" name="PlaceHolder 2"/>
          <p:cNvSpPr>
            <a:spLocks noGrp="1"/>
          </p:cNvSpPr>
          <p:nvPr>
            <p:ph/>
          </p:nvPr>
        </p:nvSpPr>
        <p:spPr>
          <a:xfrm>
            <a:off x="521640" y="90000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Highly frequent interrupt request can paralyze an operating system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Either caused by real interrupts, or the CPU is unable to cope with the I/O-load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Can easily be confused with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Thrashing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 (in the operating system):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Detect interrupt storms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Deactivate the affected device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59" name="PlaceHolder 13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4.1 Basics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09A41FD-236F-4A62-8B3D-6D2529665E6F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1" name="PlaceHolder 2"/>
          <p:cNvSpPr>
            <a:spLocks noGrp="1"/>
          </p:cNvSpPr>
          <p:nvPr>
            <p:ph type="ftr" idx="58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 Interrupts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Basics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x86_64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Advanced 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Operating Systems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63" name="Rounded Rectangle 1"/>
          <p:cNvSpPr/>
          <p:nvPr/>
        </p:nvSpPr>
        <p:spPr>
          <a:xfrm>
            <a:off x="372960" y="1722240"/>
            <a:ext cx="4196880" cy="4186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D27B8F0-0258-46F8-BB11-AB404FD7C95E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External vs. Internal Interrupts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External/Hardware interrupts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a device (e.g., timer)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Come from the outside (from the CPU’s point of view)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Internal/Software interrupts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the CPU itself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Exceptions (see next slides)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Assembly instruction 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INT &lt;nr&gt;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for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Calls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(Linux, Windows NT, MacOS, MSDOS)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14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BA614E0-2A66-4CB1-9D85-3E92DAB4561E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Exceptions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Fault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Operating system can handle and recover from faults (e.g., Page Fault)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CPU state and the address of the fault triggering instruction are stored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Trap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a special instruction (e.g., INT 3 - Breakpoint)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 can be continued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Abort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Unrecoverable error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Triggers are hard to localize exactly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Cause a reboot (e.g., Double Fault)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15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3AFB60E-8DAF-40A5-8209-091D99B46D81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Vectors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1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and exceptions are identified via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Vector Number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0 – 31 are reserved for exceptions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 – 255 are freely available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Examples for exceptions: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2" name="Table 1"/>
          <p:cNvGraphicFramePr/>
          <p:nvPr/>
        </p:nvGraphicFramePr>
        <p:xfrm>
          <a:off x="899640" y="2755080"/>
          <a:ext cx="7604640" cy="1922040"/>
        </p:xfrm>
        <a:graphic>
          <a:graphicData uri="http://schemas.openxmlformats.org/drawingml/2006/table">
            <a:tbl>
              <a:tblPr/>
              <a:tblGrid>
                <a:gridCol w="768600"/>
                <a:gridCol w="3075480"/>
                <a:gridCol w="854280"/>
                <a:gridCol w="2906640"/>
              </a:tblGrid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Vector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Exception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Vector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Exception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 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Division by 0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Debug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NMI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Break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Overflow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Bounds range exceeded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Illegal instruction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Double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18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Segment not present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Stack overflow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General protection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Page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-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Machine check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. . .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73" name="PlaceHolder 16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A104832-7CDC-4EC0-B99D-39DB5ACA9F67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Assigning Handlers to Vectors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Descriptor Table (IDT)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IDT start address is stored in IDTR (1 per core)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255 entries map each vector to an address (function pointer)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function is the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Handler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/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Service Routine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/ ...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 byte per entry (either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Gate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or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Trap Gate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Interrupt-Gate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: Describes an interrupt handler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When this entry is used, all interrupts on the CPU core are masked (deactivated)</a:t>
            </a:r>
            <a:br>
              <a:rPr sz="1400"/>
            </a:b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</a:t>
            </a:r>
            <a:r>
              <a:rPr lang="en-GB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Enable</a:t>
            </a: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bit in RFLAGS is unset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Trap-Gate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: Describes a trap handler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Works the same as and interrupt gate, but without masking interrupts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 example used for system calls via software interrupts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6" name="PlaceHolder 17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BD45403-061E-4344-AEEA-8CB33FCF0A75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Assigning Handlers to Vectors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table entry format 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Long Mode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selector is index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into the GDT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79" name="Picture 1"/>
          <p:cNvPicPr/>
          <p:nvPr/>
        </p:nvPicPr>
        <p:blipFill>
          <a:blip r:embed="rId1"/>
          <a:stretch/>
        </p:blipFill>
        <p:spPr>
          <a:xfrm>
            <a:off x="3636000" y="1110960"/>
            <a:ext cx="5225400" cy="36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0" name="PlaceHolder 18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ECC32DA-6ECF-4720-8909-A41B981C18CD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Stack Buildup during Interrupts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 is interrupted after</a:t>
            </a:r>
            <a:br>
              <a:rPr sz="1600"/>
            </a:b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execution of the last instruction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19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4" name=""/>
          <p:cNvPicPr/>
          <p:nvPr/>
        </p:nvPicPr>
        <p:blipFill>
          <a:blip r:embed="rId1"/>
          <a:stretch/>
        </p:blipFill>
        <p:spPr>
          <a:xfrm>
            <a:off x="3672000" y="1080000"/>
            <a:ext cx="4949640" cy="385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5D00FB5-8E56-42A8-A705-55A4BF2DEADB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Stackup Buildup without Ring Change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If the privilege level is not changed, the CPU does not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switch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the stack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interrupt handler operates on the stack of the interrupted thread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happens in HeineOS (all our code runs in ring 0)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Only some exceptions</a:t>
            </a:r>
            <a:br>
              <a:rPr sz="1600"/>
            </a:b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push an error code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387" name="Group 30"/>
          <p:cNvGrpSpPr/>
          <p:nvPr/>
        </p:nvGrpSpPr>
        <p:grpSpPr>
          <a:xfrm>
            <a:off x="2771640" y="2212920"/>
            <a:ext cx="6059520" cy="2523960"/>
            <a:chOff x="2771640" y="2212920"/>
            <a:chExt cx="6059520" cy="2523960"/>
          </a:xfrm>
        </p:grpSpPr>
        <p:grpSp>
          <p:nvGrpSpPr>
            <p:cNvPr id="1388" name="Group 8"/>
            <p:cNvGrpSpPr/>
            <p:nvPr/>
          </p:nvGrpSpPr>
          <p:grpSpPr>
            <a:xfrm>
              <a:off x="3517920" y="2805120"/>
              <a:ext cx="1437840" cy="573840"/>
              <a:chOff x="3517920" y="2805120"/>
              <a:chExt cx="1437840" cy="573840"/>
            </a:xfrm>
          </p:grpSpPr>
          <p:sp>
            <p:nvSpPr>
              <p:cNvPr id="1389" name="Rectangle 2"/>
              <p:cNvSpPr/>
              <p:nvPr/>
            </p:nvSpPr>
            <p:spPr>
              <a:xfrm>
                <a:off x="3517920" y="28051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0" name="Rectangle 4"/>
              <p:cNvSpPr/>
              <p:nvPr/>
            </p:nvSpPr>
            <p:spPr>
              <a:xfrm>
                <a:off x="3517920" y="30931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RFLAGS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91" name="Group 9"/>
            <p:cNvGrpSpPr/>
            <p:nvPr/>
          </p:nvGrpSpPr>
          <p:grpSpPr>
            <a:xfrm>
              <a:off x="3517920" y="3381120"/>
              <a:ext cx="1437840" cy="573840"/>
              <a:chOff x="3517920" y="3381120"/>
              <a:chExt cx="1437840" cy="573840"/>
            </a:xfrm>
          </p:grpSpPr>
          <p:sp>
            <p:nvSpPr>
              <p:cNvPr id="1392" name="Rectangle 10"/>
              <p:cNvSpPr/>
              <p:nvPr/>
            </p:nvSpPr>
            <p:spPr>
              <a:xfrm>
                <a:off x="3517920" y="33811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CS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3" name="Rectangle 11"/>
              <p:cNvSpPr/>
              <p:nvPr/>
            </p:nvSpPr>
            <p:spPr>
              <a:xfrm>
                <a:off x="3517920" y="36691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RIP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94" name="Group 14"/>
            <p:cNvGrpSpPr/>
            <p:nvPr/>
          </p:nvGrpSpPr>
          <p:grpSpPr>
            <a:xfrm>
              <a:off x="3517920" y="3943080"/>
              <a:ext cx="1437840" cy="573840"/>
              <a:chOff x="3517920" y="3943080"/>
              <a:chExt cx="1437840" cy="573840"/>
            </a:xfrm>
          </p:grpSpPr>
          <p:sp>
            <p:nvSpPr>
              <p:cNvPr id="1395" name="Rectangle 15"/>
              <p:cNvSpPr/>
              <p:nvPr/>
            </p:nvSpPr>
            <p:spPr>
              <a:xfrm>
                <a:off x="3517920" y="39430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(error code)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6" name="Rectangle 16"/>
              <p:cNvSpPr/>
              <p:nvPr/>
            </p:nvSpPr>
            <p:spPr>
              <a:xfrm>
                <a:off x="3517920" y="42310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397" name="Straight Connector 18"/>
            <p:cNvCxnSpPr/>
            <p:nvPr/>
          </p:nvCxnSpPr>
          <p:spPr>
            <a:xfrm>
              <a:off x="3517560" y="2574720"/>
              <a:ext cx="2160" cy="216252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398" name="Straight Connector 21"/>
            <p:cNvCxnSpPr/>
            <p:nvPr/>
          </p:nvCxnSpPr>
          <p:spPr>
            <a:xfrm>
              <a:off x="4957920" y="2574720"/>
              <a:ext cx="2160" cy="216252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399" name="TextBox 22"/>
            <p:cNvSpPr/>
            <p:nvPr/>
          </p:nvSpPr>
          <p:spPr>
            <a:xfrm>
              <a:off x="2771640" y="2212920"/>
              <a:ext cx="280476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0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     Stack of the interrupted thread</a:t>
              </a:r>
              <a:endPara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00" name="Straight Connector 23"/>
            <p:cNvCxnSpPr/>
            <p:nvPr/>
          </p:nvCxnSpPr>
          <p:spPr>
            <a:xfrm flipH="1">
              <a:off x="4957920" y="3092760"/>
              <a:ext cx="565200" cy="21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401" name="TextBox 27"/>
            <p:cNvSpPr/>
            <p:nvPr/>
          </p:nvSpPr>
          <p:spPr>
            <a:xfrm>
              <a:off x="5494680" y="2949120"/>
              <a:ext cx="333648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RSP before transferring 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02" name="Straight Connector 28"/>
            <p:cNvCxnSpPr/>
            <p:nvPr/>
          </p:nvCxnSpPr>
          <p:spPr>
            <a:xfrm flipH="1">
              <a:off x="4944960" y="4224960"/>
              <a:ext cx="565200" cy="21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403" name="TextBox 29"/>
            <p:cNvSpPr/>
            <p:nvPr/>
          </p:nvSpPr>
          <p:spPr>
            <a:xfrm>
              <a:off x="5513040" y="4080960"/>
              <a:ext cx="319392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RSP after transferring 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04" name="PlaceHolder 20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F0B102B-CE86-41E0-8C48-D67433641498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Stack Buildup with Ring Change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stack is read from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State Segment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(see last chapter)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407" name="Group 1"/>
          <p:cNvGrpSpPr/>
          <p:nvPr/>
        </p:nvGrpSpPr>
        <p:grpSpPr>
          <a:xfrm>
            <a:off x="5436000" y="1710720"/>
            <a:ext cx="3750480" cy="2830320"/>
            <a:chOff x="5436000" y="1710720"/>
            <a:chExt cx="3750480" cy="2830320"/>
          </a:xfrm>
        </p:grpSpPr>
        <p:grpSp>
          <p:nvGrpSpPr>
            <p:cNvPr id="1408" name="Group 8"/>
            <p:cNvGrpSpPr/>
            <p:nvPr/>
          </p:nvGrpSpPr>
          <p:grpSpPr>
            <a:xfrm>
              <a:off x="5436000" y="2609280"/>
              <a:ext cx="1437840" cy="573840"/>
              <a:chOff x="5436000" y="2609280"/>
              <a:chExt cx="1437840" cy="573840"/>
            </a:xfrm>
          </p:grpSpPr>
          <p:sp>
            <p:nvSpPr>
              <p:cNvPr id="1409" name="Rectangle 2"/>
              <p:cNvSpPr/>
              <p:nvPr/>
            </p:nvSpPr>
            <p:spPr>
              <a:xfrm>
                <a:off x="5436000" y="26092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RSP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0" name="Rectangle 4"/>
              <p:cNvSpPr/>
              <p:nvPr/>
            </p:nvSpPr>
            <p:spPr>
              <a:xfrm>
                <a:off x="5436000" y="28972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RFLAGS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411" name="Group 9"/>
            <p:cNvGrpSpPr/>
            <p:nvPr/>
          </p:nvGrpSpPr>
          <p:grpSpPr>
            <a:xfrm>
              <a:off x="5436000" y="3185280"/>
              <a:ext cx="1437840" cy="573840"/>
              <a:chOff x="5436000" y="3185280"/>
              <a:chExt cx="1437840" cy="573840"/>
            </a:xfrm>
          </p:grpSpPr>
          <p:sp>
            <p:nvSpPr>
              <p:cNvPr id="1412" name="Rectangle 10"/>
              <p:cNvSpPr/>
              <p:nvPr/>
            </p:nvSpPr>
            <p:spPr>
              <a:xfrm>
                <a:off x="5436000" y="31852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CS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3" name="Rectangle 11"/>
              <p:cNvSpPr/>
              <p:nvPr/>
            </p:nvSpPr>
            <p:spPr>
              <a:xfrm>
                <a:off x="5436000" y="347328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RIP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414" name="Group 14"/>
            <p:cNvGrpSpPr/>
            <p:nvPr/>
          </p:nvGrpSpPr>
          <p:grpSpPr>
            <a:xfrm>
              <a:off x="5436000" y="3747240"/>
              <a:ext cx="1437840" cy="573840"/>
              <a:chOff x="5436000" y="3747240"/>
              <a:chExt cx="1437840" cy="573840"/>
            </a:xfrm>
          </p:grpSpPr>
          <p:sp>
            <p:nvSpPr>
              <p:cNvPr id="1415" name="Rectangle 15"/>
              <p:cNvSpPr/>
              <p:nvPr/>
            </p:nvSpPr>
            <p:spPr>
              <a:xfrm>
                <a:off x="5436000" y="374724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(error code)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6" name="Rectangle 16"/>
              <p:cNvSpPr/>
              <p:nvPr/>
            </p:nvSpPr>
            <p:spPr>
              <a:xfrm>
                <a:off x="5436000" y="403524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417" name="Straight Connector 18"/>
            <p:cNvCxnSpPr/>
            <p:nvPr/>
          </p:nvCxnSpPr>
          <p:spPr>
            <a:xfrm>
              <a:off x="5436000" y="2100960"/>
              <a:ext cx="2160" cy="2440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418" name="Straight Connector 21"/>
            <p:cNvCxnSpPr/>
            <p:nvPr/>
          </p:nvCxnSpPr>
          <p:spPr>
            <a:xfrm>
              <a:off x="6876000" y="2100960"/>
              <a:ext cx="2160" cy="2440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419" name="TextBox 22"/>
            <p:cNvSpPr/>
            <p:nvPr/>
          </p:nvSpPr>
          <p:spPr>
            <a:xfrm>
              <a:off x="5436000" y="1710720"/>
              <a:ext cx="143784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Handler Stack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20" name="Straight Connector 28"/>
            <p:cNvCxnSpPr/>
            <p:nvPr/>
          </p:nvCxnSpPr>
          <p:spPr>
            <a:xfrm flipH="1">
              <a:off x="6863040" y="4029120"/>
              <a:ext cx="565200" cy="21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421" name="TextBox 29"/>
            <p:cNvSpPr/>
            <p:nvPr/>
          </p:nvSpPr>
          <p:spPr>
            <a:xfrm>
              <a:off x="7359120" y="3885120"/>
              <a:ext cx="182736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RSP after transferring</a:t>
              </a:r>
              <a:br>
                <a:rPr sz="1350"/>
              </a:b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22" name="Group 3"/>
          <p:cNvGrpSpPr/>
          <p:nvPr/>
        </p:nvGrpSpPr>
        <p:grpSpPr>
          <a:xfrm>
            <a:off x="628560" y="1721160"/>
            <a:ext cx="4772160" cy="2541960"/>
            <a:chOff x="628560" y="1721160"/>
            <a:chExt cx="4772160" cy="2541960"/>
          </a:xfrm>
        </p:grpSpPr>
        <p:grpSp>
          <p:nvGrpSpPr>
            <p:cNvPr id="1423" name="Group 5"/>
            <p:cNvGrpSpPr/>
            <p:nvPr/>
          </p:nvGrpSpPr>
          <p:grpSpPr>
            <a:xfrm>
              <a:off x="1435680" y="2331360"/>
              <a:ext cx="1437840" cy="573840"/>
              <a:chOff x="1435680" y="2331360"/>
              <a:chExt cx="1437840" cy="573840"/>
            </a:xfrm>
          </p:grpSpPr>
          <p:sp>
            <p:nvSpPr>
              <p:cNvPr id="1424" name="Rectangle 36"/>
              <p:cNvSpPr/>
              <p:nvPr/>
            </p:nvSpPr>
            <p:spPr>
              <a:xfrm>
                <a:off x="1435680" y="233136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5" name="Rectangle 37"/>
              <p:cNvSpPr/>
              <p:nvPr/>
            </p:nvSpPr>
            <p:spPr>
              <a:xfrm>
                <a:off x="1435680" y="261936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426" name="Group 17"/>
            <p:cNvGrpSpPr/>
            <p:nvPr/>
          </p:nvGrpSpPr>
          <p:grpSpPr>
            <a:xfrm>
              <a:off x="1435680" y="2907360"/>
              <a:ext cx="1437840" cy="573840"/>
              <a:chOff x="1435680" y="2907360"/>
              <a:chExt cx="1437840" cy="573840"/>
            </a:xfrm>
          </p:grpSpPr>
          <p:sp>
            <p:nvSpPr>
              <p:cNvPr id="1427" name="Rectangle 34"/>
              <p:cNvSpPr/>
              <p:nvPr/>
            </p:nvSpPr>
            <p:spPr>
              <a:xfrm>
                <a:off x="1435680" y="290736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8" name="Rectangle 35"/>
              <p:cNvSpPr/>
              <p:nvPr/>
            </p:nvSpPr>
            <p:spPr>
              <a:xfrm>
                <a:off x="1435680" y="319536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429" name="Group 19"/>
            <p:cNvGrpSpPr/>
            <p:nvPr/>
          </p:nvGrpSpPr>
          <p:grpSpPr>
            <a:xfrm>
              <a:off x="1435680" y="3469320"/>
              <a:ext cx="1437840" cy="573840"/>
              <a:chOff x="1435680" y="3469320"/>
              <a:chExt cx="1437840" cy="573840"/>
            </a:xfrm>
          </p:grpSpPr>
          <p:sp>
            <p:nvSpPr>
              <p:cNvPr id="1430" name="Rectangle 32"/>
              <p:cNvSpPr/>
              <p:nvPr/>
            </p:nvSpPr>
            <p:spPr>
              <a:xfrm>
                <a:off x="1435680" y="34693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1" name="Rectangle 33"/>
              <p:cNvSpPr/>
              <p:nvPr/>
            </p:nvSpPr>
            <p:spPr>
              <a:xfrm>
                <a:off x="1435680" y="3757320"/>
                <a:ext cx="1437840" cy="2858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432" name="Straight Connector 20"/>
            <p:cNvCxnSpPr/>
            <p:nvPr/>
          </p:nvCxnSpPr>
          <p:spPr>
            <a:xfrm>
              <a:off x="1435320" y="2100960"/>
              <a:ext cx="2160" cy="216252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433" name="Straight Connector 24"/>
            <p:cNvCxnSpPr/>
            <p:nvPr/>
          </p:nvCxnSpPr>
          <p:spPr>
            <a:xfrm>
              <a:off x="2875680" y="2100960"/>
              <a:ext cx="2160" cy="216252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434" name="TextBox 25"/>
            <p:cNvSpPr/>
            <p:nvPr/>
          </p:nvSpPr>
          <p:spPr>
            <a:xfrm>
              <a:off x="628560" y="1721160"/>
              <a:ext cx="322128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0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       Stack of the interrupted thread</a:t>
              </a:r>
              <a:endPara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35" name="Straight Connector 26"/>
            <p:cNvCxnSpPr/>
            <p:nvPr/>
          </p:nvCxnSpPr>
          <p:spPr>
            <a:xfrm flipH="1">
              <a:off x="2867400" y="2618640"/>
              <a:ext cx="565200" cy="21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436" name="TextBox 31"/>
            <p:cNvSpPr/>
            <p:nvPr/>
          </p:nvSpPr>
          <p:spPr>
            <a:xfrm>
              <a:off x="3430800" y="2431080"/>
              <a:ext cx="196992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RSP before transferring</a:t>
              </a:r>
              <a:br>
                <a:rPr sz="1350"/>
              </a:b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7" name="Rectangle 40"/>
          <p:cNvSpPr/>
          <p:nvPr/>
        </p:nvSpPr>
        <p:spPr>
          <a:xfrm>
            <a:off x="5436000" y="2318040"/>
            <a:ext cx="1437840" cy="28584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21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5DA19B4-A922-41B9-9834-7FE44088DEBC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IDT: Typical Example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4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Entries 0-31 are reserved for x86 CPU exceptions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Either DPL=0 or DPL=3, depending on use case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Entries for external interrupts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IRQs have DPL=0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calls via trap gate (Windows &amp; Linux)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DPL=3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Replaced by SYSENTER/SYSEXIT in modern operatings systems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faster, avoids interrupt overhead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Since HeineOS runs completely in ring 0,</a:t>
            </a:r>
            <a:br>
              <a:rPr sz="1600"/>
            </a:b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do not need trap gates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41" name="Bild 289"/>
          <p:cNvPicPr/>
          <p:nvPr/>
        </p:nvPicPr>
        <p:blipFill>
          <a:blip r:embed="rId1"/>
          <a:stretch/>
        </p:blipFill>
        <p:spPr>
          <a:xfrm>
            <a:off x="6156000" y="1072440"/>
            <a:ext cx="1923120" cy="380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2" name="PlaceHolder 22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119812C-7DEE-4511-8E4C-FEE0FD73BDA1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System Call via Trap Gate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23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4.2 Interrupt Handling in x86_64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5" name=""/>
          <p:cNvPicPr/>
          <p:nvPr/>
        </p:nvPicPr>
        <p:blipFill>
          <a:blip r:embed="rId1"/>
          <a:stretch/>
        </p:blipFill>
        <p:spPr>
          <a:xfrm>
            <a:off x="1722600" y="1008000"/>
            <a:ext cx="5440320" cy="390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EDC4D89-4ED5-4F9B-A9EE-6356EA8664A5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2"/>
          <p:cNvSpPr>
            <a:spLocks noGrp="1"/>
          </p:cNvSpPr>
          <p:nvPr>
            <p:ph type="ftr" idx="59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 Interrupts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Basics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x86_64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Advanced 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Operating Systems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49" name="Rounded Rectangle 1"/>
          <p:cNvSpPr/>
          <p:nvPr/>
        </p:nvSpPr>
        <p:spPr>
          <a:xfrm>
            <a:off x="372960" y="2359080"/>
            <a:ext cx="3620880" cy="4186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149FE5-F087-44E1-B898-BFD053D6BB2B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Interrupts in x86 CPUs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51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Upto and including the i486 x86 CPUs only had a single input for IRQs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External hardware was tasked with Priorization and vector number generation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Through a chip alled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PIC 8259A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 interrupt inputs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15 input by cascading two PICs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52" name="Bild 281"/>
          <p:cNvPicPr/>
          <p:nvPr/>
        </p:nvPicPr>
        <p:blipFill>
          <a:blip r:embed="rId1"/>
          <a:stretch/>
        </p:blipFill>
        <p:spPr>
          <a:xfrm>
            <a:off x="1537920" y="3505320"/>
            <a:ext cx="1578960" cy="8733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53" name="Picture 2"/>
          <p:cNvPicPr/>
          <p:nvPr/>
        </p:nvPicPr>
        <p:blipFill>
          <a:blip r:embed="rId2"/>
          <a:stretch/>
        </p:blipFill>
        <p:spPr>
          <a:xfrm>
            <a:off x="4135680" y="2142720"/>
            <a:ext cx="4582080" cy="264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4" name="PlaceHolder 24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9F889A9-7F82-4981-9301-1263AACB801C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PIC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Master controller can handle up to 8 slaves (CAS0..2 = Cascade Lines)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PCs only one slave is used (IRQ2)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57" name="Picture 1"/>
          <p:cNvPicPr/>
          <p:nvPr/>
        </p:nvPicPr>
        <p:blipFill>
          <a:blip r:embed="rId1"/>
          <a:stretch/>
        </p:blipFill>
        <p:spPr>
          <a:xfrm>
            <a:off x="2123640" y="1782720"/>
            <a:ext cx="4894560" cy="303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8" name="PlaceHolder 25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0684D63-3581-4FE5-B851-5A5E3CFB1084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PIC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6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Typical IRQ assignment in PCs: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Priorities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IRQ0 has highest priority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Default IRQ priorities: 0, 1, 8...15, 3... 7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(because of cascading)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with a higher priority can interrupt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ones with lower priorities (provided that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IE-bit (=Interrupt Enable) allows interrupts)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1" name="Table 4"/>
          <p:cNvGraphicFramePr/>
          <p:nvPr/>
        </p:nvGraphicFramePr>
        <p:xfrm>
          <a:off x="5004000" y="1350720"/>
          <a:ext cx="3468240" cy="1829520"/>
        </p:xfrm>
        <a:graphic>
          <a:graphicData uri="http://schemas.openxmlformats.org/drawingml/2006/table">
            <a:tbl>
              <a:tblPr/>
              <a:tblGrid>
                <a:gridCol w="662760"/>
                <a:gridCol w="2805840"/>
              </a:tblGrid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IRQ#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Device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Programmable Interval Timer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Keyboard Controller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Slave PIC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Real Time Clock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PS/2 Mouse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COM2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...</a:t>
                      </a:r>
                      <a:endParaRPr lang="de-DE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462" name="PlaceHolder 26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367C703-0D31-4F59-9F12-CC9E359FB5DD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PIC Register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64" name="PlaceHolder 2"/>
          <p:cNvSpPr>
            <a:spLocks noGrp="1"/>
          </p:cNvSpPr>
          <p:nvPr>
            <p:ph/>
          </p:nvPr>
        </p:nvSpPr>
        <p:spPr>
          <a:xfrm>
            <a:off x="521640" y="108000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 bit per register (1 bit per IRQ)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Mask Register (IMR)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Enable/Disable interrupts (0=enable, 1=masked).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Request Register (IRR):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Stores pending interrupts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Priority Resolver: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Forwards IRQ with highest priority in IRR to ISR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Service Register (ISR):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Contains IRQs, that are currently being serviced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27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6" name=""/>
          <p:cNvPicPr/>
          <p:nvPr/>
        </p:nvPicPr>
        <p:blipFill>
          <a:blip r:embed="rId1"/>
          <a:stretch/>
        </p:blipFill>
        <p:spPr>
          <a:xfrm>
            <a:off x="4933080" y="1152000"/>
            <a:ext cx="4080600" cy="338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E7B1BD5-C4EC-41A5-9DF5-79079F84CB46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 </a:t>
            </a:r>
            <a:br>
              <a:rPr sz="2700"/>
            </a:br>
            <a:br>
              <a:rPr sz="2700"/>
            </a:b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Flow</a:t>
            </a: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: PIC &lt;-&gt; CPU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IRQ line is activated → Corresponding bit in IRR is set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PIC sends INTR signal to CPU (slave PIC sends to master PIC instead)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CPU answers with INTA pulse, if IE bit is set in RFLAGS.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Most significant bit in IRR is unset and set in ISR.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CPU sends second INTA pulse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PIC puts vector pointer (8 bit =  3 bit IRQ + 5 bit offset) on data bus.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handler sends EOI to PIC when finished → deletes ISR bit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Remark: If interrupt came from slave PIC → also send EOI for IRQ2 to master PIC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EOI not necessary in HeineOS, since we use the PIC’s automatic EOI mode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69" name="PlaceHolder 28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2D32220-89FC-401C-845A-6BF0F4226F79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 </a:t>
            </a:r>
            <a:br>
              <a:rPr sz="2700"/>
            </a:br>
            <a:br>
              <a:rPr sz="2700"/>
            </a:b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Flow</a:t>
            </a: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: PIC &lt;-&gt; CPU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Internal interrupts: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Fixed vector numbers 0 – 31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External interrupts: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Vector = IRQ + Offset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Offset &gt; 31 and IRQ != vector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Offset must map IRQs to</a:t>
            </a:r>
            <a:br>
              <a:rPr sz="1400"/>
            </a:b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vector number &gt; 31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2" name="PlaceHolder 29"/>
          <p:cNvSpPr/>
          <p:nvPr/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4.3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3" name=""/>
          <p:cNvPicPr/>
          <p:nvPr/>
        </p:nvPicPr>
        <p:blipFill>
          <a:blip r:embed="rId1"/>
          <a:stretch/>
        </p:blipFill>
        <p:spPr>
          <a:xfrm>
            <a:off x="3600000" y="1206720"/>
            <a:ext cx="5279760" cy="35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BE80F25-1828-4243-9F17-C3103A4EEE30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75" name="PlaceHolder 2"/>
          <p:cNvSpPr>
            <a:spLocks noGrp="1"/>
          </p:cNvSpPr>
          <p:nvPr>
            <p:ph type="ftr" idx="60"/>
          </p:nvPr>
        </p:nvSpPr>
        <p:spPr>
          <a:xfrm>
            <a:off x="628560" y="4975560"/>
            <a:ext cx="7127640" cy="1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 Interrupts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24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Basics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x86_64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Advanced Programmable Interrupt Controller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Interrupt Handling in Operating Systems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7" name="Rounded Rectangle 1"/>
          <p:cNvSpPr/>
          <p:nvPr/>
        </p:nvSpPr>
        <p:spPr>
          <a:xfrm>
            <a:off x="372960" y="2946240"/>
            <a:ext cx="4556880" cy="41868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5E63264-9D94-4B07-A1B5-A53A53DC6CA6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Advanced Programmable Interrupt Controller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79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APIC offers more interrupts than PIC and supports multicore and multiprocessor systems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can be distributed to specific cores with respect to thread priorities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Inter-processor interrupts (IPI) between CPU cores (e.g, for bootstrapping other cores)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Backwards compatible with PIC (8259) 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If existent, the APIC is activated after booting, but runs in PIC compatible mode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APIC registers are found via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Model Specific Registers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(MSR)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0"/>
          <p:cNvSpPr/>
          <p:nvPr/>
        </p:nvSpPr>
        <p:spPr>
          <a:xfrm>
            <a:off x="628920" y="497592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44BAE4-3B98-415C-9177-0CE142F21F38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APIC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8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 APIC interrupt system consists of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Local APIC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per core and usually one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I/O-APIC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(may be more than one)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1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4" name=""/>
          <p:cNvPicPr/>
          <p:nvPr/>
        </p:nvPicPr>
        <p:blipFill>
          <a:blip r:embed="rId1"/>
          <a:stretch/>
        </p:blipFill>
        <p:spPr>
          <a:xfrm>
            <a:off x="2484000" y="1553400"/>
            <a:ext cx="4566600" cy="334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3B6286B-013C-425E-8D6F-5C5FA26010AE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Local APIC (per CPU/Core)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Receives interrupt request as messages from the APIC bus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Can additionally process two local interrupts directly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Via CPU pins: LINT0 and LINT1 (LINT = Local Interrupt)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Allow backwards compatibility with the PIC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Local APICs are addressable via an ID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Local APICs contain further function units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Builtin timer (dependent on system bus clock → divisible)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command register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to send APIC messages → Needed for inter-processor interrupts (IPI)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7" name="PlaceHolder 32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EE690C8-405F-41F6-B317-668BBBC9252C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Sources (1)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489" name="Bild 52"/>
          <p:cNvPicPr/>
          <p:nvPr/>
        </p:nvPicPr>
        <p:blipFill>
          <a:blip r:embed="rId1"/>
          <a:stretch/>
        </p:blipFill>
        <p:spPr>
          <a:xfrm>
            <a:off x="2915640" y="1649880"/>
            <a:ext cx="2959200" cy="316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External device interrupts are signaled by anIO-APIC via the APIC bus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Default behaviour, once the APIC</a:t>
            </a:r>
            <a:br>
              <a:rPr sz="1600"/>
            </a:b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has been activated by the OS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91" name="PlaceHolder 33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F6FFA35-E71B-4245-9DB4-18FE96487FCC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Sources (2)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IPI – Inter-Processor Interrupt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Generated by another Local APIC → for multicore/multiprocessor systems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sent as messages via the APIC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 example use to coordinate startup/shutdown, or TLB flush after page tables have been altered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94" name="Bild 53"/>
          <p:cNvPicPr/>
          <p:nvPr/>
        </p:nvPicPr>
        <p:blipFill>
          <a:blip r:embed="rId1"/>
          <a:stretch/>
        </p:blipFill>
        <p:spPr>
          <a:xfrm>
            <a:off x="2123640" y="2439720"/>
            <a:ext cx="4424760" cy="243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5" name="PlaceHolder 34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F2FBB8F-D956-4D0B-B6F7-D37EB7185767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Sources (3)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Local device interrupts: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Via a CPU pin: LINT0, LINT1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(not via the APIC bus)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for PIC compatibilty mode,</a:t>
            </a:r>
            <a:br>
              <a:rPr sz="1400"/>
            </a:b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if the APIC has note been activated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Examples: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Temperature sensor interrupt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8259A (if existing)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98" name="Bild 62"/>
          <p:cNvPicPr/>
          <p:nvPr/>
        </p:nvPicPr>
        <p:blipFill>
          <a:blip r:embed="rId1"/>
          <a:stretch/>
        </p:blipFill>
        <p:spPr>
          <a:xfrm>
            <a:off x="4716000" y="1422720"/>
            <a:ext cx="3162600" cy="316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9" name="PlaceHolder 35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7AEC6DD-122B-4E76-B012-3339C6C259E8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Local APIC Registers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Priority Register (TPR)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Stores thread priority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Managed by the OS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Processor Priority Register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Managed by the CPU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Results from TPR &amp; ISR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EOI Register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End-Of-Interrupt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Must be written before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iret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Command Register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 Inter-processor interrupts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502" name="Bild 9"/>
          <p:cNvPicPr/>
          <p:nvPr/>
        </p:nvPicPr>
        <p:blipFill>
          <a:blip r:embed="rId1"/>
          <a:stretch/>
        </p:blipFill>
        <p:spPr>
          <a:xfrm>
            <a:off x="5004360" y="157680"/>
            <a:ext cx="3958200" cy="470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3" name="PlaceHolder 36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92326CD-8C2A-4AD6-8DAA-A2DFCB4B4C63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Delivering Interrupts to an APIC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Flat model addressing → Static interrupt delivery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arbitration; Delivery to addressed Local APIC; Wait if necessary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Dynamic interrupt delivery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After determining the group of addressed CPUs/APICs a „Lowest Priority Arbitration“ is performed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Goal: CPU that is currently processing the lowest priority task should handle the interrupt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Respect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Processor Priority Register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und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Task Priority Register 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06" name="PlaceHolder 37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611FC52-7CDC-415D-883E-7B29C2731F3E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I/O-APIC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8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440920" cy="3705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Nowadays typically integrated in the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Southbridge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of a PC chipset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24 interrupt inputs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Cyclic querying done by the chip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Every interrupt input has a 64-bit entry in the </a:t>
            </a:r>
            <a:r>
              <a:rPr lang="de-DE" sz="1600" b="0" i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Redirection Table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Describes the interrupt signal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Determines the vector number and to which CPU core an interrupt is sent (used for generating the APIC bus message)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Redirection Table (IRT) has 24 entries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09" name="PlaceHolder 38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0FA234A-47D0-427A-9DA2-689EAC6B675F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520" cy="4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 Redirection Table Entry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11" name="PlaceHolder 39"/>
          <p:cNvSpPr/>
          <p:nvPr/>
        </p:nvSpPr>
        <p:spPr>
          <a:xfrm>
            <a:off x="629280" y="4976280"/>
            <a:ext cx="7127640" cy="14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4.4 Advanced Programmable Interrupt Controller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12" name=""/>
          <p:cNvGraphicFramePr/>
          <p:nvPr/>
        </p:nvGraphicFramePr>
        <p:xfrm>
          <a:off x="180000" y="1048320"/>
          <a:ext cx="8819280" cy="3850920"/>
        </p:xfrm>
        <a:graphic>
          <a:graphicData uri="http://schemas.openxmlformats.org/drawingml/2006/table">
            <a:tbl>
              <a:tblPr/>
              <a:tblGrid>
                <a:gridCol w="803520"/>
                <a:gridCol w="2218320"/>
                <a:gridCol w="5797800"/>
              </a:tblGrid>
              <a:tr h="8856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63:56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Destination Field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 bit target address → APIC ID (physical mode) or CPU group (logical mode)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55:17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Reserved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Interrupt Mask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Enable/Disable interrupts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Trigger Mode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Edge/Level triggered interrupts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Remote IRR (RO)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Interrupt Pin Polarity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polarity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Delivery Status (RO)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Interrupt message still in transit?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Destination Mode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Logical Mode</a:t>
                      </a: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 or </a:t>
                      </a:r>
                      <a:r>
                        <a:rPr lang="de-DE" sz="13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Physical Mode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43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10:8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Delivery Mode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000 – Fixed → Deliver signal to all target processors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001 – Lowest Priority → Deliver to CPU with lowest priority task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010 – SMI → System Management Interrupt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 – NMI → Non-Maskable Interrupt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101 – INIT → Initialize (reset) target CPU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111 – ExtINT → Answer to 8259A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7:0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Interrupt Vector (R/W)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de-DE" sz="13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 bit vector number (16-254)</a:t>
                      </a:r>
                      <a:endParaRPr lang="de-DE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C86F593-C96B-47CB-9E89-44B13CFE4758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86231</TotalTime>
  <Application>LibreOffice/26.2.2.2$Linux_X86_64 LibreOffice_project/c459f746614306d6c3c6a8c8bf931ecabb6c7513</Application>
  <AppVersion>15.0000</AppVersion>
  <Words>2193</Words>
  <Paragraphs>473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dcterms:modified xsi:type="dcterms:W3CDTF">2026-04-29T14:57:47Z</dcterms:modified>
  <cp:revision>1527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41</vt:i4>
  </property>
  <property fmtid="{D5CDD505-2E9C-101B-9397-08002B2CF9AE}" pid="3" name="PresentationFormat">
    <vt:lpwstr>Custom</vt:lpwstr>
  </property>
  <property fmtid="{D5CDD505-2E9C-101B-9397-08002B2CF9AE}" pid="4" name="Slides">
    <vt:i4>41</vt:i4>
  </property>
</Properties>
</file>