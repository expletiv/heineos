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PlaceHolder 4"/>
          <p:cNvSpPr>
            <a:spLocks noGrp="1"/>
          </p:cNvSpPr>
          <p:nvPr>
            <p:ph type="dt" idx="5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5"/>
          <p:cNvSpPr>
            <a:spLocks noGrp="1"/>
          </p:cNvSpPr>
          <p:nvPr>
            <p:ph type="ftr" idx="5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6"/>
          <p:cNvSpPr>
            <a:spLocks noGrp="1"/>
          </p:cNvSpPr>
          <p:nvPr>
            <p:ph type="sldNum" idx="5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10831A8-5494-444E-88B8-5D9DCA3D147B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8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1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4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0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5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8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1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4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7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2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760" cy="3084120"/>
          </a:xfrm>
          <a:prstGeom prst="rect">
            <a:avLst/>
          </a:prstGeom>
          <a:ln w="0">
            <a:noFill/>
          </a:ln>
        </p:spPr>
      </p:sp>
      <p:sp>
        <p:nvSpPr>
          <p:cNvPr id="1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5840" cy="3490200"/>
          </a:xfrm>
          <a:custGeom>
            <a:avLst/>
            <a:gdLst>
              <a:gd name="textAreaLeft" fmla="*/ 0 w 3165840"/>
              <a:gd name="textAreaRight" fmla="*/ 3168000 w 3165840"/>
              <a:gd name="textAreaTop" fmla="*/ 0 h 3490200"/>
              <a:gd name="textAreaBottom" fmla="*/ 3492360 h 34902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398840" cy="106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6040" cy="581400"/>
            <a:chOff x="522720" y="385200"/>
            <a:chExt cx="1526040" cy="58140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59840" cy="14112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141120"/>
                <a:gd name="textAreaBottom" fmla="*/ 143280 h 1411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2400" cy="39528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395280"/>
                <a:gd name="textAreaBottom" fmla="*/ 397440 h 3952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52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7440" cy="298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5840" cy="3490200"/>
          </a:xfrm>
          <a:custGeom>
            <a:avLst/>
            <a:gdLst>
              <a:gd name="textAreaLeft" fmla="*/ 0 w 3165840"/>
              <a:gd name="textAreaRight" fmla="*/ 3168000 w 3165840"/>
              <a:gd name="textAreaTop" fmla="*/ 0 h 3490200"/>
              <a:gd name="textAreaBottom" fmla="*/ 3492360 h 34902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52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7560" cy="53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6040" cy="581400"/>
            <a:chOff x="522720" y="385200"/>
            <a:chExt cx="1526040" cy="58140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59840" cy="14112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141120"/>
                <a:gd name="textAreaBottom" fmla="*/ 143280 h 1411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2400" cy="39528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395280"/>
                <a:gd name="textAreaBottom" fmla="*/ 397440 h 3952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52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7560" cy="110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6040" cy="581400"/>
            <a:chOff x="522720" y="385200"/>
            <a:chExt cx="1526040" cy="58140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59840" cy="14112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141120"/>
                <a:gd name="textAreaBottom" fmla="*/ 143280 h 1411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2400" cy="39528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395280"/>
                <a:gd name="textAreaBottom" fmla="*/ 397440 h 3952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52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4520" cy="110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6040" cy="581400"/>
            <a:chOff x="522720" y="385200"/>
            <a:chExt cx="1526040" cy="58140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59840" cy="14112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141120"/>
                <a:gd name="textAreaBottom" fmla="*/ 143280 h 1411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2400" cy="39528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395280"/>
                <a:gd name="textAreaBottom" fmla="*/ 397440 h 3952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0800" cy="3824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52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8160" cy="118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6040" cy="581400"/>
            <a:chOff x="522720" y="385200"/>
            <a:chExt cx="1526040" cy="58140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59840" cy="14112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141120"/>
                <a:gd name="textAreaBottom" fmla="*/ 143280 h 1411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2400" cy="39528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395280"/>
                <a:gd name="textAreaBottom" fmla="*/ 397440 h 3952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5840" cy="3824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5240" cy="27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1520" cy="5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6040" cy="581400"/>
            <a:chOff x="522720" y="385200"/>
            <a:chExt cx="1526040" cy="58140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59840" cy="14112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141120"/>
                <a:gd name="textAreaBottom" fmla="*/ 143280 h 1411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2400" cy="39528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395280"/>
                <a:gd name="textAreaBottom" fmla="*/ 397440 h 3952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2400" cy="511560"/>
            </a:xfrm>
            <a:custGeom>
              <a:avLst/>
              <a:gdLst>
                <a:gd name="textAreaLeft" fmla="*/ 0 w 392400"/>
                <a:gd name="textAreaRight" fmla="*/ 394560 w 392400"/>
                <a:gd name="textAreaTop" fmla="*/ 0 h 511560"/>
                <a:gd name="textAreaBottom" fmla="*/ 513720 h 5115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6200" cy="2394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0840" cy="2394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4477EDE-E603-4C22-81C0-65F1B1F1382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184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305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8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09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310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311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7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0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321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3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4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325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7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0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331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5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B9D78CF-AED7-4D79-8570-FAD01570205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340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3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4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345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346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2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5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356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8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9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360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2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5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366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70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FEE953F-8240-4A72-9FDC-8AB2C261716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09892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377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80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1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382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383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9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2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393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4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5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6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397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8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9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2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403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7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423E916-BBCA-4341-BE63-E7F7691DE2F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098920" cy="3309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414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7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8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419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420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6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9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430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3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434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6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440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4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1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0690979-6947-433E-B980-D5AC2B2334E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448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51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52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453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454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7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8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0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3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464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6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7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468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3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474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5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6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7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78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79" name="Gruppieren 49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480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7560" cy="91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84" name="Grafik 11"/>
          <p:cNvSpPr/>
          <p:nvPr/>
        </p:nvSpPr>
        <p:spPr>
          <a:xfrm>
            <a:off x="0" y="0"/>
            <a:ext cx="3729960" cy="4912920"/>
          </a:xfrm>
          <a:custGeom>
            <a:avLst/>
            <a:gdLst>
              <a:gd name="textAreaLeft" fmla="*/ 0 w 3729960"/>
              <a:gd name="textAreaRight" fmla="*/ 3732120 w 3729960"/>
              <a:gd name="textAreaTop" fmla="*/ 0 h 4912920"/>
              <a:gd name="textAreaBottom" fmla="*/ 4915080 h 49129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79484DE-4577-492E-9952-B6BFA43745C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87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488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489" name="Freihandform: Form 65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0" name="Freihandform: Form 66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Freihandform: Form 67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Freihandform: Form 68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69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70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5" name="Freihandform: Form 43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Freihandform: Form 44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Freihandform: Form 45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8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499" name="Freihandform: Form 63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Freihandform: Form 64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1" name="Freihandform: Form 47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2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503" name="Freihandform: Form 61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62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5" name="Freihandform: Form 53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Freihandform: Form 54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Freihandform: Form 55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8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509" name="Freihandform: Form 57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58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59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60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514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7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18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519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520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1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2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4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5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6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9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530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2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3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534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6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9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540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1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2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44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45" name="Gruppieren 49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546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7560" cy="91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0C11ACF-2BEB-456E-8BA4-220CB328338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52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553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554" name="Freihandform: Form 65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Freihandform: Form 66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Freihandform: Form 67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Freihandform: Form 68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ihandform: Form 69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Freihandform: Form 70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0" name="Freihandform: Form 43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1" name="Freihandform: Form 44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Freihandform: Form 45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3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564" name="Freihandform: Form 63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Freihandform: Form 64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6" name="Freihandform: Form 47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7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568" name="Freihandform: Form 61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62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0" name="Freihandform: Form 53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Freihandform: Form 54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Freihandform: Form 55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3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574" name="Freihandform: Form 57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5" name="Freihandform: Form 58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6" name="Freihandform: Form 59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7" name="Freihandform: Form 60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579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82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83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584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585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1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4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595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7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8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599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1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4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605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09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637083F-BB6D-41F5-8B93-1492797B22F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ftr" idx="22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364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424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616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7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19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20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621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622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5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6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8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1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632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3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4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5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636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8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1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642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3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4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6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2"/>
          <p:cNvSpPr>
            <a:spLocks noGrp="1"/>
          </p:cNvSpPr>
          <p:nvPr>
            <p:ph type="sldNum" idx="23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4C9C064-D201-4119-9C23-25C5D4CA103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651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54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55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656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657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1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2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3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5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6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667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8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9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0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671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2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3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5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6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677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0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81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2"/>
          <p:cNvSpPr>
            <a:spLocks noGrp="1"/>
          </p:cNvSpPr>
          <p:nvPr>
            <p:ph type="ftr" idx="24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25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8A96A49-913B-41E9-80D8-C2F5CDFF832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9480" cy="34221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280" cy="34221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7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688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9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91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92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693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694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0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2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3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704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6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7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708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0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2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3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714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7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8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2"/>
          <p:cNvSpPr>
            <a:spLocks noGrp="1"/>
          </p:cNvSpPr>
          <p:nvPr>
            <p:ph type="ftr" idx="26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 type="sldNum" idx="27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4256B7A-8DC3-457D-BFEE-F44BFC288E2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948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28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2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726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29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30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731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732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3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4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7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8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1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742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3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4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5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746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8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9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0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1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752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56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57" name="Gruppieren 52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758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0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1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762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763" name="Freihandform: Form 35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Freihandform: Form 36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37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38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39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Freihandform: Form 40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9" name="Freihandform: Form 17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Freihandform: Form 18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Freihandform: Form 19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2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773" name="Freihandform: Form 33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Freihandform: Form 34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5" name="Freihandform: Form 21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6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777" name="Freihandform: Form 31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Freihandform: Form 32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9" name="Freihandform: Form 23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Freihandform: Form 24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Freihandform: Form 25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2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783" name="Freihandform: Form 27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28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29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30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7" name="Grafik 11"/>
          <p:cNvSpPr/>
          <p:nvPr/>
        </p:nvSpPr>
        <p:spPr>
          <a:xfrm>
            <a:off x="0" y="0"/>
            <a:ext cx="3729960" cy="4912920"/>
          </a:xfrm>
          <a:custGeom>
            <a:avLst/>
            <a:gdLst>
              <a:gd name="textAreaLeft" fmla="*/ 0 w 3729960"/>
              <a:gd name="textAreaRight" fmla="*/ 3732120 w 3729960"/>
              <a:gd name="textAreaTop" fmla="*/ 0 h 4912920"/>
              <a:gd name="textAreaBottom" fmla="*/ 4915080 h 49129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1"/>
          <p:cNvSpPr>
            <a:spLocks noGrp="1"/>
          </p:cNvSpPr>
          <p:nvPr>
            <p:ph type="ftr" idx="28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PlaceHolder 2"/>
          <p:cNvSpPr>
            <a:spLocks noGrp="1"/>
          </p:cNvSpPr>
          <p:nvPr>
            <p:ph type="sldNum" idx="29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8D84DCE-FA8D-4C63-AC72-B34C6B2E41A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72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791" name="Gerader Verbinder 45"/>
          <p:cNvCxnSpPr/>
          <p:nvPr/>
        </p:nvCxnSpPr>
        <p:spPr>
          <a:xfrm>
            <a:off x="4464000" y="974520"/>
            <a:ext cx="289152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792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680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620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795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7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8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99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800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801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7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0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811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2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3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4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815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7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0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821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5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 type="ftr" idx="30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sldNum" idx="31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14D900F-01B9-456A-83E3-2C61B1A9C8E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948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480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1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056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32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056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3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834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5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37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38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839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840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4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5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6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9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850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2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3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854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6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9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860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2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3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4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2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8605312-13DC-4BF5-9FD6-4598296F769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PlaceHolder 3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09820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871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4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75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876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877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3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6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887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9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891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3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6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897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0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1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3" name="PlaceHolder 2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3D1AAB2-6FB7-46BF-8CCD-19109A090A5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PlaceHolder 3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876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0820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8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909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12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13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914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915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925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7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8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929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1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4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935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39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2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0790D28-8F44-4C8D-B59E-B3F548D5E12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876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0820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947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9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0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51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952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953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9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0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1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2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963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4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5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6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967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9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2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973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7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2"/>
          <p:cNvSpPr>
            <a:spLocks noGrp="1"/>
          </p:cNvSpPr>
          <p:nvPr>
            <p:ph type="ftr" idx="38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39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1386C66-12DD-4131-B513-8FF854CDF10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9480" cy="163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9480" cy="163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39480" cy="163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1280" cy="1636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5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986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9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90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991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992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5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6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7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8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1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002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3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4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5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006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7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8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11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012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3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16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2"/>
          <p:cNvSpPr>
            <a:spLocks noGrp="1"/>
          </p:cNvSpPr>
          <p:nvPr>
            <p:ph type="ftr" idx="40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41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88DD814-9CE4-49E0-BB9F-1D8F8E045D7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620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228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228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3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024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27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28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1029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1030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1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6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7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8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9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040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2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3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044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5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6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7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8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9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050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54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6" name="PlaceHolder 2"/>
          <p:cNvSpPr>
            <a:spLocks noGrp="1"/>
          </p:cNvSpPr>
          <p:nvPr>
            <p:ph type="ftr" idx="42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PlaceHolder 3"/>
          <p:cNvSpPr>
            <a:spLocks noGrp="1"/>
          </p:cNvSpPr>
          <p:nvPr>
            <p:ph type="sldNum" idx="43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C309A99-C293-4E77-AF1E-49F6F25F0AF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060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1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2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63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64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1065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1066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8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2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3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5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076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8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9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080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1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2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3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4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5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086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9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90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92" name="PlaceHolder 2"/>
          <p:cNvSpPr>
            <a:spLocks noGrp="1"/>
          </p:cNvSpPr>
          <p:nvPr>
            <p:ph type="ftr" idx="44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PlaceHolder 3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47BFD01-B0E9-4F18-AB1D-94C3A7B0382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3992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95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084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96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2280" cy="34902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7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228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099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02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03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1104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1105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6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7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9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0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1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4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115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7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8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119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0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1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4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125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6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29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30" name="Gruppieren 53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131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2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34" name="PlaceHolder 1"/>
          <p:cNvSpPr>
            <a:spLocks noGrp="1"/>
          </p:cNvSpPr>
          <p:nvPr>
            <p:ph type="ftr" idx="46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BFEDEA4-6800-44AC-AB21-313FCD72505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556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137" name="Gerader Verbinder 46"/>
          <p:cNvCxnSpPr/>
          <p:nvPr/>
        </p:nvCxnSpPr>
        <p:spPr>
          <a:xfrm>
            <a:off x="4625640" y="974520"/>
            <a:ext cx="272988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38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5000" cy="4912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39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5640" cy="34855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0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4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41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1142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1143" name="Freihandform: Form 68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" name="Freihandform: Form 69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Freihandform: Form 70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Freihandform: Form 71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Freihandform: Form 72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Freihandform: Form 73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9" name="Freihandform: Form 45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Freihandform: Form 4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Freihandform: Form 4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2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153" name="Freihandform: Form 66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67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5" name="Freihandform: Form 50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6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157" name="Freihandform: Form 6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Freihandform: Form 6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9" name="Freihandform: Form 52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0" name="Freihandform: Form 5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Freihandform: Form 5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2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163" name="Freihandform: Form 6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4" name="Freihandform: Form 6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5" name="Freihandform: Form 6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6" name="Freihandform: Form 6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168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9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71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72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1173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1174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5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6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7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9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0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1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2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3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184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5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6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7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188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0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1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2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3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194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5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6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7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8" name="Freihandform: Form 44" hidden="1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99" name="Gruppieren 54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200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3" name="PlaceHolder 1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9CE28A7-1414-494B-9D22-C8168421994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556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206" name="Gerader Verbinder 47"/>
          <p:cNvCxnSpPr/>
          <p:nvPr/>
        </p:nvCxnSpPr>
        <p:spPr>
          <a:xfrm>
            <a:off x="4625640" y="974520"/>
            <a:ext cx="272988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207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3920" cy="2428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08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3920" cy="2418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09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8160" cy="34855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0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816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11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1212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1213" name="Freihandform: Form 69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Freihandform: Form 70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5" name="Freihandform: Form 71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6" name="Freihandform: Form 72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Freihandform: Form 73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74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9" name="Freihandform: Form 45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0" name="Freihandform: Form 46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1" name="Freihandform: Form 49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2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223" name="Freihandform: Form 67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Freihandform: Form 68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5" name="Freihandform: Form 51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6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227" name="Freihandform: Form 65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66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9" name="Freihandform: Form 53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0" name="Freihandform: Form 58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1" name="Freihandform: Form 59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2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233" name="Freihandform: Form 61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Freihandform: Form 62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Freihandform: Form 63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6" name="Freihandform: Form 64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7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238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9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1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2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1243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1244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5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0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1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3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254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6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7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258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9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0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1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3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264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5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8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2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PlaceHolder 3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E80CDCA-C41D-4813-BACA-858E1D8F72A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248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3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248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5" name="Gruppieren 6"/>
          <p:cNvGrpSpPr/>
          <p:nvPr/>
        </p:nvGrpSpPr>
        <p:grpSpPr>
          <a:xfrm>
            <a:off x="-5040" y="4950720"/>
            <a:ext cx="9146880" cy="195840"/>
            <a:chOff x="-5040" y="4950720"/>
            <a:chExt cx="9146880" cy="195840"/>
          </a:xfrm>
        </p:grpSpPr>
        <p:sp>
          <p:nvSpPr>
            <p:cNvPr id="1276" name="bk object 18"/>
            <p:cNvSpPr/>
            <p:nvPr/>
          </p:nvSpPr>
          <p:spPr>
            <a:xfrm>
              <a:off x="-5040" y="4950720"/>
              <a:ext cx="482760" cy="195840"/>
            </a:xfrm>
            <a:custGeom>
              <a:avLst/>
              <a:gdLst>
                <a:gd name="textAreaLeft" fmla="*/ 0 w 482760"/>
                <a:gd name="textAreaRight" fmla="*/ 484920 w 48276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7" name="bk object 18"/>
            <p:cNvSpPr/>
            <p:nvPr/>
          </p:nvSpPr>
          <p:spPr>
            <a:xfrm>
              <a:off x="522360" y="4950720"/>
              <a:ext cx="8619480" cy="195840"/>
            </a:xfrm>
            <a:custGeom>
              <a:avLst/>
              <a:gdLst>
                <a:gd name="textAreaLeft" fmla="*/ 0 w 8619480"/>
                <a:gd name="textAreaRight" fmla="*/ 8621640 w 8619480"/>
                <a:gd name="textAreaTop" fmla="*/ 0 h 195840"/>
                <a:gd name="textAreaBottom" fmla="*/ 198000 h 1958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8" name="Holder 3"/>
            <p:cNvSpPr/>
            <p:nvPr/>
          </p:nvSpPr>
          <p:spPr>
            <a:xfrm>
              <a:off x="8194680" y="4966200"/>
              <a:ext cx="447480" cy="16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79" name="Gerader Verbinder 11"/>
          <p:cNvCxnSpPr/>
          <p:nvPr/>
        </p:nvCxnSpPr>
        <p:spPr>
          <a:xfrm>
            <a:off x="521280" y="974520"/>
            <a:ext cx="6834240" cy="216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0" name="Grafik 9"/>
          <p:cNvGrpSpPr/>
          <p:nvPr/>
        </p:nvGrpSpPr>
        <p:grpSpPr>
          <a:xfrm>
            <a:off x="7741440" y="394200"/>
            <a:ext cx="1047960" cy="618840"/>
            <a:chOff x="7741440" y="394200"/>
            <a:chExt cx="1047960" cy="618840"/>
          </a:xfrm>
        </p:grpSpPr>
        <p:grpSp>
          <p:nvGrpSpPr>
            <p:cNvPr id="1281" name="Grafik 9"/>
            <p:cNvGrpSpPr/>
            <p:nvPr/>
          </p:nvGrpSpPr>
          <p:grpSpPr>
            <a:xfrm>
              <a:off x="7741440" y="394200"/>
              <a:ext cx="882720" cy="430200"/>
              <a:chOff x="7741440" y="394200"/>
              <a:chExt cx="882720" cy="430200"/>
            </a:xfrm>
          </p:grpSpPr>
          <p:sp>
            <p:nvSpPr>
              <p:cNvPr id="1282" name="Freihandform: Form 20"/>
              <p:cNvSpPr/>
              <p:nvPr/>
            </p:nvSpPr>
            <p:spPr>
              <a:xfrm>
                <a:off x="8358120" y="480600"/>
                <a:ext cx="266040" cy="26640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266400"/>
                  <a:gd name="textAreaBottom" fmla="*/ 268560 h 2664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3" name="Freihandform: Form 21"/>
              <p:cNvSpPr/>
              <p:nvPr/>
            </p:nvSpPr>
            <p:spPr>
              <a:xfrm>
                <a:off x="774144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4" name="Freihandform: Form 22"/>
              <p:cNvSpPr/>
              <p:nvPr/>
            </p:nvSpPr>
            <p:spPr>
              <a:xfrm>
                <a:off x="8050680" y="394200"/>
                <a:ext cx="266040" cy="346320"/>
              </a:xfrm>
              <a:custGeom>
                <a:avLst/>
                <a:gdLst>
                  <a:gd name="textAreaLeft" fmla="*/ 0 w 266040"/>
                  <a:gd name="textAreaRight" fmla="*/ 268200 w 266040"/>
                  <a:gd name="textAreaTop" fmla="*/ 0 h 346320"/>
                  <a:gd name="textAreaBottom" fmla="*/ 348480 h 3463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3"/>
              <p:cNvSpPr/>
              <p:nvPr/>
            </p:nvSpPr>
            <p:spPr>
              <a:xfrm>
                <a:off x="784800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4"/>
              <p:cNvSpPr/>
              <p:nvPr/>
            </p:nvSpPr>
            <p:spPr>
              <a:xfrm>
                <a:off x="795816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5"/>
              <p:cNvSpPr/>
              <p:nvPr/>
            </p:nvSpPr>
            <p:spPr>
              <a:xfrm>
                <a:off x="8212320" y="817560"/>
                <a:ext cx="6840" cy="6840"/>
              </a:xfrm>
              <a:custGeom>
                <a:avLst/>
                <a:gdLst>
                  <a:gd name="textAreaLeft" fmla="*/ 0 w 6840"/>
                  <a:gd name="textAreaRight" fmla="*/ 9000 w 6840"/>
                  <a:gd name="textAreaTop" fmla="*/ 0 h 6840"/>
                  <a:gd name="textAreaBottom" fmla="*/ 9000 h 68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" tIns="-36000" rIns="36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88" name="Freihandform: Form 26"/>
            <p:cNvSpPr/>
            <p:nvPr/>
          </p:nvSpPr>
          <p:spPr>
            <a:xfrm>
              <a:off x="774144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9" name="Freihandform: Form 27"/>
            <p:cNvSpPr/>
            <p:nvPr/>
          </p:nvSpPr>
          <p:spPr>
            <a:xfrm>
              <a:off x="779976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0" name="Freihandform: Form 28"/>
            <p:cNvSpPr/>
            <p:nvPr/>
          </p:nvSpPr>
          <p:spPr>
            <a:xfrm>
              <a:off x="784908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1" name="Grafik 9"/>
            <p:cNvGrpSpPr/>
            <p:nvPr/>
          </p:nvGrpSpPr>
          <p:grpSpPr>
            <a:xfrm>
              <a:off x="7872120" y="834120"/>
              <a:ext cx="73080" cy="39600"/>
              <a:chOff x="7872120" y="834120"/>
              <a:chExt cx="73080" cy="39600"/>
            </a:xfrm>
          </p:grpSpPr>
          <p:sp>
            <p:nvSpPr>
              <p:cNvPr id="1292" name="Freihandform: Form 30"/>
              <p:cNvSpPr/>
              <p:nvPr/>
            </p:nvSpPr>
            <p:spPr>
              <a:xfrm>
                <a:off x="787212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3" name="Freihandform: Form 31"/>
              <p:cNvSpPr/>
              <p:nvPr/>
            </p:nvSpPr>
            <p:spPr>
              <a:xfrm>
                <a:off x="7922160" y="834120"/>
                <a:ext cx="23040" cy="39600"/>
              </a:xfrm>
              <a:custGeom>
                <a:avLst/>
                <a:gdLst>
                  <a:gd name="textAreaLeft" fmla="*/ 0 w 23040"/>
                  <a:gd name="textAreaRight" fmla="*/ 25200 w 23040"/>
                  <a:gd name="textAreaTop" fmla="*/ 0 h 39600"/>
                  <a:gd name="textAreaBottom" fmla="*/ 41760 h 396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4" name="Freihandform: Form 32"/>
            <p:cNvSpPr/>
            <p:nvPr/>
          </p:nvSpPr>
          <p:spPr>
            <a:xfrm>
              <a:off x="795924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5" name="Grafik 9"/>
            <p:cNvGrpSpPr/>
            <p:nvPr/>
          </p:nvGrpSpPr>
          <p:grpSpPr>
            <a:xfrm>
              <a:off x="7979760" y="812160"/>
              <a:ext cx="77040" cy="63360"/>
              <a:chOff x="7979760" y="812160"/>
              <a:chExt cx="77040" cy="63360"/>
            </a:xfrm>
          </p:grpSpPr>
          <p:sp>
            <p:nvSpPr>
              <p:cNvPr id="1296" name="Freihandform: Form 34"/>
              <p:cNvSpPr/>
              <p:nvPr/>
            </p:nvSpPr>
            <p:spPr>
              <a:xfrm>
                <a:off x="7979760" y="834120"/>
                <a:ext cx="32400" cy="414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41400"/>
                  <a:gd name="textAreaBottom" fmla="*/ 43560 h 414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7" name="Freihandform: Form 35"/>
              <p:cNvSpPr/>
              <p:nvPr/>
            </p:nvSpPr>
            <p:spPr>
              <a:xfrm>
                <a:off x="8024400" y="812160"/>
                <a:ext cx="32400" cy="612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61200"/>
                  <a:gd name="textAreaBottom" fmla="*/ 63360 h 612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8" name="Freihandform: Form 36"/>
            <p:cNvSpPr/>
            <p:nvPr/>
          </p:nvSpPr>
          <p:spPr>
            <a:xfrm>
              <a:off x="8106480" y="817920"/>
              <a:ext cx="41400" cy="55800"/>
            </a:xfrm>
            <a:custGeom>
              <a:avLst/>
              <a:gdLst>
                <a:gd name="textAreaLeft" fmla="*/ 0 w 41400"/>
                <a:gd name="textAreaRight" fmla="*/ 43560 w 41400"/>
                <a:gd name="textAreaTop" fmla="*/ 0 h 55800"/>
                <a:gd name="textAreaBottom" fmla="*/ 57960 h 558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880" tIns="12960" rIns="2088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9" name="Freihandform: Form 37"/>
            <p:cNvSpPr/>
            <p:nvPr/>
          </p:nvSpPr>
          <p:spPr>
            <a:xfrm>
              <a:off x="8164800" y="834120"/>
              <a:ext cx="34200" cy="41400"/>
            </a:xfrm>
            <a:custGeom>
              <a:avLst/>
              <a:gdLst>
                <a:gd name="textAreaLeft" fmla="*/ 0 w 34200"/>
                <a:gd name="textAreaRight" fmla="*/ 36360 w 34200"/>
                <a:gd name="textAreaTop" fmla="*/ 0 h 41400"/>
                <a:gd name="textAreaBottom" fmla="*/ 43560 h 414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280" tIns="-1440" rIns="1728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Freihandform: Form 38"/>
            <p:cNvSpPr/>
            <p:nvPr/>
          </p:nvSpPr>
          <p:spPr>
            <a:xfrm>
              <a:off x="8213400" y="835200"/>
              <a:ext cx="5040" cy="37800"/>
            </a:xfrm>
            <a:custGeom>
              <a:avLst/>
              <a:gdLst>
                <a:gd name="textAreaLeft" fmla="*/ 0 w 5040"/>
                <a:gd name="textAreaRight" fmla="*/ 7200 w 5040"/>
                <a:gd name="textAreaTop" fmla="*/ 0 h 37800"/>
                <a:gd name="textAreaBottom" fmla="*/ 39960 h 378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1" name="Grafik 9"/>
            <p:cNvGrpSpPr/>
            <p:nvPr/>
          </p:nvGrpSpPr>
          <p:grpSpPr>
            <a:xfrm>
              <a:off x="7741440" y="834120"/>
              <a:ext cx="1047960" cy="178920"/>
              <a:chOff x="7741440" y="834120"/>
              <a:chExt cx="1047960" cy="178920"/>
            </a:xfrm>
          </p:grpSpPr>
          <p:sp>
            <p:nvSpPr>
              <p:cNvPr id="1302" name="Freihandform: Form 40"/>
              <p:cNvSpPr/>
              <p:nvPr/>
            </p:nvSpPr>
            <p:spPr>
              <a:xfrm>
                <a:off x="8236440" y="834120"/>
                <a:ext cx="32400" cy="39600"/>
              </a:xfrm>
              <a:custGeom>
                <a:avLst/>
                <a:gdLst>
                  <a:gd name="textAreaLeft" fmla="*/ 0 w 32400"/>
                  <a:gd name="textAreaRight" fmla="*/ 34560 w 32400"/>
                  <a:gd name="textAreaTop" fmla="*/ 0 h 39600"/>
                  <a:gd name="textAreaBottom" fmla="*/ 41760 h 396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3" name="Freihandform: Form 41"/>
              <p:cNvSpPr/>
              <p:nvPr/>
            </p:nvSpPr>
            <p:spPr>
              <a:xfrm>
                <a:off x="828468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6360 w 34200"/>
                  <a:gd name="textAreaTop" fmla="*/ 0 h 41400"/>
                  <a:gd name="textAreaBottom" fmla="*/ 43560 h 414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280" tIns="-1440" rIns="1728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4" name="Freihandform: Form 42"/>
              <p:cNvSpPr/>
              <p:nvPr/>
            </p:nvSpPr>
            <p:spPr>
              <a:xfrm>
                <a:off x="7741440" y="914040"/>
                <a:ext cx="882360" cy="61200"/>
              </a:xfrm>
              <a:custGeom>
                <a:avLst/>
                <a:gdLst>
                  <a:gd name="textAreaLeft" fmla="*/ 0 w 882360"/>
                  <a:gd name="textAreaRight" fmla="*/ 884520 w 882360"/>
                  <a:gd name="textAreaTop" fmla="*/ 0 h 61200"/>
                  <a:gd name="textAreaBottom" fmla="*/ 63360 h 612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3"/>
              <p:cNvSpPr/>
              <p:nvPr/>
            </p:nvSpPr>
            <p:spPr>
              <a:xfrm>
                <a:off x="8677440" y="915480"/>
                <a:ext cx="111960" cy="97560"/>
              </a:xfrm>
              <a:custGeom>
                <a:avLst/>
                <a:gdLst>
                  <a:gd name="textAreaLeft" fmla="*/ 0 w 111960"/>
                  <a:gd name="textAreaRight" fmla="*/ 114120 w 111960"/>
                  <a:gd name="textAreaTop" fmla="*/ 0 h 97560"/>
                  <a:gd name="textAreaBottom" fmla="*/ 99720 h 975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160" tIns="45000" rIns="5616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6" name="Freihandform: Form 44"/>
          <p:cNvSpPr/>
          <p:nvPr/>
        </p:nvSpPr>
        <p:spPr>
          <a:xfrm>
            <a:off x="-5040" y="407880"/>
            <a:ext cx="335160" cy="292680"/>
          </a:xfrm>
          <a:custGeom>
            <a:avLst/>
            <a:gdLst>
              <a:gd name="textAreaLeft" fmla="*/ 0 w 335160"/>
              <a:gd name="textAreaRight" fmla="*/ 337320 w 335160"/>
              <a:gd name="textAreaTop" fmla="*/ 0 h 292680"/>
              <a:gd name="textAreaBottom" fmla="*/ 294840 h 2926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2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PlaceHolder 3"/>
          <p:cNvSpPr>
            <a:spLocks noGrp="1"/>
          </p:cNvSpPr>
          <p:nvPr>
            <p:ph type="sldNum" idx="53"/>
          </p:nvPr>
        </p:nvSpPr>
        <p:spPr>
          <a:xfrm>
            <a:off x="35640" y="4975560"/>
            <a:ext cx="33516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3D423A3-8918-435B-8624-BD5635C4439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684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692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2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6840" cy="349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920" cy="32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947840" cy="106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  <a:ea typeface="Source Han Sans CN"/>
              </a:rPr>
              <a:t>OS Development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  <a:ea typeface="Source Han Sans CN"/>
              </a:rPr>
              <a:t>3. Programming model of the</a:t>
            </a:r>
            <a:br>
              <a:rPr sz="24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  <a:ea typeface="Source Han Sans CN"/>
              </a:rPr>
              <a:t>    x86_64 processor architecture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8840" cy="602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2"/>
          <p:cNvSpPr>
            <a:spLocks noGrp="1"/>
          </p:cNvSpPr>
          <p:nvPr>
            <p:ph type="ftr" idx="57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Programming model of the x86_64 processor architecture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History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x86 programming model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Address translation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Tasks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25" name="Rounded Rectangle 1"/>
          <p:cNvSpPr/>
          <p:nvPr/>
        </p:nvSpPr>
        <p:spPr>
          <a:xfrm>
            <a:off x="372960" y="1146240"/>
            <a:ext cx="3260880" cy="4186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7856614-6FBF-4DB2-887B-90D4BCDCF60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History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7" name="Rectangular Callout 1"/>
          <p:cNvSpPr/>
          <p:nvPr/>
        </p:nvSpPr>
        <p:spPr>
          <a:xfrm>
            <a:off x="6390360" y="3319920"/>
            <a:ext cx="2572200" cy="477000"/>
          </a:xfrm>
          <a:prstGeom prst="wedgeRectCallout">
            <a:avLst>
              <a:gd name="adj1" fmla="val -98216"/>
              <a:gd name="adj2" fmla="val 99499"/>
            </a:avLst>
          </a:prstGeom>
          <a:noFill/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DE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dvanced Vector Extensions (based on SSE)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Transactional Synchronozation Extensions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Fuse-Multiply-Add Instructions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Rectangular Callout 2"/>
          <p:cNvSpPr/>
          <p:nvPr/>
        </p:nvSpPr>
        <p:spPr>
          <a:xfrm>
            <a:off x="7353360" y="3983040"/>
            <a:ext cx="1583280" cy="317880"/>
          </a:xfrm>
          <a:prstGeom prst="wedgeRectCallout">
            <a:avLst>
              <a:gd name="adj1" fmla="val -126339"/>
              <a:gd name="adj2" fmla="val 61820"/>
            </a:avLst>
          </a:prstGeom>
          <a:noFill/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Deep-Learning (DL) Boost </a:t>
            </a:r>
            <a:br>
              <a:rPr sz="900"/>
            </a:b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AVX extension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Rectangular Callout 3"/>
          <p:cNvSpPr/>
          <p:nvPr/>
        </p:nvSpPr>
        <p:spPr>
          <a:xfrm>
            <a:off x="7884360" y="4471560"/>
            <a:ext cx="1077840" cy="441000"/>
          </a:xfrm>
          <a:prstGeom prst="wedgeRectCallout">
            <a:avLst>
              <a:gd name="adj1" fmla="val -96019"/>
              <a:gd name="adj2" fmla="val -10804"/>
            </a:avLst>
          </a:prstGeom>
          <a:noFill/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 = Performance</a:t>
            </a:r>
            <a:br>
              <a:rPr sz="900"/>
            </a:b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 = Efficiency </a:t>
            </a:r>
            <a:br>
              <a:rPr sz="900"/>
            </a:br>
            <a:r>
              <a:rPr lang="de-DE" sz="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Hybrid Cores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PlaceHolder 2"/>
          <p:cNvSpPr>
            <a:spLocks noGrp="1"/>
          </p:cNvSpPr>
          <p:nvPr>
            <p:ph type="subTitle"/>
          </p:nvPr>
        </p:nvSpPr>
        <p:spPr>
          <a:xfrm>
            <a:off x="521640" y="1204920"/>
            <a:ext cx="8094240" cy="370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8086 (1978) 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Prime father of the PC processor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80286 (1982) 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Segmentation based memory protection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80386 (1985) 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Paging → Memory protection based on pages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Pentium (1993) 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superscalar, 64-bit data bus, MMX, APIC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Pentium II (1997)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RISC-like micro instructions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Pentium III (1999)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SSE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Pentium 4 (2000)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SSE2, Hyperthreading, Intel 64 / EM64T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Core (2005)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Dual Core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Core 2 (2006)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Quad Core, 64 bit (x86_64)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Has-/Broad-well (2013)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AVX2, TSX, FMA3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Rocket / Tiger Lake (2021)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DL-Boost, Memory encryption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Alder Lake (2021) 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- Division in P- and E-cores (max. 8 + 8)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Fußzeilenplatzhalter 1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3.1 History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70F66A4-12BF-4534-92E5-1E9952A9C5E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2"/>
          <p:cNvSpPr>
            <a:spLocks noGrp="1"/>
          </p:cNvSpPr>
          <p:nvPr>
            <p:ph type="ftr" idx="58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Programming model of the x86_64 processor architecture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History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x86 programming model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Address translation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Tasks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5" name="Rounded Rectangle 1"/>
          <p:cNvSpPr/>
          <p:nvPr/>
        </p:nvSpPr>
        <p:spPr>
          <a:xfrm>
            <a:off x="372960" y="1722240"/>
            <a:ext cx="3260880" cy="4186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B055DFA-9E1D-4CCE-AA10-4274BFF64FC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8086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7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16-bit architecture, little endian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20-bit address bus → 1 MiB max. physical memory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Few registers (from todays standpoint)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123 instructions (1-4 byte length)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Segmented memory (64 KiB segments)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Stil relevant today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 multicore systems, other cores startup in real moe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8" name="Fußzeilenplatzhalter 2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11C583D-FC83-4A32-9220-D54973A10E2C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8086: Registers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0" name="TextBox 5"/>
          <p:cNvSpPr/>
          <p:nvPr/>
        </p:nvSpPr>
        <p:spPr>
          <a:xfrm>
            <a:off x="2215440" y="4936320"/>
            <a:ext cx="45748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Fußzeilenplatzhalter 3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TextBox 6"/>
          <p:cNvSpPr/>
          <p:nvPr/>
        </p:nvSpPr>
        <p:spPr>
          <a:xfrm>
            <a:off x="2215800" y="493668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 based on: Volkmar Sieh / Daniel Lohmann, University Erlangen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3" name=""/>
          <p:cNvPicPr/>
          <p:nvPr/>
        </p:nvPicPr>
        <p:blipFill>
          <a:blip r:embed="rId1"/>
          <a:stretch/>
        </p:blipFill>
        <p:spPr>
          <a:xfrm>
            <a:off x="1800000" y="1031040"/>
            <a:ext cx="5038200" cy="38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59A95EE-6EB8-4EC0-858C-BAC38FB3BDC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8086: Registers 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5" name="TextBox 5"/>
          <p:cNvSpPr/>
          <p:nvPr/>
        </p:nvSpPr>
        <p:spPr>
          <a:xfrm>
            <a:off x="2215440" y="493632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 based on: Volkmar Sieh / Daniel Lohmann, University Erlangen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Fußzeilenplatzhalter 4"/>
          <p:cNvSpPr/>
          <p:nvPr/>
        </p:nvSpPr>
        <p:spPr>
          <a:xfrm>
            <a:off x="628560" y="4975560"/>
            <a:ext cx="158508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7" name=""/>
          <p:cNvPicPr/>
          <p:nvPr/>
        </p:nvPicPr>
        <p:blipFill>
          <a:blip r:embed="rId1"/>
          <a:stretch/>
        </p:blipFill>
        <p:spPr>
          <a:xfrm>
            <a:off x="2082240" y="1045800"/>
            <a:ext cx="4431960" cy="384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5C3D54F-D369-4B8C-9664-A2AC7CC1F1C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8086: Segmented Memory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9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Logical addresses consist of: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 selector (determined by a segment register)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Offset (usually given by a general purpose register or directly encoded into the instruction)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Physical address calculation: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Fußzeilenplatzhalter 5"/>
          <p:cNvSpPr/>
          <p:nvPr/>
        </p:nvSpPr>
        <p:spPr>
          <a:xfrm>
            <a:off x="628560" y="4975560"/>
            <a:ext cx="1529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TextBox 7"/>
          <p:cNvSpPr/>
          <p:nvPr/>
        </p:nvSpPr>
        <p:spPr>
          <a:xfrm>
            <a:off x="2215800" y="493668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 based on: Volkmar Sieh / Daniel Lohmann, University Erlangen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2" name=""/>
          <p:cNvPicPr/>
          <p:nvPr/>
        </p:nvPicPr>
        <p:blipFill>
          <a:blip r:embed="rId1"/>
          <a:stretch/>
        </p:blipFill>
        <p:spPr>
          <a:xfrm>
            <a:off x="2340000" y="2520000"/>
            <a:ext cx="4138200" cy="230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2DF6403-3D66-4B6C-AD40-E23837D7780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8086: Segmented Memory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54" name="Picture 5" descr="bill_gates_01.jpg"/>
          <p:cNvPicPr/>
          <p:nvPr/>
        </p:nvPicPr>
        <p:blipFill>
          <a:blip r:embed="rId1"/>
          <a:stretch/>
        </p:blipFill>
        <p:spPr>
          <a:xfrm>
            <a:off x="1763640" y="1278720"/>
            <a:ext cx="5110560" cy="337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5" name="Rounded Rectangular Callout 4"/>
          <p:cNvSpPr/>
          <p:nvPr/>
        </p:nvSpPr>
        <p:spPr>
          <a:xfrm>
            <a:off x="5220000" y="1300680"/>
            <a:ext cx="2374200" cy="604080"/>
          </a:xfrm>
          <a:prstGeom prst="wedgeRoundRectCallout">
            <a:avLst>
              <a:gd name="adj1" fmla="val -69732"/>
              <a:gd name="adj2" fmla="val 160452"/>
              <a:gd name="adj3" fmla="val 16667"/>
            </a:avLst>
          </a:prstGeom>
          <a:solidFill>
            <a:srgbClr val="FFFFB3"/>
          </a:solidFill>
          <a:ln w="9525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686160">
              <a:lnSpc>
                <a:spcPct val="93000"/>
              </a:lnSpc>
            </a:pPr>
            <a:r>
              <a:rPr lang="en-US" sz="135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640K</a:t>
            </a: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ought to be enough for anybody.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Fußzeilenplatzhalter 6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A107C61-5989-4F13-BFAC-6C1D19F5ADAF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8086: I/O-Port vs. Memory Addresses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8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I/O-port and memory addresses: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Differentiation through CPU pin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M/IO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16 address lanes for I/O → 16-bit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Still supported today (even in Protected Mode and Long Mode)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Additionally: Memory Mapped I/O (e.g., for video cards)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access goes to a device instead of memory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Fußzeilenplatzhalter 7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0" name=""/>
          <p:cNvPicPr/>
          <p:nvPr/>
        </p:nvPicPr>
        <p:blipFill>
          <a:blip r:embed="rId1"/>
          <a:stretch/>
        </p:blipFill>
        <p:spPr>
          <a:xfrm>
            <a:off x="2556000" y="3335400"/>
            <a:ext cx="3627720" cy="13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40EDD53-BA7C-4460-8279-21A6954A1F7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IA-32 – The 32-bit Intel Architecture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2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First IA-32 CPU was the Intel 80386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term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IA-32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was introduced much later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32-bit technology: register, data und address bus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From Pentium Pro: 64 Bit data und 36 bit address bus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Complex protection and multitasking support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Protected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Originally introduced with the 80286 (16-Bit)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Compatibility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With older operating systems through Real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With older applications through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 8086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Segmentation based memory model (mostly used as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Flat Memory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 based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Management Unit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(MMU)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Fußzeilenplatzhalter 8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4397F9A-28FC-4469-8C0C-D6096313C9DE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x86-64: 64-bit CPU Architecture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5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x86-64: Original name of 64 bit extension by AMD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Sometimes abbreviated as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Later replaced by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AMD64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Intel licensed x86-64 from AMD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Intel 64 is Intel’s own label (for the same architecture)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Minimal differences in instruction set compared to AMD64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Completely different than the own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IA-64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(Itanium) architechture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Fußzeilenplatzhalter 9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50AABFD-5896-4D7C-A137-D73E641F0200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x86-64: 64-bit CPU Architecture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8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Additional registers (all 64 bit long)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 must be enabled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Segmentation strongly restricted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New feature (among others):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Execute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protection per page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Fußzeilenplatzhalter 10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091984C-0862-4C50-9B00-04F676BFE29C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x86-64: CPU modes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1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Real Mode = 16 bit addressing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Protected Mode = 32 bit addressing (also called IA-32)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Long Mode = 64 Bit addressing (also called IA-32e)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meaning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extension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Used in the Intel manuals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To differentiate against IA-64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(Compatibility Mode)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Supporting Protected Mode applications in Long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Fußzeilenplatzhalter 11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1DC71BD-54C3-4694-9247-33CDABBA9866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</a:t>
            </a: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: Registers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4" name="TextBox 3"/>
          <p:cNvSpPr/>
          <p:nvPr/>
        </p:nvSpPr>
        <p:spPr>
          <a:xfrm>
            <a:off x="0" y="4936320"/>
            <a:ext cx="9141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5" name="Picture 4"/>
          <p:cNvPicPr/>
          <p:nvPr/>
        </p:nvPicPr>
        <p:blipFill>
          <a:blip r:embed="rId1"/>
          <a:srcRect l="1031" t="0" r="0" b="588"/>
          <a:stretch/>
        </p:blipFill>
        <p:spPr>
          <a:xfrm>
            <a:off x="1115640" y="1154880"/>
            <a:ext cx="6908400" cy="35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6" name="Rectangle 1"/>
          <p:cNvSpPr/>
          <p:nvPr/>
        </p:nvSpPr>
        <p:spPr>
          <a:xfrm>
            <a:off x="6228360" y="4015080"/>
            <a:ext cx="2014200" cy="78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77" name="Fußzeilenplatzhalter 13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D2FC800-3045-45D9-9F60-89134B369D75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</a:t>
            </a: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: Registers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9" name="TextBox 3"/>
          <p:cNvSpPr/>
          <p:nvPr/>
        </p:nvSpPr>
        <p:spPr>
          <a:xfrm>
            <a:off x="35640" y="4936320"/>
            <a:ext cx="90709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0" name="Picture 4"/>
          <p:cNvPicPr/>
          <p:nvPr/>
        </p:nvPicPr>
        <p:blipFill>
          <a:blip r:embed="rId1"/>
          <a:srcRect l="0" t="1861" r="0" b="0"/>
          <a:stretch/>
        </p:blipFill>
        <p:spPr>
          <a:xfrm>
            <a:off x="1328400" y="1134720"/>
            <a:ext cx="6824520" cy="375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1" name="Fußzeilenplatzhalter 14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3.2 x86 programming model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543FAED-A561-488A-8B91-D8E49E16FBA8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3" name="PlaceHolder 2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Programming model of the x86_64 processor architecture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History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x86 programming model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Address translation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Tasks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5" name="Rounded Rectangle 1"/>
          <p:cNvSpPr/>
          <p:nvPr/>
        </p:nvSpPr>
        <p:spPr>
          <a:xfrm>
            <a:off x="372960" y="2359080"/>
            <a:ext cx="3260880" cy="4186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895A9DF-D188-492B-BCA8-025B4C820FA8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TextBox 4"/>
          <p:cNvSpPr/>
          <p:nvPr/>
        </p:nvSpPr>
        <p:spPr>
          <a:xfrm>
            <a:off x="35640" y="4936320"/>
            <a:ext cx="90709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</a:t>
            </a: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: Addressing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8" name="PlaceHolder 2"/>
          <p:cNvSpPr>
            <a:spLocks noGrp="1"/>
          </p:cNvSpPr>
          <p:nvPr>
            <p:ph type="ftr" idx="60"/>
          </p:nvPr>
        </p:nvSpPr>
        <p:spPr>
          <a:xfrm>
            <a:off x="628560" y="4975560"/>
            <a:ext cx="358128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3.3 Address Translation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Effective addresses (EA) are calculated using the following scheme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 general purpose registers can be used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br>
              <a:rPr sz="600"/>
            </a:br>
            <a:endParaRPr lang="de-DE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       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MOV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RAX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, array[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RSI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* 4]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Lesen aus einem Array mit 4 Byte großen Elementen und RSI als Index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New in x86-64: Addressing relative to instruction pointer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0" name="Picture 3"/>
          <p:cNvPicPr/>
          <p:nvPr/>
        </p:nvPicPr>
        <p:blipFill>
          <a:blip r:embed="rId1"/>
          <a:stretch/>
        </p:blipFill>
        <p:spPr>
          <a:xfrm>
            <a:off x="757800" y="1798920"/>
            <a:ext cx="6908400" cy="163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1" name="Picture 7"/>
          <p:cNvPicPr/>
          <p:nvPr/>
        </p:nvPicPr>
        <p:blipFill>
          <a:blip r:embed="rId2"/>
          <a:stretch/>
        </p:blipFill>
        <p:spPr>
          <a:xfrm>
            <a:off x="683640" y="4231080"/>
            <a:ext cx="3156480" cy="47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1921BAE-C257-4413-9CEC-073CC6A51690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Protected Mode – Segments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3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segment has a start address and a length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 registers store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 selectors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= Index into the GDT/LDT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LDT was rarely used by operating systems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program (in execution) consists of multiple memory segments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 least CODE, DATA and STACK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Linear address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segment start address + effective address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Effective address = Value in a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general purpose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Linear address = physical address, if the paging unit is turned off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PlaceHolder 4"/>
          <p:cNvSpPr/>
          <p:nvPr/>
        </p:nvSpPr>
        <p:spPr>
          <a:xfrm>
            <a:off x="628920" y="4975560"/>
            <a:ext cx="358128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3.3 Address Translation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FC9A4C5-0344-4440-8EC7-6D45F25719CE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Protected Mode – Segments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6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Flat memory: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Practically all modern 32-bit operating systems set all segments to start address 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way, segments do not influence address calculation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Furthermore, only four GDT entry are used (CODE + DATA, each for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 Mode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); LDT remains completely unused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Segmentation cannot be turned off (because of protection), but Paging is not required in IA-32 Protected Mode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PlaceHolder 5"/>
          <p:cNvSpPr/>
          <p:nvPr/>
        </p:nvSpPr>
        <p:spPr>
          <a:xfrm>
            <a:off x="628920" y="4975560"/>
            <a:ext cx="358128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3.3 Address Translation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A628655-218E-4964-9BC7-B7F195B9E4D3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Protected Mode – Segments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9" name="TextBox 3"/>
          <p:cNvSpPr/>
          <p:nvPr/>
        </p:nvSpPr>
        <p:spPr>
          <a:xfrm>
            <a:off x="2988000" y="4936320"/>
            <a:ext cx="45946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  <a:ea typeface="Source Han Sans CN"/>
              </a:rPr>
              <a:t>Picture based on: Volkmar Sieh / Daniel Lohmann, University Erlangen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PlaceHolder 6"/>
          <p:cNvSpPr/>
          <p:nvPr/>
        </p:nvSpPr>
        <p:spPr>
          <a:xfrm>
            <a:off x="628920" y="4975560"/>
            <a:ext cx="358128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3.3 Address Translation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1" name=""/>
          <p:cNvPicPr/>
          <p:nvPr/>
        </p:nvPicPr>
        <p:blipFill>
          <a:blip r:embed="rId1"/>
          <a:stretch/>
        </p:blipFill>
        <p:spPr>
          <a:xfrm>
            <a:off x="2052000" y="1044000"/>
            <a:ext cx="5038920" cy="382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DBAC34C-0416-46A8-A5F0-C105EEF253B4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Segmentation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403" name="graphics2"/>
          <p:cNvPicPr/>
          <p:nvPr/>
        </p:nvPicPr>
        <p:blipFill>
          <a:blip r:embed="rId1"/>
          <a:srcRect l="0" t="0" r="52436" b="0"/>
          <a:stretch/>
        </p:blipFill>
        <p:spPr>
          <a:xfrm>
            <a:off x="5508000" y="1632600"/>
            <a:ext cx="3369240" cy="3112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sp>
        <p:nvSpPr>
          <p:cNvPr id="1404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16-bit Selectors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Start addresses are ignored in almost all segments,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except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FS and GS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limit check; essentially only the ring number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CS remains relevant (= CPL)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5" name="graphics1"/>
          <p:cNvPicPr/>
          <p:nvPr/>
        </p:nvPicPr>
        <p:blipFill>
          <a:blip r:embed="rId2"/>
          <a:srcRect l="46531" t="0" r="0" b="0"/>
          <a:stretch/>
        </p:blipFill>
        <p:spPr>
          <a:xfrm>
            <a:off x="4140000" y="2620080"/>
            <a:ext cx="1626840" cy="2124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sp>
        <p:nvSpPr>
          <p:cNvPr id="1406" name="PlaceHolder 7"/>
          <p:cNvSpPr/>
          <p:nvPr/>
        </p:nvSpPr>
        <p:spPr>
          <a:xfrm>
            <a:off x="628920" y="4975560"/>
            <a:ext cx="358128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3.3 Address Translation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E70E4ED-93B7-4216-97A5-FC26F7144F19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Paging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8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 is mandatory in Long Mode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basic paging configuration is handled by the CRx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ontrol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egisters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TextBox 3"/>
          <p:cNvSpPr/>
          <p:nvPr/>
        </p:nvSpPr>
        <p:spPr>
          <a:xfrm>
            <a:off x="3307320" y="493632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Schiermeier,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0" name="Picture 4"/>
          <p:cNvPicPr/>
          <p:nvPr/>
        </p:nvPicPr>
        <p:blipFill>
          <a:blip r:embed="rId1"/>
          <a:stretch/>
        </p:blipFill>
        <p:spPr>
          <a:xfrm>
            <a:off x="1691640" y="2775240"/>
            <a:ext cx="5468040" cy="1741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411" name="Straight Arrow Connector 7"/>
          <p:cNvCxnSpPr/>
          <p:nvPr/>
        </p:nvCxnSpPr>
        <p:spPr>
          <a:xfrm flipH="1">
            <a:off x="4716000" y="2596320"/>
            <a:ext cx="218160" cy="268560"/>
          </a:xfrm>
          <a:prstGeom prst="straightConnector1">
            <a:avLst/>
          </a:prstGeom>
          <a:ln w="0">
            <a:solidFill>
              <a:srgbClr val="808080"/>
            </a:solidFill>
            <a:tailEnd len="lg" type="triangle" w="med"/>
          </a:ln>
        </p:spPr>
      </p:cxnSp>
      <p:sp>
        <p:nvSpPr>
          <p:cNvPr id="1412" name="TextBox 9"/>
          <p:cNvSpPr/>
          <p:nvPr/>
        </p:nvSpPr>
        <p:spPr>
          <a:xfrm>
            <a:off x="4390920" y="2274840"/>
            <a:ext cx="14796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Physical Address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PlaceHolder 8"/>
          <p:cNvSpPr/>
          <p:nvPr/>
        </p:nvSpPr>
        <p:spPr>
          <a:xfrm>
            <a:off x="628920" y="4975560"/>
            <a:ext cx="358128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3.3 Address Translation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7047602-D64A-47DE-B91B-2DA481BAD390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TextBox 43"/>
          <p:cNvSpPr/>
          <p:nvPr/>
        </p:nvSpPr>
        <p:spPr>
          <a:xfrm>
            <a:off x="35640" y="4936320"/>
            <a:ext cx="90709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Page Tables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6" name="Inhaltsplatzhalter 7"/>
          <p:cNvSpPr/>
          <p:nvPr/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or five levels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page tables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7" name="Picture 42"/>
          <p:cNvPicPr/>
          <p:nvPr/>
        </p:nvPicPr>
        <p:blipFill>
          <a:blip r:embed="rId1"/>
          <a:stretch/>
        </p:blipFill>
        <p:spPr>
          <a:xfrm>
            <a:off x="2563560" y="1159200"/>
            <a:ext cx="5967000" cy="368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8" name="PlaceHolder 9"/>
          <p:cNvSpPr/>
          <p:nvPr/>
        </p:nvSpPr>
        <p:spPr>
          <a:xfrm>
            <a:off x="628920" y="4975560"/>
            <a:ext cx="358128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3.3 Address Translation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TextBox 11"/>
          <p:cNvSpPr/>
          <p:nvPr/>
        </p:nvSpPr>
        <p:spPr>
          <a:xfrm>
            <a:off x="3307320" y="493668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Schiermeier,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40BAE99-E85E-453C-AA28-C48F3BDFB05F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TLB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1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 Paging slows down memory accesses, since the page tables need to be accessed each time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Translation Lookaside Buffer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(TLB):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Fully associative cache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Tag: consists of page table indices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Data: Page Frame address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Size (80386): 32 entries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With normal applications, the TlB reaches a hit rate of ~98%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Remarks: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Writing the CR3 register invalidates the TLB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Not anymore since Intel Westmere (2010) → TLB Tag has additional 12-bit </a:t>
            </a: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 Context ID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(PCID)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protection/access bits in a page table entry are modifired, the corresponding TLB entry must be deleted (INVLPG instruction)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PlaceHolder 10"/>
          <p:cNvSpPr/>
          <p:nvPr/>
        </p:nvSpPr>
        <p:spPr>
          <a:xfrm>
            <a:off x="628920" y="4975560"/>
            <a:ext cx="358128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3.3 Address Translation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715B367-064E-495B-A737-018E4BF35AE4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4" name="PlaceHolder 2"/>
          <p:cNvSpPr>
            <a:spLocks noGrp="1"/>
          </p:cNvSpPr>
          <p:nvPr>
            <p:ph type="ftr" idx="61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Programming model of the x86_64 processor architecture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History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x86 programming model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Address translation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Tasks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6" name="Rounded Rectangle 1"/>
          <p:cNvSpPr/>
          <p:nvPr/>
        </p:nvSpPr>
        <p:spPr>
          <a:xfrm>
            <a:off x="372960" y="2946240"/>
            <a:ext cx="3260880" cy="4186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6144972-4A0E-4037-A7AC-99B7EBC99688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8" name="PlaceHolder 2"/>
          <p:cNvSpPr>
            <a:spLocks noGrp="1"/>
          </p:cNvSpPr>
          <p:nvPr>
            <p:ph type="ftr" idx="62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3.4 Protection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Goals: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against unauthorized memory accesses and code execution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against kernel crashes or crashes of other processes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Requirements: Coda and Data...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classified in regard to their trustability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this classification is enforce by the operating system, with the help of the process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99AEB61-7EA1-4A73-BE43-1A4A588C2CE1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 Rings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1" name="PlaceHolder 2"/>
          <p:cNvSpPr>
            <a:spLocks noGrp="1"/>
          </p:cNvSpPr>
          <p:nvPr>
            <p:ph type="ftr" idx="63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3.4 Protection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432" name="Group 23"/>
          <p:cNvGrpSpPr/>
          <p:nvPr/>
        </p:nvGrpSpPr>
        <p:grpSpPr>
          <a:xfrm>
            <a:off x="3996360" y="1495080"/>
            <a:ext cx="3165840" cy="3165840"/>
            <a:chOff x="3996360" y="1495080"/>
            <a:chExt cx="3165840" cy="3165840"/>
          </a:xfrm>
        </p:grpSpPr>
        <p:sp>
          <p:nvSpPr>
            <p:cNvPr id="1433" name="Oval 9"/>
            <p:cNvSpPr/>
            <p:nvPr/>
          </p:nvSpPr>
          <p:spPr>
            <a:xfrm>
              <a:off x="3996360" y="1495080"/>
              <a:ext cx="3165840" cy="3165840"/>
            </a:xfrm>
            <a:prstGeom prst="ellipse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4" name="Oval 8"/>
            <p:cNvSpPr/>
            <p:nvPr/>
          </p:nvSpPr>
          <p:spPr>
            <a:xfrm>
              <a:off x="4428360" y="1971720"/>
              <a:ext cx="2302200" cy="225756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5" name="Oval 21"/>
            <p:cNvSpPr/>
            <p:nvPr/>
          </p:nvSpPr>
          <p:spPr>
            <a:xfrm>
              <a:off x="4788360" y="2287080"/>
              <a:ext cx="1581840" cy="158184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6" name="Oval 22"/>
            <p:cNvSpPr/>
            <p:nvPr/>
          </p:nvSpPr>
          <p:spPr>
            <a:xfrm>
              <a:off x="5108400" y="2607120"/>
              <a:ext cx="942480" cy="942480"/>
            </a:xfrm>
            <a:prstGeom prst="ellipse">
              <a:avLst/>
            </a:prstGeom>
            <a:solidFill>
              <a:srgbClr val="E39F9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7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segment descriptor (Code/Data)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has two bits, determining which privilege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level the segment is assigned to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 to four privilege levels possible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practice, only two are used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38" name="Group 31"/>
          <p:cNvGrpSpPr/>
          <p:nvPr/>
        </p:nvGrpSpPr>
        <p:grpSpPr>
          <a:xfrm>
            <a:off x="4081320" y="2971080"/>
            <a:ext cx="1619640" cy="213840"/>
            <a:chOff x="4081320" y="2971080"/>
            <a:chExt cx="1619640" cy="213840"/>
          </a:xfrm>
        </p:grpSpPr>
        <p:sp>
          <p:nvSpPr>
            <p:cNvPr id="1439" name="Oval 26"/>
            <p:cNvSpPr/>
            <p:nvPr/>
          </p:nvSpPr>
          <p:spPr>
            <a:xfrm>
              <a:off x="54871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0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0" name="Oval 27"/>
            <p:cNvSpPr/>
            <p:nvPr/>
          </p:nvSpPr>
          <p:spPr>
            <a:xfrm>
              <a:off x="48553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1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1" name="Oval 28"/>
            <p:cNvSpPr/>
            <p:nvPr/>
          </p:nvSpPr>
          <p:spPr>
            <a:xfrm>
              <a:off x="44791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2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2" name="Oval 29"/>
            <p:cNvSpPr/>
            <p:nvPr/>
          </p:nvSpPr>
          <p:spPr>
            <a:xfrm>
              <a:off x="40813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3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3" name="TextBox 34"/>
          <p:cNvSpPr/>
          <p:nvPr/>
        </p:nvSpPr>
        <p:spPr>
          <a:xfrm>
            <a:off x="5364000" y="3215520"/>
            <a:ext cx="459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TextBox 35"/>
          <p:cNvSpPr/>
          <p:nvPr/>
        </p:nvSpPr>
        <p:spPr>
          <a:xfrm>
            <a:off x="5373360" y="2719440"/>
            <a:ext cx="411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TextBox 36"/>
          <p:cNvSpPr/>
          <p:nvPr/>
        </p:nvSpPr>
        <p:spPr>
          <a:xfrm>
            <a:off x="5364000" y="3591360"/>
            <a:ext cx="459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6" name="TextBox 37"/>
          <p:cNvSpPr/>
          <p:nvPr/>
        </p:nvSpPr>
        <p:spPr>
          <a:xfrm>
            <a:off x="5364000" y="3951360"/>
            <a:ext cx="459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TextBox 38"/>
          <p:cNvSpPr/>
          <p:nvPr/>
        </p:nvSpPr>
        <p:spPr>
          <a:xfrm>
            <a:off x="5364000" y="4311360"/>
            <a:ext cx="459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TextBox 39"/>
          <p:cNvSpPr/>
          <p:nvPr/>
        </p:nvSpPr>
        <p:spPr>
          <a:xfrm>
            <a:off x="5364000" y="2359080"/>
            <a:ext cx="411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TextBox 40"/>
          <p:cNvSpPr/>
          <p:nvPr/>
        </p:nvSpPr>
        <p:spPr>
          <a:xfrm>
            <a:off x="5364000" y="2007000"/>
            <a:ext cx="411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TextBox 41"/>
          <p:cNvSpPr/>
          <p:nvPr/>
        </p:nvSpPr>
        <p:spPr>
          <a:xfrm>
            <a:off x="5364000" y="1638720"/>
            <a:ext cx="41148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D22389A-A8A7-40C1-B899-B95E7FE9D97D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 Rings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2" name="PlaceHolder 2"/>
          <p:cNvSpPr>
            <a:spLocks noGrp="1"/>
          </p:cNvSpPr>
          <p:nvPr>
            <p:ph type="ftr" idx="64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3.4 Protection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453" name="Group 23"/>
          <p:cNvGrpSpPr/>
          <p:nvPr/>
        </p:nvGrpSpPr>
        <p:grpSpPr>
          <a:xfrm>
            <a:off x="3996360" y="1495080"/>
            <a:ext cx="3165840" cy="3165840"/>
            <a:chOff x="3996360" y="1495080"/>
            <a:chExt cx="3165840" cy="3165840"/>
          </a:xfrm>
        </p:grpSpPr>
        <p:sp>
          <p:nvSpPr>
            <p:cNvPr id="1454" name="Oval 9"/>
            <p:cNvSpPr/>
            <p:nvPr/>
          </p:nvSpPr>
          <p:spPr>
            <a:xfrm>
              <a:off x="3996360" y="1495080"/>
              <a:ext cx="3165840" cy="3165840"/>
            </a:xfrm>
            <a:prstGeom prst="ellipse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5" name="Oval 8"/>
            <p:cNvSpPr/>
            <p:nvPr/>
          </p:nvSpPr>
          <p:spPr>
            <a:xfrm>
              <a:off x="4428360" y="1971720"/>
              <a:ext cx="2302200" cy="225756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6" name="Oval 21"/>
            <p:cNvSpPr/>
            <p:nvPr/>
          </p:nvSpPr>
          <p:spPr>
            <a:xfrm>
              <a:off x="4788360" y="2287080"/>
              <a:ext cx="1581840" cy="158184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7" name="Oval 22"/>
            <p:cNvSpPr/>
            <p:nvPr/>
          </p:nvSpPr>
          <p:spPr>
            <a:xfrm>
              <a:off x="5108400" y="2607120"/>
              <a:ext cx="942480" cy="942480"/>
            </a:xfrm>
            <a:prstGeom prst="ellipse">
              <a:avLst/>
            </a:prstGeom>
            <a:solidFill>
              <a:srgbClr val="E39F9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8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Smaller ring numbers grant more privileges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Ring 3 is meant for applications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= User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Ring 0 is meant for the OS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= Kernel/Supervisor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59" name="Group 31"/>
          <p:cNvGrpSpPr/>
          <p:nvPr/>
        </p:nvGrpSpPr>
        <p:grpSpPr>
          <a:xfrm>
            <a:off x="4081320" y="2971080"/>
            <a:ext cx="1619640" cy="213840"/>
            <a:chOff x="4081320" y="2971080"/>
            <a:chExt cx="1619640" cy="213840"/>
          </a:xfrm>
        </p:grpSpPr>
        <p:sp>
          <p:nvSpPr>
            <p:cNvPr id="1460" name="Oval 26"/>
            <p:cNvSpPr/>
            <p:nvPr/>
          </p:nvSpPr>
          <p:spPr>
            <a:xfrm>
              <a:off x="54871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0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1" name="Oval 27"/>
            <p:cNvSpPr/>
            <p:nvPr/>
          </p:nvSpPr>
          <p:spPr>
            <a:xfrm>
              <a:off x="48553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1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2" name="Oval 28"/>
            <p:cNvSpPr/>
            <p:nvPr/>
          </p:nvSpPr>
          <p:spPr>
            <a:xfrm>
              <a:off x="44791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2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3" name="Oval 29"/>
            <p:cNvSpPr/>
            <p:nvPr/>
          </p:nvSpPr>
          <p:spPr>
            <a:xfrm>
              <a:off x="40813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3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4" name="TextBox 1"/>
          <p:cNvSpPr/>
          <p:nvPr/>
        </p:nvSpPr>
        <p:spPr>
          <a:xfrm>
            <a:off x="5186160" y="1695240"/>
            <a:ext cx="835200" cy="205200"/>
          </a:xfrm>
          <a:prstGeom prst="rect">
            <a:avLst/>
          </a:prstGeom>
          <a:solidFill>
            <a:srgbClr val="B3B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Application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TextBox 2"/>
          <p:cNvSpPr/>
          <p:nvPr/>
        </p:nvSpPr>
        <p:spPr>
          <a:xfrm>
            <a:off x="5464800" y="2707200"/>
            <a:ext cx="246600" cy="205200"/>
          </a:xfrm>
          <a:prstGeom prst="rect">
            <a:avLst/>
          </a:prstGeom>
          <a:solidFill>
            <a:srgbClr val="B3B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D543D5A-D5C3-4FC0-B010-461DED150F37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 Rings and Gates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7" name="PlaceHolder 2"/>
          <p:cNvSpPr>
            <a:spLocks noGrp="1"/>
          </p:cNvSpPr>
          <p:nvPr>
            <p:ph type="ftr" idx="65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3.4 Protection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468" name="Group 23"/>
          <p:cNvGrpSpPr/>
          <p:nvPr/>
        </p:nvGrpSpPr>
        <p:grpSpPr>
          <a:xfrm>
            <a:off x="3996360" y="1495080"/>
            <a:ext cx="3165840" cy="3165840"/>
            <a:chOff x="3996360" y="1495080"/>
            <a:chExt cx="3165840" cy="3165840"/>
          </a:xfrm>
        </p:grpSpPr>
        <p:sp>
          <p:nvSpPr>
            <p:cNvPr id="1469" name="Oval 9"/>
            <p:cNvSpPr/>
            <p:nvPr/>
          </p:nvSpPr>
          <p:spPr>
            <a:xfrm>
              <a:off x="3996360" y="1495080"/>
              <a:ext cx="3165840" cy="3165840"/>
            </a:xfrm>
            <a:prstGeom prst="ellipse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0" name="Oval 8"/>
            <p:cNvSpPr/>
            <p:nvPr/>
          </p:nvSpPr>
          <p:spPr>
            <a:xfrm>
              <a:off x="4428360" y="1971720"/>
              <a:ext cx="2302200" cy="225756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1" name="Oval 21"/>
            <p:cNvSpPr/>
            <p:nvPr/>
          </p:nvSpPr>
          <p:spPr>
            <a:xfrm>
              <a:off x="4788360" y="2287080"/>
              <a:ext cx="1581840" cy="158184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2" name="Oval 22"/>
            <p:cNvSpPr/>
            <p:nvPr/>
          </p:nvSpPr>
          <p:spPr>
            <a:xfrm>
              <a:off x="5108400" y="2607120"/>
              <a:ext cx="942480" cy="942480"/>
            </a:xfrm>
            <a:prstGeom prst="ellipse">
              <a:avLst/>
            </a:prstGeom>
            <a:solidFill>
              <a:srgbClr val="E39F9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3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Accessing memory of an inner ring is forbidden and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such accesses are prohibited by the MMU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General Protection Fault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 of an inner ring can only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 </a:t>
            </a: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called via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Gates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Allow direct calls from ring 3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ring 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accesses and calls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outer rings are always allowed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74" name="Group 31"/>
          <p:cNvGrpSpPr/>
          <p:nvPr/>
        </p:nvGrpSpPr>
        <p:grpSpPr>
          <a:xfrm>
            <a:off x="4081320" y="2971080"/>
            <a:ext cx="1619640" cy="213840"/>
            <a:chOff x="4081320" y="2971080"/>
            <a:chExt cx="1619640" cy="213840"/>
          </a:xfrm>
        </p:grpSpPr>
        <p:sp>
          <p:nvSpPr>
            <p:cNvPr id="1475" name="Oval 26"/>
            <p:cNvSpPr/>
            <p:nvPr/>
          </p:nvSpPr>
          <p:spPr>
            <a:xfrm>
              <a:off x="54871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0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6" name="Oval 27"/>
            <p:cNvSpPr/>
            <p:nvPr/>
          </p:nvSpPr>
          <p:spPr>
            <a:xfrm>
              <a:off x="48553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1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7" name="Oval 28"/>
            <p:cNvSpPr/>
            <p:nvPr/>
          </p:nvSpPr>
          <p:spPr>
            <a:xfrm>
              <a:off x="44791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2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8" name="Oval 29"/>
            <p:cNvSpPr/>
            <p:nvPr/>
          </p:nvSpPr>
          <p:spPr>
            <a:xfrm>
              <a:off x="4081320" y="2971080"/>
              <a:ext cx="213840" cy="2138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3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9" name="Circular Arrow 5"/>
          <p:cNvSpPr/>
          <p:nvPr/>
        </p:nvSpPr>
        <p:spPr>
          <a:xfrm rot="8845200">
            <a:off x="5620320" y="2278440"/>
            <a:ext cx="1365840" cy="1149840"/>
          </a:xfrm>
          <a:prstGeom prst="circularArrow">
            <a:avLst>
              <a:gd name="adj1" fmla="val 8530"/>
              <a:gd name="adj2" fmla="val 934561"/>
              <a:gd name="adj3" fmla="val 20796558"/>
              <a:gd name="adj4" fmla="val 11575910"/>
              <a:gd name="adj5" fmla="val 9938"/>
            </a:avLst>
          </a:prstGeom>
          <a:solidFill>
            <a:srgbClr val="00FA00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0" name="Block Arc 3"/>
          <p:cNvSpPr/>
          <p:nvPr/>
        </p:nvSpPr>
        <p:spPr>
          <a:xfrm>
            <a:off x="5815080" y="2771280"/>
            <a:ext cx="1203120" cy="557640"/>
          </a:xfrm>
          <a:prstGeom prst="blockArc">
            <a:avLst>
              <a:gd name="adj1" fmla="val 10768193"/>
              <a:gd name="adj2" fmla="val 21482835"/>
              <a:gd name="adj3" fmla="val 19968"/>
            </a:avLst>
          </a:prstGeom>
          <a:solidFill>
            <a:srgbClr val="B3B5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81" name="Straight Connector 10"/>
          <p:cNvCxnSpPr/>
          <p:nvPr/>
        </p:nvCxnSpPr>
        <p:spPr>
          <a:xfrm flipV="1">
            <a:off x="6444000" y="1476720"/>
            <a:ext cx="362160" cy="137952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1482" name="TextBox 14"/>
          <p:cNvSpPr/>
          <p:nvPr/>
        </p:nvSpPr>
        <p:spPr>
          <a:xfrm>
            <a:off x="6800040" y="1324800"/>
            <a:ext cx="5576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Gate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Right Arrow 15"/>
          <p:cNvSpPr/>
          <p:nvPr/>
        </p:nvSpPr>
        <p:spPr>
          <a:xfrm rot="6903600">
            <a:off x="4748760" y="3717720"/>
            <a:ext cx="1086120" cy="235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A00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B5C1533-8023-4BF6-B5A0-F807371AC884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Segment Descriptors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5" name="PlaceHolder 2"/>
          <p:cNvSpPr>
            <a:spLocks noGrp="1"/>
          </p:cNvSpPr>
          <p:nvPr>
            <p:ph type="ftr" idx="66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3.4 Protection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entries in the Global Descriptor Table (GDT) and allow code protection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(IA-32: additional protection via limit (= end of segment))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 byte per entry (Exception: system segments use 16 byte in x86_64)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7" name="Picture 1"/>
          <p:cNvPicPr/>
          <p:nvPr/>
        </p:nvPicPr>
        <p:blipFill>
          <a:blip r:embed="rId1"/>
          <a:stretch/>
        </p:blipFill>
        <p:spPr>
          <a:xfrm>
            <a:off x="1619640" y="2228760"/>
            <a:ext cx="6546240" cy="264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8" name="TextBox 2"/>
          <p:cNvSpPr/>
          <p:nvPr/>
        </p:nvSpPr>
        <p:spPr>
          <a:xfrm>
            <a:off x="2803320" y="493632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Volkmar Sieh / Daniel Lohmann, University Erlangen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Rectangle 4"/>
          <p:cNvSpPr/>
          <p:nvPr/>
        </p:nvSpPr>
        <p:spPr>
          <a:xfrm>
            <a:off x="7281360" y="4447080"/>
            <a:ext cx="1104840" cy="357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90" name="Rectangular Callout 3"/>
          <p:cNvSpPr/>
          <p:nvPr/>
        </p:nvSpPr>
        <p:spPr>
          <a:xfrm>
            <a:off x="6448680" y="2791080"/>
            <a:ext cx="1793520" cy="1077840"/>
          </a:xfrm>
          <a:prstGeom prst="wedgeRectCallout">
            <a:avLst>
              <a:gd name="adj1" fmla="val -27997"/>
              <a:gd name="adj2" fmla="val 38719"/>
            </a:avLst>
          </a:prstGeom>
          <a:solidFill>
            <a:schemeClr val="bg1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TYPE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Code/Data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Read/Write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Non-/Conforming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Rectangular Callout 5"/>
          <p:cNvSpPr/>
          <p:nvPr/>
        </p:nvSpPr>
        <p:spPr>
          <a:xfrm>
            <a:off x="126000" y="4011120"/>
            <a:ext cx="1347480" cy="754200"/>
          </a:xfrm>
          <a:prstGeom prst="wedgeRectCallout">
            <a:avLst>
              <a:gd name="adj1" fmla="val -27997"/>
              <a:gd name="adj2" fmla="val 38719"/>
            </a:avLst>
          </a:prstGeom>
          <a:solidFill>
            <a:schemeClr val="bg1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 Segments</a:t>
            </a:r>
            <a:br>
              <a:rPr sz="1200"/>
            </a:b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(Call-Gate, Task </a:t>
            </a:r>
            <a:br>
              <a:rPr sz="1200"/>
            </a:b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State Segment)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1654878-2939-49D4-9DCE-C4ED7C619B22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Flat Memory Model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3" name="PlaceHolder 2"/>
          <p:cNvSpPr>
            <a:spLocks noGrp="1"/>
          </p:cNvSpPr>
          <p:nvPr>
            <p:ph type="ftr" idx="67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3.4 Protection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TextBox 2"/>
          <p:cNvSpPr/>
          <p:nvPr/>
        </p:nvSpPr>
        <p:spPr>
          <a:xfrm>
            <a:off x="3523320" y="493632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95" name="Group 8"/>
          <p:cNvGrpSpPr/>
          <p:nvPr/>
        </p:nvGrpSpPr>
        <p:grpSpPr>
          <a:xfrm>
            <a:off x="1403640" y="2286720"/>
            <a:ext cx="6476400" cy="1662840"/>
            <a:chOff x="1403640" y="2286720"/>
            <a:chExt cx="6476400" cy="1662840"/>
          </a:xfrm>
        </p:grpSpPr>
        <p:pic>
          <p:nvPicPr>
            <p:cNvPr id="1496" name="Picture 5"/>
            <p:cNvPicPr/>
            <p:nvPr/>
          </p:nvPicPr>
          <p:blipFill>
            <a:blip r:embed="rId1"/>
            <a:stretch/>
          </p:blipFill>
          <p:spPr>
            <a:xfrm>
              <a:off x="1619640" y="2329920"/>
              <a:ext cx="6260400" cy="161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97" name="Rectangle 7"/>
            <p:cNvSpPr/>
            <p:nvPr/>
          </p:nvSpPr>
          <p:spPr>
            <a:xfrm>
              <a:off x="1403640" y="2286720"/>
              <a:ext cx="4966560" cy="328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8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Most 32-bit PC operating systems have not used segmentation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32-bit effective address = linear address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Long Mode (64 bit) the segment base address is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</a:rPr>
              <a:t>ignored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by the processor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via Paging: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process only sees its own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 address space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 level access control (see next slides)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BFC6C1E-ED52-485E-80BA-4913C55C8984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Page Table Entry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0" name="PlaceHolder 2"/>
          <p:cNvSpPr>
            <a:spLocks noGrp="1"/>
          </p:cNvSpPr>
          <p:nvPr>
            <p:ph type="ftr" idx="68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3.4 Protection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TextBox 2"/>
          <p:cNvSpPr/>
          <p:nvPr/>
        </p:nvSpPr>
        <p:spPr>
          <a:xfrm>
            <a:off x="3523320" y="493632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Flags are settable on all levels of the page table hierarchy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bits: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R/W = Read/Write → Protection agains write accesses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NX = No eXecute → Do not execute code inside data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U/S = User/Supervisor → Access allowed for all or only in ring 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Available = AVL = These bits are free to use by the operating system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3" name="Picture 1"/>
          <p:cNvPicPr/>
          <p:nvPr/>
        </p:nvPicPr>
        <p:blipFill>
          <a:blip r:embed="rId1"/>
          <a:stretch/>
        </p:blipFill>
        <p:spPr>
          <a:xfrm>
            <a:off x="1512720" y="2863080"/>
            <a:ext cx="6116400" cy="128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78DCFEF-F44C-4D9D-B46B-DDA66AD57A2F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x86_64: Summary - Protection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5" name="PlaceHolder 2"/>
          <p:cNvSpPr>
            <a:spLocks noGrp="1"/>
          </p:cNvSpPr>
          <p:nvPr>
            <p:ph type="ftr" idx="69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3.4 Protection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Modern 64-bit operating systems only need the followin GDT entries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 data segment descriptor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Two code segment descriptors (one with DPL = 0 and one with DPL = 3)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is enforced via Paging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bits (NX, U/S, R/W)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 Tables: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Which pages are present/accessible?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2E68E6E-3664-4D03-9014-4EA6414F4B8D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8" name="PlaceHolder 2"/>
          <p:cNvSpPr>
            <a:spLocks noGrp="1"/>
          </p:cNvSpPr>
          <p:nvPr>
            <p:ph type="ftr" idx="70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Programming model of the x86_64 processor architecture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History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x86 programming model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Address translation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Tasks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0" name="Rounded Rectangle 1"/>
          <p:cNvSpPr/>
          <p:nvPr/>
        </p:nvSpPr>
        <p:spPr>
          <a:xfrm>
            <a:off x="372960" y="3522240"/>
            <a:ext cx="3260880" cy="4186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15ACBDB-0D2B-4CB1-B5FE-C6A8058E2333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IA-32: HW Support for Multitasking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2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State of a task is stored in a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Task State Segment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(TSS)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Stores all registers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Stack pointer for each ring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CR3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I/O permission bitmap (see next slides)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Current TSS determined by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Task Register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(TR) of a CPU core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core has its own TR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Task switch with hardware support via a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Task Gate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Not used in most operating systems and instead implemented in software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PlaceHolder 11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3.5 Tasks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3A574D6-0583-4966-BF9A-B4108EC8BA54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Multitasking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5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HW support for task switching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TSS existent, but only stores: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Stack pointer per ring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IST =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Stack Table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I/O permission bitmap (see next slide)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IST allows separate stacks for interrupt handlers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IST number can be specified in entries inside the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Interrupt-Descriptor Table (IDT)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6" name="Picture 2"/>
          <p:cNvPicPr/>
          <p:nvPr/>
        </p:nvPicPr>
        <p:blipFill>
          <a:blip r:embed="rId1"/>
          <a:stretch/>
        </p:blipFill>
        <p:spPr>
          <a:xfrm>
            <a:off x="5652000" y="1278720"/>
            <a:ext cx="3046320" cy="326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7" name="TextBox 8"/>
          <p:cNvSpPr/>
          <p:nvPr/>
        </p:nvSpPr>
        <p:spPr>
          <a:xfrm>
            <a:off x="3523680" y="493668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PlaceHolder 12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3.5 Tasks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C669674-3E0E-4535-9E48-476C39AC865D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I/O Permission Bitmap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0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 protection for I/O-ports (only little relevance nowadays)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I/O privilege level (IOPL) represented by two bits inside the RFLAGS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Port access is granted if CPL ≤ IOPL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Otherwise, the I/O permission bitmap is used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 bit for each port; if a bit is set, access is denied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 protection for memory mapped I/O via page tables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1" name="Picture 1"/>
          <p:cNvPicPr/>
          <p:nvPr/>
        </p:nvPicPr>
        <p:blipFill>
          <a:blip r:embed="rId1"/>
          <a:srcRect l="0" t="0" r="570" b="0"/>
          <a:stretch/>
        </p:blipFill>
        <p:spPr>
          <a:xfrm>
            <a:off x="1504800" y="2910600"/>
            <a:ext cx="6081480" cy="17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2" name="Rectangle 3"/>
          <p:cNvSpPr/>
          <p:nvPr/>
        </p:nvSpPr>
        <p:spPr>
          <a:xfrm>
            <a:off x="7209360" y="4375080"/>
            <a:ext cx="528840" cy="32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23" name="Rectangle 4"/>
          <p:cNvSpPr/>
          <p:nvPr/>
        </p:nvSpPr>
        <p:spPr>
          <a:xfrm>
            <a:off x="1440000" y="4284000"/>
            <a:ext cx="1870200" cy="46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24" name="TextBox 10"/>
          <p:cNvSpPr/>
          <p:nvPr/>
        </p:nvSpPr>
        <p:spPr>
          <a:xfrm>
            <a:off x="3523680" y="4936680"/>
            <a:ext cx="4574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PlaceHolder 13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3.5 Tasks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79BE08D-E0BC-4974-AA69-DEC65B4BD318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7" name="PlaceHolder 2"/>
          <p:cNvSpPr>
            <a:spLocks noGrp="1"/>
          </p:cNvSpPr>
          <p:nvPr>
            <p:ph type="ftr" idx="71"/>
          </p:nvPr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Programming model of the x86_64 processor architecture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4240" cy="370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History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x86 programming model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Address translation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Tasks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9" name="Rounded Rectangle 1"/>
          <p:cNvSpPr/>
          <p:nvPr/>
        </p:nvSpPr>
        <p:spPr>
          <a:xfrm>
            <a:off x="372960" y="4098600"/>
            <a:ext cx="3260880" cy="41868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FC40949-79FB-4416-97C8-CB7C449D3545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1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x86-64 architecture is highly complex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 memory with four or five level paging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 based memory protection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I/O-port access protection per task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Can execute 16-bit code in IA-32 Protected Mode or 32-bit code in Long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Rarely used features were removed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Segmentation (mostly)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Hardware support for task switching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Still backwards compatible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Processor and cores still start up in Real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Rectangle 3"/>
          <p:cNvSpPr/>
          <p:nvPr/>
        </p:nvSpPr>
        <p:spPr>
          <a:xfrm>
            <a:off x="7353360" y="4375080"/>
            <a:ext cx="528840" cy="32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33" name="PlaceHolder 14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3.6 Summary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6FFEC22-2593-42F3-BE09-CB639A1A361C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52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More Features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5" name="Inhaltsplatzhalter 7"/>
          <p:cNvSpPr/>
          <p:nvPr/>
        </p:nvSpPr>
        <p:spPr>
          <a:xfrm>
            <a:off x="521640" y="1206720"/>
            <a:ext cx="8296920" cy="370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Virtualization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 8086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16-bit application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Intel-VT, AMD-V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HW support for VMware, VirtualBox, etc.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Hypervisor runs in ring -1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AVX: Advanced Vector Extensions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TSX: Transactional Synchronozation Extensions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Hybrid Cores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Rectangle 3"/>
          <p:cNvSpPr/>
          <p:nvPr/>
        </p:nvSpPr>
        <p:spPr>
          <a:xfrm>
            <a:off x="7353360" y="4375080"/>
            <a:ext cx="528840" cy="327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37" name="PlaceHolder 15"/>
          <p:cNvSpPr/>
          <p:nvPr/>
        </p:nvSpPr>
        <p:spPr>
          <a:xfrm>
            <a:off x="628560" y="4975560"/>
            <a:ext cx="7127640" cy="14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3.6 Summary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9467E56-6648-4D00-9320-6081168038B9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31443</TotalTime>
  <Application>LibreOffice/26.2.4.2$Linux_X86_64 LibreOffice_project/df4f15f06f7b375c1d16aa35fba92d50b262cd01</Application>
  <AppVersion>15.0000</AppVersion>
  <Words>2065</Words>
  <Paragraphs>464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cp:lastPrinted>2026-07-06T13:14:08Z</cp:lastPrinted>
  <dcterms:modified xsi:type="dcterms:W3CDTF">2026-07-07T15:00:39Z</dcterms:modified>
  <cp:revision>1346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41</vt:i4>
  </property>
  <property fmtid="{D5CDD505-2E9C-101B-9397-08002B2CF9AE}" pid="3" name="PresentationFormat">
    <vt:lpwstr>Custom</vt:lpwstr>
  </property>
  <property fmtid="{D5CDD505-2E9C-101B-9397-08002B2CF9AE}" pid="4" name="Slides">
    <vt:i4>41</vt:i4>
  </property>
</Properties>
</file>