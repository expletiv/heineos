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1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PlaceHolder 4"/>
          <p:cNvSpPr>
            <a:spLocks noGrp="1"/>
          </p:cNvSpPr>
          <p:nvPr>
            <p:ph type="dt" idx="5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5"/>
          <p:cNvSpPr>
            <a:spLocks noGrp="1"/>
          </p:cNvSpPr>
          <p:nvPr>
            <p:ph type="ftr" idx="5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PlaceHolder 6"/>
          <p:cNvSpPr>
            <a:spLocks noGrp="1"/>
          </p:cNvSpPr>
          <p:nvPr>
            <p:ph type="sldNum" idx="5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8A73058-D3F3-4981-BC4C-8DE7BD2B591A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9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2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5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1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4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7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0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3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6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9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5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2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5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8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1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7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0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3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6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6920" cy="3491280"/>
          </a:xfrm>
          <a:custGeom>
            <a:avLst/>
            <a:gdLst>
              <a:gd name="textAreaLeft" fmla="*/ 0 w 3166920"/>
              <a:gd name="textAreaRight" fmla="*/ 3168000 w 3166920"/>
              <a:gd name="textAreaTop" fmla="*/ 0 h 3491280"/>
              <a:gd name="textAreaBottom" fmla="*/ 3492360 h 349128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54360" y="2268000"/>
            <a:ext cx="4399920" cy="106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520" cy="298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8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2360"/>
            <a:ext cx="3166920" cy="3491280"/>
          </a:xfrm>
          <a:custGeom>
            <a:avLst/>
            <a:gdLst>
              <a:gd name="textAreaLeft" fmla="*/ 0 w 3166920"/>
              <a:gd name="textAreaRight" fmla="*/ 3168000 w 3166920"/>
              <a:gd name="textAreaTop" fmla="*/ 0 h 3491280"/>
              <a:gd name="textAreaBottom" fmla="*/ 3492360 h 349128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526680" y="2899440"/>
            <a:ext cx="6398640" cy="53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92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97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8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08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12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18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2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uppieren 25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24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dt" idx="3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/>
          </p:nvPr>
        </p:nvSpPr>
        <p:spPr>
          <a:xfrm>
            <a:off x="526680" y="2331720"/>
            <a:ext cx="6398640" cy="110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130" name="Freihandform: Form 13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ihandform: Form 14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5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6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3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4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41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51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3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55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7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61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5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uppieren 28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67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dt" idx="4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/>
          </p:nvPr>
        </p:nvSpPr>
        <p:spPr>
          <a:xfrm>
            <a:off x="526680" y="2331720"/>
            <a:ext cx="4935600" cy="110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173" name="Freihandform: Form 13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15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18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9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621040" y="1088280"/>
            <a:ext cx="3521880" cy="3825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79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2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3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84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85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1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95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99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205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9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pieren 28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21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dt" idx="5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/>
          </p:nvPr>
        </p:nvSpPr>
        <p:spPr>
          <a:xfrm>
            <a:off x="526680" y="2250360"/>
            <a:ext cx="2829240" cy="118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217" name="Freihandform: Form 13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ihandform: Form 17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ihandform: Form 18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9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3546000" y="1088280"/>
            <a:ext cx="5596920" cy="3825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22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22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22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23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24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24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3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uppieren 30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25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dt" idx="6"/>
          </p:nvPr>
        </p:nvSpPr>
        <p:spPr>
          <a:xfrm>
            <a:off x="656496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/>
          </p:nvPr>
        </p:nvSpPr>
        <p:spPr>
          <a:xfrm>
            <a:off x="526680" y="3818520"/>
            <a:ext cx="5772600" cy="56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261" name="Freihandform: Form 17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ihandform: Form 19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ihandform: Form 20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23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3"/>
          <p:cNvSpPr>
            <a:spLocks noGrp="1"/>
          </p:cNvSpPr>
          <p:nvPr>
            <p:ph type="body"/>
          </p:nvPr>
        </p:nvSpPr>
        <p:spPr>
          <a:xfrm>
            <a:off x="0" y="1422360"/>
            <a:ext cx="6677280" cy="2395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/>
          </p:nvPr>
        </p:nvSpPr>
        <p:spPr>
          <a:xfrm>
            <a:off x="6741000" y="1422360"/>
            <a:ext cx="2401920" cy="2395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26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27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27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28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28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29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8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ftr" idx="7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19FC124-614A-4DE5-89A4-A152D40FFF8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04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07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08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309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310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1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2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6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9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320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2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3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324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5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6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9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330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1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3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4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810DA3E-E9C9-4EDD-B476-65ED1809304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39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2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3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344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345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6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7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8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9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0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1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4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355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6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7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8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359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1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2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4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365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69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6F37C12-1598-4372-990A-18DCCC89093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100000" cy="331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76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79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80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381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382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7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88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1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392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3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4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5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396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7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8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1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402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5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6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1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sldNum" idx="14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7E31553-FB12-4A24-AA27-1AA30B27DCF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41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13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1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41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416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7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8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9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0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2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3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426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8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430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2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436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7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8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9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0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41" name="Gruppieren 49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442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8640" cy="91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46" name="Grafik 11"/>
          <p:cNvSpPr/>
          <p:nvPr/>
        </p:nvSpPr>
        <p:spPr>
          <a:xfrm>
            <a:off x="0" y="0"/>
            <a:ext cx="3731040" cy="4914000"/>
          </a:xfrm>
          <a:custGeom>
            <a:avLst/>
            <a:gdLst>
              <a:gd name="textAreaLeft" fmla="*/ 0 w 3731040"/>
              <a:gd name="textAreaRight" fmla="*/ 3732120 w 3731040"/>
              <a:gd name="textAreaTop" fmla="*/ 0 h 4914000"/>
              <a:gd name="textAreaBottom" fmla="*/ 4915080 h 491400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ftr" idx="15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6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2570EBD-9574-4ABF-BE6A-E3EF9B6FA9B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4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45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451" name="Freihandform: Form 65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2" name="Freihandform: Form 66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3" name="Freihandform: Form 67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4" name="Freihandform: Form 68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5" name="Freihandform: Form 69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6" name="Freihandform: Form 70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57" name="Freihandform: Form 43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8" name="Freihandform: Form 44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Freihandform: Form 45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461" name="Freihandform: Form 63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2" name="Freihandform: Form 64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3" name="Freihandform: Form 47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465" name="Freihandform: Form 61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6" name="Freihandform: Form 62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7" name="Freihandform: Form 53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8" name="Freihandform: Form 54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9" name="Freihandform: Form 55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471" name="Freihandform: Form 57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2" name="Freihandform: Form 58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3" name="Freihandform: Form 59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4" name="Freihandform: Form 60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476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7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79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80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481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482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3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4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88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9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0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91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492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4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95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496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7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8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1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502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3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4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5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06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07" name="Gruppieren 49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50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8640" cy="91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 type="ftr" idx="17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18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428228D-3AE7-457C-8967-AB869FDB6C6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1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51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516" name="Freihandform: Form 65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7" name="Freihandform: Form 66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8" name="Freihandform: Form 67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9" name="Freihandform: Form 68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0" name="Freihandform: Form 69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1" name="Freihandform: Form 70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2" name="Freihandform: Form 43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3" name="Freihandform: Form 44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4" name="Freihandform: Form 45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526" name="Freihandform: Form 63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7" name="Freihandform: Form 64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8" name="Freihandform: Form 47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530" name="Freihandform: Form 61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ihandform: Form 62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2" name="Freihandform: Form 53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3" name="Freihandform: Form 54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4" name="Freihandform: Form 55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536" name="Freihandform: Form 57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7" name="Freihandform: Form 58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8" name="Freihandform: Form 59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9" name="Freihandform: Form 60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54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44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45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546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547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8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2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3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56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557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9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0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561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3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5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6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567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8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71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 type="sldNum" idx="19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F622BE9-6C3E-4CAA-9B8D-67A0E107192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ftr" idx="20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PlaceHolder 4"/>
          <p:cNvSpPr>
            <a:spLocks noGrp="1"/>
          </p:cNvSpPr>
          <p:nvPr>
            <p:ph type="body"/>
          </p:nvPr>
        </p:nvSpPr>
        <p:spPr>
          <a:xfrm>
            <a:off x="5488200" y="1422360"/>
            <a:ext cx="36547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6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532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57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8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8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58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58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59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59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60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08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 type="sldNum" idx="21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B845248-BF6B-49F7-A6A1-C62A5F07A08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61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1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1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61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61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62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63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63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43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2"/>
          <p:cNvSpPr>
            <a:spLocks noGrp="1"/>
          </p:cNvSpPr>
          <p:nvPr>
            <p:ph type="ftr" idx="22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23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258A4A2-DE64-4E70-AB53-A1E34F7DA33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10000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65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53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5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65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656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0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1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2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3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4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666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7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8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670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1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2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4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676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9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80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82" name="PlaceHolder 2"/>
          <p:cNvSpPr>
            <a:spLocks noGrp="1"/>
          </p:cNvSpPr>
          <p:nvPr>
            <p:ph type="ftr" idx="24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sldNum" idx="25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6B1AA36-D70E-4038-928C-B5C092DCB36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560" cy="34232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5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360" cy="34232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687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8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9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90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91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692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693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4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8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9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0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1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2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703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4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5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6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707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8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9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0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1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2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713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4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5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6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17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18" name="Gruppieren 52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719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0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1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2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72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724" name="Freihandform: Form 35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5" name="Freihandform: Form 36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6" name="Freihandform: Form 37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7" name="Freihandform: Form 38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8" name="Freihandform: Form 39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Freihandform: Form 40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0" name="Freihandform: Form 17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1" name="Freihandform: Form 18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2" name="Freihandform: Form 19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734" name="Freihandform: Form 33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ihandform: Form 34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6" name="Freihandform: Form 21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738" name="Freihandform: Form 31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9" name="Freihandform: Form 32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40" name="Freihandform: Form 23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Freihandform: Form 24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Freihandform: Form 25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4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744" name="Freihandform: Form 27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Freihandform: Form 28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Freihandform: Form 29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Freihandform: Form 30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48" name="Grafik 11"/>
          <p:cNvSpPr/>
          <p:nvPr/>
        </p:nvSpPr>
        <p:spPr>
          <a:xfrm>
            <a:off x="0" y="0"/>
            <a:ext cx="3731040" cy="4914000"/>
          </a:xfrm>
          <a:custGeom>
            <a:avLst/>
            <a:gdLst>
              <a:gd name="textAreaLeft" fmla="*/ 0 w 3731040"/>
              <a:gd name="textAreaRight" fmla="*/ 3732120 w 3731040"/>
              <a:gd name="textAreaTop" fmla="*/ 0 h 4914000"/>
              <a:gd name="textAreaBottom" fmla="*/ 4915080 h 491400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1"/>
          <p:cNvSpPr>
            <a:spLocks noGrp="1"/>
          </p:cNvSpPr>
          <p:nvPr>
            <p:ph type="ftr" idx="26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PlaceHolder 2"/>
          <p:cNvSpPr>
            <a:spLocks noGrp="1"/>
          </p:cNvSpPr>
          <p:nvPr>
            <p:ph type="sldNum" idx="27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CA6BFE0-D6F7-4A37-B6C4-4D24A0B585F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PlaceHolder 3"/>
          <p:cNvSpPr>
            <a:spLocks noGrp="1"/>
          </p:cNvSpPr>
          <p:nvPr>
            <p:ph type="title"/>
          </p:nvPr>
        </p:nvSpPr>
        <p:spPr>
          <a:xfrm>
            <a:off x="4464000" y="330840"/>
            <a:ext cx="288828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752" name="Gerader Verbinder 45"/>
          <p:cNvCxnSpPr/>
          <p:nvPr/>
        </p:nvCxnSpPr>
        <p:spPr>
          <a:xfrm>
            <a:off x="4464000" y="974520"/>
            <a:ext cx="289044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753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788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4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728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5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756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7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59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60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761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762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3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8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9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1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772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3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4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5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776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7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8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9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1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782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3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6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2"/>
          <p:cNvSpPr>
            <a:spLocks noGrp="1"/>
          </p:cNvSpPr>
          <p:nvPr>
            <p:ph type="ftr" idx="28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PlaceHolder 3"/>
          <p:cNvSpPr>
            <a:spLocks noGrp="1"/>
          </p:cNvSpPr>
          <p:nvPr>
            <p:ph type="sldNum" idx="29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AA04449-7031-4FC4-A343-EA91CF7FE83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5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1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588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2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164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93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164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79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9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9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80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801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6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7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9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811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2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3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815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6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7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8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821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4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25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27" name="PlaceHolder 2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2518178-34C0-4989-B942-B319FCEA0FB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809928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30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1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832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4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35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36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837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838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9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0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1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2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3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4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5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6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7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848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9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0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1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852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4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5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6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7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858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0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62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64" name="PlaceHolder 2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8AE895F-A1CC-4740-8B29-B919A3E3EE5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PlaceHolder 3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8984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7" name="PlaceHolder 5"/>
          <p:cNvSpPr>
            <a:spLocks noGrp="1"/>
          </p:cNvSpPr>
          <p:nvPr>
            <p:ph type="body"/>
          </p:nvPr>
        </p:nvSpPr>
        <p:spPr>
          <a:xfrm>
            <a:off x="522360" y="1422360"/>
            <a:ext cx="530928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68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9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87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73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7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87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876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7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8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9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0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1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2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4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886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7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8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890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1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2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896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9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00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02" name="PlaceHolder 2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87B3AEF-90C3-4629-A9C8-F0F4973AE16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PlaceHolder 3"/>
          <p:cNvSpPr>
            <a:spLocks noGrp="1"/>
          </p:cNvSpPr>
          <p:nvPr>
            <p:ph type="ftr" idx="35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8984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5" name="PlaceHolder 5"/>
          <p:cNvSpPr>
            <a:spLocks noGrp="1"/>
          </p:cNvSpPr>
          <p:nvPr>
            <p:ph type="body"/>
          </p:nvPr>
        </p:nvSpPr>
        <p:spPr>
          <a:xfrm>
            <a:off x="3311640" y="1422360"/>
            <a:ext cx="530928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0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90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1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1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91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1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92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92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93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38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40" name="PlaceHolder 2"/>
          <p:cNvSpPr>
            <a:spLocks noGrp="1"/>
          </p:cNvSpPr>
          <p:nvPr>
            <p:ph type="ftr" idx="36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PlaceHolder 3"/>
          <p:cNvSpPr>
            <a:spLocks noGrp="1"/>
          </p:cNvSpPr>
          <p:nvPr>
            <p:ph type="sldNum" idx="37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441869D-BB55-460F-A7F4-618F6FFD1FB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560" cy="163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3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0560" cy="163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4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40560" cy="163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5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2360" cy="163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6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947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8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9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0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51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952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53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4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6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8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9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0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1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2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963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4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5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6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967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8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9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0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1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72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973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5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6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77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79" name="PlaceHolder 2"/>
          <p:cNvSpPr>
            <a:spLocks noGrp="1"/>
          </p:cNvSpPr>
          <p:nvPr>
            <p:ph type="ftr" idx="38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PlaceHolder 3"/>
          <p:cNvSpPr>
            <a:spLocks noGrp="1"/>
          </p:cNvSpPr>
          <p:nvPr>
            <p:ph type="sldNum" idx="39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9D3EA5B-2434-41AC-86EE-2ED3B0AA351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5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2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3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4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98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8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8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99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91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2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3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5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6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7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001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2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3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005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6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7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8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9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1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011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2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3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4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15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17" name="PlaceHolder 2"/>
          <p:cNvSpPr>
            <a:spLocks noGrp="1"/>
          </p:cNvSpPr>
          <p:nvPr>
            <p:ph type="ftr" idx="40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PlaceHolder 3"/>
          <p:cNvSpPr>
            <a:spLocks noGrp="1"/>
          </p:cNvSpPr>
          <p:nvPr>
            <p:ph type="sldNum" idx="41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93E92F1-A075-48D3-A47A-D92D9A78A86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451728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20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33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1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36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02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2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2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02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02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03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04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04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53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55" name="PlaceHolder 2"/>
          <p:cNvSpPr>
            <a:spLocks noGrp="1"/>
          </p:cNvSpPr>
          <p:nvPr>
            <p:ph type="ftr" idx="42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PlaceHolder 3"/>
          <p:cNvSpPr>
            <a:spLocks noGrp="1"/>
          </p:cNvSpPr>
          <p:nvPr>
            <p:ph type="sldNum" idx="43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308CB37-88FB-44A4-BFF2-D56DC18BDEF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224100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58" name="PlaceHolder 5"/>
          <p:cNvSpPr>
            <a:spLocks noGrp="1"/>
          </p:cNvSpPr>
          <p:nvPr>
            <p:ph type="body"/>
          </p:nvPr>
        </p:nvSpPr>
        <p:spPr>
          <a:xfrm>
            <a:off x="6921000" y="1422360"/>
            <a:ext cx="22219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59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33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0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36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1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062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3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65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66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067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068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9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0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1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2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3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4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5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6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7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078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9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0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1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082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4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5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7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088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9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0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1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92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93" name="Gruppieren 53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094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5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6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7" name="PlaceHolder 1"/>
          <p:cNvSpPr>
            <a:spLocks noGrp="1"/>
          </p:cNvSpPr>
          <p:nvPr>
            <p:ph type="ftr" idx="44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PlaceHolder 2"/>
          <p:cNvSpPr>
            <a:spLocks noGrp="1"/>
          </p:cNvSpPr>
          <p:nvPr>
            <p:ph type="sldNum" idx="45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BB9D468-D55E-45A0-9169-84FF7406278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664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1100" name="Gerader Verbinder 46"/>
          <p:cNvCxnSpPr/>
          <p:nvPr/>
        </p:nvCxnSpPr>
        <p:spPr>
          <a:xfrm>
            <a:off x="4625640" y="974520"/>
            <a:ext cx="272880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1101" name="PlaceHolder 4"/>
          <p:cNvSpPr>
            <a:spLocks noGrp="1"/>
          </p:cNvSpPr>
          <p:nvPr>
            <p:ph type="body"/>
          </p:nvPr>
        </p:nvSpPr>
        <p:spPr>
          <a:xfrm>
            <a:off x="-6120" y="0"/>
            <a:ext cx="4276080" cy="4914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02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6720" cy="3486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3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6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0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10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106" name="Freihandform: Form 68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7" name="Freihandform: Form 69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8" name="Freihandform: Form 70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9" name="Freihandform: Form 71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0" name="Freihandform: Form 72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1" name="Freihandform: Form 73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12" name="Freihandform: Form 45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3" name="Freihandform: Form 4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" name="Freihandform: Form 4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116" name="Freihandform: Form 66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7" name="Freihandform: Form 67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18" name="Freihandform: Form 50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120" name="Freihandform: Form 6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1" name="Freihandform: Form 6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2" name="Freihandform: Form 52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3" name="Freihandform: Form 5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" name="Freihandform: Form 5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126" name="Freihandform: Form 6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7" name="Freihandform: Form 6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8" name="Freihandform: Form 6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9" name="Freihandform: Form 6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0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13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34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35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136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137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8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9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0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1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2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3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4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5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6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147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8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9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0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151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2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53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4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5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6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157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8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9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0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61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62" name="Gruppieren 54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16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66" name="PlaceHolder 1"/>
          <p:cNvSpPr>
            <a:spLocks noGrp="1"/>
          </p:cNvSpPr>
          <p:nvPr>
            <p:ph type="ftr" idx="46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PlaceHolder 2"/>
          <p:cNvSpPr>
            <a:spLocks noGrp="1"/>
          </p:cNvSpPr>
          <p:nvPr>
            <p:ph type="sldNum" idx="47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D017895-9D04-4BC0-BCED-5F03C4BD653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664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1169" name="Gerader Verbinder 47"/>
          <p:cNvCxnSpPr/>
          <p:nvPr/>
        </p:nvCxnSpPr>
        <p:spPr>
          <a:xfrm>
            <a:off x="4625640" y="974520"/>
            <a:ext cx="272880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1170" name="PlaceHolder 4"/>
          <p:cNvSpPr>
            <a:spLocks noGrp="1"/>
          </p:cNvSpPr>
          <p:nvPr>
            <p:ph type="body"/>
          </p:nvPr>
        </p:nvSpPr>
        <p:spPr>
          <a:xfrm>
            <a:off x="0" y="0"/>
            <a:ext cx="4275000" cy="2430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71" name="PlaceHolder 5"/>
          <p:cNvSpPr>
            <a:spLocks noGrp="1"/>
          </p:cNvSpPr>
          <p:nvPr>
            <p:ph type="body"/>
          </p:nvPr>
        </p:nvSpPr>
        <p:spPr>
          <a:xfrm>
            <a:off x="0" y="2493720"/>
            <a:ext cx="4275000" cy="2419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72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9240" cy="3486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73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924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7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17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176" name="Freihandform: Form 69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7" name="Freihandform: Form 70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8" name="Freihandform: Form 71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9" name="Freihandform: Form 72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0" name="Freihandform: Form 73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1" name="Freihandform: Form 74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2" name="Freihandform: Form 45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3" name="Freihandform: Form 46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4" name="Freihandform: Form 49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186" name="Freihandform: Form 67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7" name="Freihandform: Form 68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8" name="Freihandform: Form 51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190" name="Freihandform: Form 65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Freihandform: Form 66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92" name="Freihandform: Form 53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3" name="Freihandform: Form 58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4" name="Freihandform: Form 59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9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196" name="Freihandform: Form 61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7" name="Freihandform: Form 62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8" name="Freihandform: Form 63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9" name="Freihandform: Form 64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20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04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05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206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207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8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9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3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16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217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9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0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221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2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3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4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5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6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227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8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9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0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1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3" name="PlaceHolder 2"/>
          <p:cNvSpPr>
            <a:spLocks noGrp="1"/>
          </p:cNvSpPr>
          <p:nvPr>
            <p:ph type="ftr" idx="48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PlaceHolder 3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AB42257-9423-43AA-9628-97DD9F527C3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454356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6" name="PlaceHolder 5"/>
          <p:cNvSpPr>
            <a:spLocks noGrp="1"/>
          </p:cNvSpPr>
          <p:nvPr>
            <p:ph type="body"/>
          </p:nvPr>
        </p:nvSpPr>
        <p:spPr>
          <a:xfrm>
            <a:off x="4599360" y="1422360"/>
            <a:ext cx="454356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7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8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239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0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1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2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43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244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245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6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7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8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9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1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2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3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4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255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7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8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259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1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3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4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265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8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69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1" name="PlaceHolder 2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PlaceHolder 3"/>
          <p:cNvSpPr>
            <a:spLocks noGrp="1"/>
          </p:cNvSpPr>
          <p:nvPr>
            <p:ph type="sldNum" idx="51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CDA4B1B-AC78-4AC7-A9AC-4293BD33ECC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29779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5"/>
          <p:cNvSpPr>
            <a:spLocks noGrp="1"/>
          </p:cNvSpPr>
          <p:nvPr>
            <p:ph type="body"/>
          </p:nvPr>
        </p:nvSpPr>
        <p:spPr>
          <a:xfrm>
            <a:off x="3032640" y="1422360"/>
            <a:ext cx="307800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6"/>
          <p:cNvSpPr>
            <a:spLocks noGrp="1"/>
          </p:cNvSpPr>
          <p:nvPr>
            <p:ph type="body"/>
          </p:nvPr>
        </p:nvSpPr>
        <p:spPr>
          <a:xfrm>
            <a:off x="6165000" y="1422360"/>
            <a:ext cx="29779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6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27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28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28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29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29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30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8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0" name="PlaceHolder 2"/>
          <p:cNvSpPr>
            <a:spLocks noGrp="1"/>
          </p:cNvSpPr>
          <p:nvPr>
            <p:ph type="ftr" idx="52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 type="sldNum" idx="53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8FE06BD-3303-47B0-B6EF-343640CDF1D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91429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PlaceHolder 1"/>
          <p:cNvSpPr>
            <a:spLocks noGrp="1"/>
          </p:cNvSpPr>
          <p:nvPr>
            <p:ph type="title"/>
          </p:nvPr>
        </p:nvSpPr>
        <p:spPr>
          <a:xfrm>
            <a:off x="3654360" y="2286720"/>
            <a:ext cx="4948920" cy="106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Isolation and Protection in Operating Systems</a:t>
            </a:r>
            <a:br>
              <a:rPr sz="3600"/>
            </a:br>
            <a:br>
              <a:rPr sz="3600"/>
            </a:b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1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399920" cy="6037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x86-64: 64-Bit CPU Architecture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3" name="Inhaltsplatzhalter 7"/>
          <p:cNvSpPr/>
          <p:nvPr/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x86-64: Original name of AMD’s 64-bit extension to x86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Sometimes abbreviated as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x64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Later replaced by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AMD64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Intel licensed x86-64 from AMD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Intel 64 is Intel’s own label (for the same architecture)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Minimal differences in instruction set compared to AMD64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Completely different than the own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IA-64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(Itanium) architechture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Fußzeilenplatzhalter 2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6F22679-B760-45BE-9925-EC437A12736B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x86-64: 64-Bit CPU Architecture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6" name="Inhaltsplatzhalter 7"/>
          <p:cNvSpPr/>
          <p:nvPr/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CPU has 16 general purpose registers (all 64 bit wide)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Paging must be enabled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Segmentation strongly restricted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Fußzeilenplatzhalter 1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5821BB9-6C02-4FB4-B043-404291295A02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x86-64: CPU modes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9" name="Inhaltsplatzhalter 7"/>
          <p:cNvSpPr/>
          <p:nvPr/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Real Mode = 16 bit addressing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Protected Mode = 32 bit addressing (also called IA-32)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Long Mode = 64 Bit addressing (also called IA-32e)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meaning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extension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Used in the Intel manuals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To differentiate against IA-64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(Compatibility Mode)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Supporting Protected Mode applications in Long Mode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Fußzeilenplatzhalter 3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122E862-6B06-4B69-9722-33B3A08B8E5A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TextBox 3"/>
          <p:cNvSpPr/>
          <p:nvPr/>
        </p:nvSpPr>
        <p:spPr>
          <a:xfrm>
            <a:off x="0" y="4936320"/>
            <a:ext cx="91429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x86-64</a:t>
            </a: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: Registers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33" name="Picture 4"/>
          <p:cNvPicPr/>
          <p:nvPr/>
        </p:nvPicPr>
        <p:blipFill>
          <a:blip r:embed="rId1"/>
          <a:srcRect l="1031" t="0" r="0" b="588"/>
          <a:stretch/>
        </p:blipFill>
        <p:spPr>
          <a:xfrm>
            <a:off x="1115640" y="1154880"/>
            <a:ext cx="6909480" cy="350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4" name="Rectangle 1"/>
          <p:cNvSpPr/>
          <p:nvPr/>
        </p:nvSpPr>
        <p:spPr>
          <a:xfrm>
            <a:off x="6228360" y="4015080"/>
            <a:ext cx="2015280" cy="790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35" name="Fußzeilenplatzhalter 4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AA12875-4572-4159-A25E-57FD3F2FDDF4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TextBox 3"/>
          <p:cNvSpPr/>
          <p:nvPr/>
        </p:nvSpPr>
        <p:spPr>
          <a:xfrm>
            <a:off x="35640" y="4936320"/>
            <a:ext cx="9072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x86-64</a:t>
            </a: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: Registers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38" name="Picture 4"/>
          <p:cNvPicPr/>
          <p:nvPr/>
        </p:nvPicPr>
        <p:blipFill>
          <a:blip r:embed="rId1"/>
          <a:srcRect l="0" t="1861" r="0" b="0"/>
          <a:stretch/>
        </p:blipFill>
        <p:spPr>
          <a:xfrm>
            <a:off x="1328400" y="1134720"/>
            <a:ext cx="6825600" cy="375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9" name="Fußzeilenplatzhalter 5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0B2BBDA-DA1F-434B-B0A5-A738BF556104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32-Bit Segmentation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1" name="Inhaltsplatzhalter 7"/>
          <p:cNvSpPr/>
          <p:nvPr/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segment has a start address and a length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 registers store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 selectors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= Index into the GDT/LDT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LDT was rarely used by operating systems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program (in execution) consists of multiple memory segments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At least CODE, DATA and STACK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Linear address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segment start address + effective address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Effective address = Value in a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general purpose register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Fußzeilenplatzhalter 6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12CF497-63F2-46D3-8CB3-3E857A9B206D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Segmentation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44" name="graphics2"/>
          <p:cNvPicPr/>
          <p:nvPr/>
        </p:nvPicPr>
        <p:blipFill>
          <a:blip r:embed="rId1"/>
          <a:srcRect l="0" t="0" r="52436" b="0"/>
          <a:stretch/>
        </p:blipFill>
        <p:spPr>
          <a:xfrm>
            <a:off x="5508000" y="1632600"/>
            <a:ext cx="3370320" cy="3113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sp>
        <p:nvSpPr>
          <p:cNvPr id="1345" name="Inhaltsplatzhalter 7"/>
          <p:cNvSpPr/>
          <p:nvPr/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16-bit Selectors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Start addresses are ignored in almost all segments,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except FS and GS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limit check; essentially only the ring number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CS remains relevant (= CPL)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6" name="graphics1"/>
          <p:cNvPicPr/>
          <p:nvPr/>
        </p:nvPicPr>
        <p:blipFill>
          <a:blip r:embed="rId2"/>
          <a:srcRect l="46531" t="0" r="0" b="0"/>
          <a:stretch/>
        </p:blipFill>
        <p:spPr>
          <a:xfrm>
            <a:off x="3996000" y="2802960"/>
            <a:ext cx="1551960" cy="2026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sp>
        <p:nvSpPr>
          <p:cNvPr id="1347" name="Fußzeilenplatzhalter 7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6E4A194-5734-4103-8E9B-AC13947F063D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9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Goals: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Protection against unauthorized memory accesses and code execution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Protection against kernel crashes or crashes of other processes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Requirements: Coda and Data...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are classified in regard to their trustability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 this classification is enforce by the operating system, with the help of the process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0" name="Fußzeilenplatzhalter 9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90E2519-534F-4BF6-BBBE-F7010DF4C4E8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 Rings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352" name="Group 23"/>
          <p:cNvGrpSpPr/>
          <p:nvPr/>
        </p:nvGrpSpPr>
        <p:grpSpPr>
          <a:xfrm>
            <a:off x="3996360" y="1495080"/>
            <a:ext cx="3166920" cy="3166920"/>
            <a:chOff x="3996360" y="1495080"/>
            <a:chExt cx="3166920" cy="3166920"/>
          </a:xfrm>
        </p:grpSpPr>
        <p:sp>
          <p:nvSpPr>
            <p:cNvPr id="1353" name="Oval 9"/>
            <p:cNvSpPr/>
            <p:nvPr/>
          </p:nvSpPr>
          <p:spPr>
            <a:xfrm>
              <a:off x="3996360" y="1495080"/>
              <a:ext cx="3166920" cy="3166920"/>
            </a:xfrm>
            <a:prstGeom prst="ellipse">
              <a:avLst/>
            </a:prstGeom>
            <a:solidFill>
              <a:srgbClr val="FFFFB3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Oval 8"/>
            <p:cNvSpPr/>
            <p:nvPr/>
          </p:nvSpPr>
          <p:spPr>
            <a:xfrm>
              <a:off x="4428360" y="1971720"/>
              <a:ext cx="2303280" cy="225864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5" name="Oval 21"/>
            <p:cNvSpPr/>
            <p:nvPr/>
          </p:nvSpPr>
          <p:spPr>
            <a:xfrm>
              <a:off x="4788360" y="2287080"/>
              <a:ext cx="1582920" cy="158292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6" name="Oval 22"/>
            <p:cNvSpPr/>
            <p:nvPr/>
          </p:nvSpPr>
          <p:spPr>
            <a:xfrm>
              <a:off x="5108400" y="2607120"/>
              <a:ext cx="943560" cy="943560"/>
            </a:xfrm>
            <a:prstGeom prst="ellipse">
              <a:avLst/>
            </a:prstGeom>
            <a:solidFill>
              <a:srgbClr val="E39F9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57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segment descriptor (Code/Data)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has two bits, determining which privilege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level the segment is assigned to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 to four privilege levels possible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practice, only two are used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58" name="Group 31"/>
          <p:cNvGrpSpPr/>
          <p:nvPr/>
        </p:nvGrpSpPr>
        <p:grpSpPr>
          <a:xfrm>
            <a:off x="4081320" y="2971080"/>
            <a:ext cx="1620720" cy="214920"/>
            <a:chOff x="4081320" y="2971080"/>
            <a:chExt cx="1620720" cy="214920"/>
          </a:xfrm>
        </p:grpSpPr>
        <p:sp>
          <p:nvSpPr>
            <p:cNvPr id="1359" name="Oval 26"/>
            <p:cNvSpPr/>
            <p:nvPr/>
          </p:nvSpPr>
          <p:spPr>
            <a:xfrm>
              <a:off x="54871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0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0" name="Oval 27"/>
            <p:cNvSpPr/>
            <p:nvPr/>
          </p:nvSpPr>
          <p:spPr>
            <a:xfrm>
              <a:off x="48553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1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1" name="Oval 28"/>
            <p:cNvSpPr/>
            <p:nvPr/>
          </p:nvSpPr>
          <p:spPr>
            <a:xfrm>
              <a:off x="44791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2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2" name="Oval 29"/>
            <p:cNvSpPr/>
            <p:nvPr/>
          </p:nvSpPr>
          <p:spPr>
            <a:xfrm>
              <a:off x="40813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3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63" name="TextBox 34"/>
          <p:cNvSpPr/>
          <p:nvPr/>
        </p:nvSpPr>
        <p:spPr>
          <a:xfrm>
            <a:off x="5364000" y="3215520"/>
            <a:ext cx="4604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Daten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4" name="TextBox 35"/>
          <p:cNvSpPr/>
          <p:nvPr/>
        </p:nvSpPr>
        <p:spPr>
          <a:xfrm>
            <a:off x="5373360" y="2719440"/>
            <a:ext cx="4125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5" name="TextBox 36"/>
          <p:cNvSpPr/>
          <p:nvPr/>
        </p:nvSpPr>
        <p:spPr>
          <a:xfrm>
            <a:off x="5364000" y="3591360"/>
            <a:ext cx="4604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Daten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TextBox 37"/>
          <p:cNvSpPr/>
          <p:nvPr/>
        </p:nvSpPr>
        <p:spPr>
          <a:xfrm>
            <a:off x="5364000" y="3951360"/>
            <a:ext cx="4604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Daten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7" name="TextBox 38"/>
          <p:cNvSpPr/>
          <p:nvPr/>
        </p:nvSpPr>
        <p:spPr>
          <a:xfrm>
            <a:off x="5364000" y="4311360"/>
            <a:ext cx="4604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Daten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8" name="TextBox 39"/>
          <p:cNvSpPr/>
          <p:nvPr/>
        </p:nvSpPr>
        <p:spPr>
          <a:xfrm>
            <a:off x="5364000" y="2359080"/>
            <a:ext cx="4125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TextBox 40"/>
          <p:cNvSpPr/>
          <p:nvPr/>
        </p:nvSpPr>
        <p:spPr>
          <a:xfrm>
            <a:off x="5364000" y="2007000"/>
            <a:ext cx="4125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0" name="TextBox 41"/>
          <p:cNvSpPr/>
          <p:nvPr/>
        </p:nvSpPr>
        <p:spPr>
          <a:xfrm>
            <a:off x="5364000" y="1638720"/>
            <a:ext cx="4125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1" name="Fußzeilenplatzhalter 10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9FC03D0-A35C-4B28-A41D-B58FDF3CFCD3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 Rings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373" name="Group 23"/>
          <p:cNvGrpSpPr/>
          <p:nvPr/>
        </p:nvGrpSpPr>
        <p:grpSpPr>
          <a:xfrm>
            <a:off x="3996360" y="1495080"/>
            <a:ext cx="3166920" cy="3166920"/>
            <a:chOff x="3996360" y="1495080"/>
            <a:chExt cx="3166920" cy="3166920"/>
          </a:xfrm>
        </p:grpSpPr>
        <p:sp>
          <p:nvSpPr>
            <p:cNvPr id="1374" name="Oval 9"/>
            <p:cNvSpPr/>
            <p:nvPr/>
          </p:nvSpPr>
          <p:spPr>
            <a:xfrm>
              <a:off x="3996360" y="1495080"/>
              <a:ext cx="3166920" cy="3166920"/>
            </a:xfrm>
            <a:prstGeom prst="ellipse">
              <a:avLst/>
            </a:prstGeom>
            <a:solidFill>
              <a:srgbClr val="FFFFB3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5" name="Oval 8"/>
            <p:cNvSpPr/>
            <p:nvPr/>
          </p:nvSpPr>
          <p:spPr>
            <a:xfrm>
              <a:off x="4428360" y="1971720"/>
              <a:ext cx="2303280" cy="225864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6" name="Oval 21"/>
            <p:cNvSpPr/>
            <p:nvPr/>
          </p:nvSpPr>
          <p:spPr>
            <a:xfrm>
              <a:off x="4788360" y="2287080"/>
              <a:ext cx="1582920" cy="158292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7" name="Oval 22"/>
            <p:cNvSpPr/>
            <p:nvPr/>
          </p:nvSpPr>
          <p:spPr>
            <a:xfrm>
              <a:off x="5108400" y="2607120"/>
              <a:ext cx="943560" cy="943560"/>
            </a:xfrm>
            <a:prstGeom prst="ellipse">
              <a:avLst/>
            </a:prstGeom>
            <a:solidFill>
              <a:srgbClr val="E39F9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78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Smaller ring numbers grant more privileges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Ring 3 is meant for applications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= User Mode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Ring 0 is meant for the OS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= Kernel/Supervisor Mode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79" name="Group 31"/>
          <p:cNvGrpSpPr/>
          <p:nvPr/>
        </p:nvGrpSpPr>
        <p:grpSpPr>
          <a:xfrm>
            <a:off x="4081320" y="2971080"/>
            <a:ext cx="1620720" cy="214920"/>
            <a:chOff x="4081320" y="2971080"/>
            <a:chExt cx="1620720" cy="214920"/>
          </a:xfrm>
        </p:grpSpPr>
        <p:sp>
          <p:nvSpPr>
            <p:cNvPr id="1380" name="Oval 26"/>
            <p:cNvSpPr/>
            <p:nvPr/>
          </p:nvSpPr>
          <p:spPr>
            <a:xfrm>
              <a:off x="54871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0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1" name="Oval 27"/>
            <p:cNvSpPr/>
            <p:nvPr/>
          </p:nvSpPr>
          <p:spPr>
            <a:xfrm>
              <a:off x="48553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1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2" name="Oval 28"/>
            <p:cNvSpPr/>
            <p:nvPr/>
          </p:nvSpPr>
          <p:spPr>
            <a:xfrm>
              <a:off x="44791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2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3" name="Oval 29"/>
            <p:cNvSpPr/>
            <p:nvPr/>
          </p:nvSpPr>
          <p:spPr>
            <a:xfrm>
              <a:off x="40813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3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84" name="TextBox 2"/>
          <p:cNvSpPr/>
          <p:nvPr/>
        </p:nvSpPr>
        <p:spPr>
          <a:xfrm>
            <a:off x="5464800" y="2707200"/>
            <a:ext cx="246600" cy="205560"/>
          </a:xfrm>
          <a:prstGeom prst="rect">
            <a:avLst/>
          </a:prstGeom>
          <a:solidFill>
            <a:srgbClr val="B3B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TextBox 4"/>
          <p:cNvSpPr/>
          <p:nvPr/>
        </p:nvSpPr>
        <p:spPr>
          <a:xfrm>
            <a:off x="5186160" y="1695240"/>
            <a:ext cx="835200" cy="205200"/>
          </a:xfrm>
          <a:prstGeom prst="rect">
            <a:avLst/>
          </a:prstGeom>
          <a:solidFill>
            <a:srgbClr val="B3B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Application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Fußzeilenplatzhalter 11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26C4C82-8508-4BC9-8925-94FCC052D72C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 Rings and Gates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388" name="Group 23"/>
          <p:cNvGrpSpPr/>
          <p:nvPr/>
        </p:nvGrpSpPr>
        <p:grpSpPr>
          <a:xfrm>
            <a:off x="3996360" y="1495080"/>
            <a:ext cx="3166920" cy="3166920"/>
            <a:chOff x="3996360" y="1495080"/>
            <a:chExt cx="3166920" cy="3166920"/>
          </a:xfrm>
        </p:grpSpPr>
        <p:sp>
          <p:nvSpPr>
            <p:cNvPr id="1389" name="Oval 9"/>
            <p:cNvSpPr/>
            <p:nvPr/>
          </p:nvSpPr>
          <p:spPr>
            <a:xfrm>
              <a:off x="3996360" y="1495080"/>
              <a:ext cx="3166920" cy="3166920"/>
            </a:xfrm>
            <a:prstGeom prst="ellipse">
              <a:avLst/>
            </a:prstGeom>
            <a:solidFill>
              <a:srgbClr val="FFFFB3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0" name="Oval 8"/>
            <p:cNvSpPr/>
            <p:nvPr/>
          </p:nvSpPr>
          <p:spPr>
            <a:xfrm>
              <a:off x="4428360" y="1971720"/>
              <a:ext cx="2303280" cy="225864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1" name="Oval 21"/>
            <p:cNvSpPr/>
            <p:nvPr/>
          </p:nvSpPr>
          <p:spPr>
            <a:xfrm>
              <a:off x="4788360" y="2287080"/>
              <a:ext cx="1582920" cy="158292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2" name="Oval 22"/>
            <p:cNvSpPr/>
            <p:nvPr/>
          </p:nvSpPr>
          <p:spPr>
            <a:xfrm>
              <a:off x="5108400" y="2607120"/>
              <a:ext cx="943560" cy="943560"/>
            </a:xfrm>
            <a:prstGeom prst="ellipse">
              <a:avLst/>
            </a:prstGeom>
            <a:solidFill>
              <a:srgbClr val="E39F9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93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Accessing memory of an inner ring is forbidden and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such accesses are prohibited by the MMU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General Protection Fault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 of an inner ring can only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 </a:t>
            </a: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called via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Gates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Allow direct calls from ring 3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ring 0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 accesses and calls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outer rings are always allowed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94" name="Group 31"/>
          <p:cNvGrpSpPr/>
          <p:nvPr/>
        </p:nvGrpSpPr>
        <p:grpSpPr>
          <a:xfrm>
            <a:off x="4081320" y="2971080"/>
            <a:ext cx="1620720" cy="214920"/>
            <a:chOff x="4081320" y="2971080"/>
            <a:chExt cx="1620720" cy="214920"/>
          </a:xfrm>
        </p:grpSpPr>
        <p:sp>
          <p:nvSpPr>
            <p:cNvPr id="1395" name="Oval 26"/>
            <p:cNvSpPr/>
            <p:nvPr/>
          </p:nvSpPr>
          <p:spPr>
            <a:xfrm>
              <a:off x="54871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0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6" name="Oval 27"/>
            <p:cNvSpPr/>
            <p:nvPr/>
          </p:nvSpPr>
          <p:spPr>
            <a:xfrm>
              <a:off x="48553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1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7" name="Oval 28"/>
            <p:cNvSpPr/>
            <p:nvPr/>
          </p:nvSpPr>
          <p:spPr>
            <a:xfrm>
              <a:off x="44791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2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8" name="Oval 29"/>
            <p:cNvSpPr/>
            <p:nvPr/>
          </p:nvSpPr>
          <p:spPr>
            <a:xfrm>
              <a:off x="40813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3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99" name="Circular Arrow 5"/>
          <p:cNvSpPr/>
          <p:nvPr/>
        </p:nvSpPr>
        <p:spPr>
          <a:xfrm rot="8845200">
            <a:off x="5619240" y="2278080"/>
            <a:ext cx="1366920" cy="1150920"/>
          </a:xfrm>
          <a:prstGeom prst="circularArrow">
            <a:avLst>
              <a:gd name="adj1" fmla="val 8530"/>
              <a:gd name="adj2" fmla="val 934561"/>
              <a:gd name="adj3" fmla="val 20796558"/>
              <a:gd name="adj4" fmla="val 11575910"/>
              <a:gd name="adj5" fmla="val 9938"/>
            </a:avLst>
          </a:prstGeom>
          <a:solidFill>
            <a:srgbClr val="00FA00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0" name="Block Arc 3"/>
          <p:cNvSpPr/>
          <p:nvPr/>
        </p:nvSpPr>
        <p:spPr>
          <a:xfrm>
            <a:off x="5815080" y="2771280"/>
            <a:ext cx="1204200" cy="558720"/>
          </a:xfrm>
          <a:prstGeom prst="blockArc">
            <a:avLst>
              <a:gd name="adj1" fmla="val 10768193"/>
              <a:gd name="adj2" fmla="val 21482835"/>
              <a:gd name="adj3" fmla="val 19968"/>
            </a:avLst>
          </a:prstGeom>
          <a:solidFill>
            <a:srgbClr val="B3B5FF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01" name="Straight Connector 10"/>
          <p:cNvCxnSpPr/>
          <p:nvPr/>
        </p:nvCxnSpPr>
        <p:spPr>
          <a:xfrm flipV="1">
            <a:off x="6444000" y="1476720"/>
            <a:ext cx="361080" cy="137844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1402" name="TextBox 14"/>
          <p:cNvSpPr/>
          <p:nvPr/>
        </p:nvSpPr>
        <p:spPr>
          <a:xfrm>
            <a:off x="6800040" y="1324800"/>
            <a:ext cx="55872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Gate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Right Arrow 15"/>
          <p:cNvSpPr/>
          <p:nvPr/>
        </p:nvSpPr>
        <p:spPr>
          <a:xfrm rot="6903600">
            <a:off x="4748040" y="3717720"/>
            <a:ext cx="1087200" cy="236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FA00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04" name="Fußzeilenplatzhalter 12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1495774-9021-49A2-B60D-1D7117E73A0C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Segment-Deskriptoren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06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Are entries in the Global Descriptor Table (GDT) and allow code protection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(IA-32: additional protection via limit (= end of segment))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8 byte per entry (Exception: system segments use 16 byte in x86_64)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7" name="Picture 1"/>
          <p:cNvPicPr/>
          <p:nvPr/>
        </p:nvPicPr>
        <p:blipFill>
          <a:blip r:embed="rId1"/>
          <a:stretch/>
        </p:blipFill>
        <p:spPr>
          <a:xfrm>
            <a:off x="1614600" y="2223360"/>
            <a:ext cx="6547320" cy="264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8" name="TextBox 2"/>
          <p:cNvSpPr/>
          <p:nvPr/>
        </p:nvSpPr>
        <p:spPr>
          <a:xfrm>
            <a:off x="2803320" y="4936320"/>
            <a:ext cx="457596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Bild von Volkmar Sieh / Daniel Lohmann, Uni Erlangen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Rectangle 4"/>
          <p:cNvSpPr/>
          <p:nvPr/>
        </p:nvSpPr>
        <p:spPr>
          <a:xfrm>
            <a:off x="7281360" y="4447080"/>
            <a:ext cx="1105920" cy="35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10" name="Rectangular Callout 3"/>
          <p:cNvSpPr/>
          <p:nvPr/>
        </p:nvSpPr>
        <p:spPr>
          <a:xfrm>
            <a:off x="6448680" y="2791080"/>
            <a:ext cx="1794600" cy="1078920"/>
          </a:xfrm>
          <a:prstGeom prst="wedgeRectCallout">
            <a:avLst>
              <a:gd name="adj1" fmla="val -27997"/>
              <a:gd name="adj2" fmla="val 38719"/>
            </a:avLst>
          </a:prstGeom>
          <a:solidFill>
            <a:schemeClr val="bg1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TYPE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Code/Data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Read/Write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Non-/Conforming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Rectangular Callout 5"/>
          <p:cNvSpPr/>
          <p:nvPr/>
        </p:nvSpPr>
        <p:spPr>
          <a:xfrm>
            <a:off x="126000" y="4011120"/>
            <a:ext cx="1348560" cy="755280"/>
          </a:xfrm>
          <a:prstGeom prst="wedgeRectCallout">
            <a:avLst>
              <a:gd name="adj1" fmla="val -27997"/>
              <a:gd name="adj2" fmla="val 38719"/>
            </a:avLst>
          </a:prstGeom>
          <a:solidFill>
            <a:schemeClr val="bg1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System-Segments</a:t>
            </a:r>
            <a:br>
              <a:rPr sz="1200"/>
            </a:b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(Call-Gate, Task </a:t>
            </a:r>
            <a:br>
              <a:rPr sz="1200"/>
            </a:b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State Segment)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Rectangular Callout 7"/>
          <p:cNvSpPr/>
          <p:nvPr/>
        </p:nvSpPr>
        <p:spPr>
          <a:xfrm>
            <a:off x="1619640" y="4011120"/>
            <a:ext cx="3167280" cy="866880"/>
          </a:xfrm>
          <a:prstGeom prst="wedgeRectCallout">
            <a:avLst>
              <a:gd name="adj1" fmla="val -27997"/>
              <a:gd name="adj2" fmla="val 38719"/>
            </a:avLst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" tIns="36000" rIns="36000" bIns="3600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P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Present Bit</a:t>
            </a:r>
            <a:br>
              <a:rPr sz="1400"/>
            </a:br>
            <a:r>
              <a:rPr lang="de-DE" sz="1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 DPL </a:t>
            </a:r>
            <a:r>
              <a:rPr lang="de-DE" sz="1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	</a:t>
            </a:r>
            <a:r>
              <a:rPr lang="de-DE" sz="1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Descriptor Privilege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S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System Segment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Fußzeilenplatzhalter 13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03E7A93-B297-476F-9141-B9580AD568B8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Segment Selectors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15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Stored in 16-bit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 Registers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Consist of an index into the GDT (13 bit)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 the requested privilege level (RPL)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Privilege Level Abbreviations: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Requested Privilege Level (RPL) in a segment register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Descriptor Privilege Level (DPL) in the correspoding descriptor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Current Privilege Level (CPL) in the current value of the code segment register (bits 0 and 1)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IOPL (2 bits) in FLAGS register: Determine the required privilege level to execute I/O instructions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RPL &gt; CPL the RPL is used → Privilege level can only be weakened by the RPL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6" name=""/>
          <p:cNvPicPr/>
          <p:nvPr/>
        </p:nvPicPr>
        <p:blipFill>
          <a:blip r:embed="rId1"/>
          <a:stretch/>
        </p:blipFill>
        <p:spPr>
          <a:xfrm>
            <a:off x="4576320" y="1291320"/>
            <a:ext cx="4393800" cy="104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7" name="Fußzeilenplatzhalter 14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73698FA-7435-4BF3-9F43-F746E02A05B9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Global Descriptor Table (GDT)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19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Only one for the whole OS (independent from the number of cores)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Global Descriptor Table Register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(GDTR) points to the GDT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Typical GDT (also in HeineOS) →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DPL = 0: Ring 0 (kernel mode)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DPL = 3: Ring 3 (user mode)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mov ds, 16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would trigger a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General Protection Fault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executed in user mode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TSSD: See next slides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Rectangle 4"/>
          <p:cNvSpPr/>
          <p:nvPr/>
        </p:nvSpPr>
        <p:spPr>
          <a:xfrm>
            <a:off x="7281360" y="4447080"/>
            <a:ext cx="1105920" cy="35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1" name="Rectangle 8"/>
          <p:cNvSpPr/>
          <p:nvPr/>
        </p:nvSpPr>
        <p:spPr>
          <a:xfrm>
            <a:off x="7910280" y="2204640"/>
            <a:ext cx="614160" cy="148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2" name="Rectangle 9"/>
          <p:cNvSpPr/>
          <p:nvPr/>
        </p:nvSpPr>
        <p:spPr>
          <a:xfrm>
            <a:off x="7448400" y="1854360"/>
            <a:ext cx="1154880" cy="248148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3" name="TextBox 10"/>
          <p:cNvSpPr/>
          <p:nvPr/>
        </p:nvSpPr>
        <p:spPr>
          <a:xfrm>
            <a:off x="7448400" y="1566720"/>
            <a:ext cx="115488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GDT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TextBox 11"/>
          <p:cNvSpPr/>
          <p:nvPr/>
        </p:nvSpPr>
        <p:spPr>
          <a:xfrm>
            <a:off x="7448400" y="4110480"/>
            <a:ext cx="1154880" cy="2253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tIns="36000" rIns="36000" bIns="36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null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TextBox 14"/>
          <p:cNvSpPr/>
          <p:nvPr/>
        </p:nvSpPr>
        <p:spPr>
          <a:xfrm>
            <a:off x="7448400" y="3882600"/>
            <a:ext cx="1154880" cy="2253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tIns="36000" rIns="36000" bIns="36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Code, DPL=0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TextBox 15"/>
          <p:cNvSpPr/>
          <p:nvPr/>
        </p:nvSpPr>
        <p:spPr>
          <a:xfrm>
            <a:off x="7448400" y="3655080"/>
            <a:ext cx="1154880" cy="2253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tIns="36000" rIns="36000" bIns="36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Data, DPL=0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7" name="TextBox 16"/>
          <p:cNvSpPr/>
          <p:nvPr/>
        </p:nvSpPr>
        <p:spPr>
          <a:xfrm>
            <a:off x="7448400" y="3425040"/>
            <a:ext cx="1154880" cy="2253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tIns="36000" rIns="36000" bIns="36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Code, DPL=3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TextBox 17"/>
          <p:cNvSpPr/>
          <p:nvPr/>
        </p:nvSpPr>
        <p:spPr>
          <a:xfrm>
            <a:off x="7448400" y="3197520"/>
            <a:ext cx="1154880" cy="2253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tIns="36000" rIns="36000" bIns="36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Data, DPL=3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TextBox 18"/>
          <p:cNvSpPr/>
          <p:nvPr/>
        </p:nvSpPr>
        <p:spPr>
          <a:xfrm>
            <a:off x="6892560" y="3793320"/>
            <a:ext cx="5544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36000" rIns="36000" bIns="36000" anchor="t">
            <a:spAutoFit/>
          </a:bodyPr>
          <a:p>
            <a:pPr algn="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TextBox 19"/>
          <p:cNvSpPr/>
          <p:nvPr/>
        </p:nvSpPr>
        <p:spPr>
          <a:xfrm>
            <a:off x="6892560" y="4004640"/>
            <a:ext cx="5544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36000" rIns="36000" bIns="36000" anchor="t">
            <a:spAutoFit/>
          </a:bodyPr>
          <a:p>
            <a:pPr algn="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8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1" name="TextBox 20"/>
          <p:cNvSpPr/>
          <p:nvPr/>
        </p:nvSpPr>
        <p:spPr>
          <a:xfrm>
            <a:off x="6892560" y="4223520"/>
            <a:ext cx="5544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36000" rIns="36000" bIns="36000" anchor="t">
            <a:spAutoFit/>
          </a:bodyPr>
          <a:p>
            <a:pPr algn="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TextBox 21"/>
          <p:cNvSpPr/>
          <p:nvPr/>
        </p:nvSpPr>
        <p:spPr>
          <a:xfrm>
            <a:off x="6892560" y="3538440"/>
            <a:ext cx="5544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36000" rIns="36000" bIns="36000" anchor="t">
            <a:spAutoFit/>
          </a:bodyPr>
          <a:p>
            <a:pPr algn="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24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TextBox 22"/>
          <p:cNvSpPr/>
          <p:nvPr/>
        </p:nvSpPr>
        <p:spPr>
          <a:xfrm>
            <a:off x="6892560" y="3313440"/>
            <a:ext cx="5544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36000" rIns="36000" bIns="36000" anchor="t">
            <a:spAutoFit/>
          </a:bodyPr>
          <a:p>
            <a:pPr algn="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32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34" name="Straight Arrow Connector 23"/>
          <p:cNvCxnSpPr>
            <a:endCxn id="1424" idx="2"/>
          </p:cNvCxnSpPr>
          <p:nvPr/>
        </p:nvCxnSpPr>
        <p:spPr>
          <a:xfrm flipH="1" flipV="1">
            <a:off x="8025840" y="4335840"/>
            <a:ext cx="720" cy="267480"/>
          </a:xfrm>
          <a:prstGeom prst="straightConnector1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435" name="TextBox 24"/>
          <p:cNvSpPr/>
          <p:nvPr/>
        </p:nvSpPr>
        <p:spPr>
          <a:xfrm>
            <a:off x="7448400" y="4577040"/>
            <a:ext cx="11548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GDTR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6" name="TextBox 1"/>
          <p:cNvSpPr/>
          <p:nvPr/>
        </p:nvSpPr>
        <p:spPr>
          <a:xfrm>
            <a:off x="7448400" y="2823840"/>
            <a:ext cx="1154880" cy="370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tIns="76680" rIns="36000" bIns="7668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rgbClr val="0432FF"/>
                </a:solidFill>
                <a:effectLst/>
                <a:uFillTx/>
                <a:latin typeface="Arial"/>
              </a:rPr>
              <a:t>TSSD, DPL=0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7" name="Fußzeilenplatzhalter 15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60CE0A8-D410-4251-998A-979068EC464D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Preview: Protection via Paging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39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40" name="Inhaltsplatzhalter 7"/>
          <p:cNvSpPr/>
          <p:nvPr/>
        </p:nvSpPr>
        <p:spPr>
          <a:xfrm>
            <a:off x="539640" y="117108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Long Mode the base address and limit of segments is ignored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Segmentation can no longer restrict memory acceses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Memory protection is done via Paging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We can allow/forbid user mode access for each 4 KiB page independently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Paging allows acces mode restrictions: read only, no execute, etc.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Paging is discussed in more detail in a later lecture (when we implement it)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Fußzeilenplatzhalter 16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41BC4EB-05B3-4D39-AB4D-B95E40E5B8EE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Task State Segment (TSS)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43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need on TSS per CPU core to use kernel/user mode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TSS location is described by a TSS descriptor in the GDT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TSS descriptor is referenced by the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Task Register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(TR)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32-Bit Protected Mode the state of a CPU core (all registers, etc.) could be stored inside a TSS (used for hardware supported task switching)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→ Was rarely used and thus abandoned in Long Mode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Long Mode the TSS only store Stacks and optionally the I/O Permission Bitmap (see next slide)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Fußzeilenplatzhalter 17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3E34C59-C65C-4C86-8510-8AFA9C6FCD55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TSS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46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IST = Interrupt Stack Table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Allows separate sticks for interrupt handlers (optional)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IST number can be specified in entries inside the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Interrupt-Descriptor Table (IDT)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RSP0, RSP1, RSP2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Stack pointer für rings 0 to 2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the ring changes, the stack is switched and the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CPU core finds the right stack pointer insied the TSS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operating systems only use two rings (0 and 3)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 that only RSP0 is relevant (applies to HeineOS too)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RSP3?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Missing? → No, it is stored on the stack during a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ring change through a call gate or interrupt gate (see later)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7" name="Picture 2"/>
          <p:cNvPicPr/>
          <p:nvPr/>
        </p:nvPicPr>
        <p:blipFill>
          <a:blip r:embed="rId1"/>
          <a:stretch/>
        </p:blipFill>
        <p:spPr>
          <a:xfrm>
            <a:off x="5652000" y="1062720"/>
            <a:ext cx="3047400" cy="326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8" name="TextBox 3"/>
          <p:cNvSpPr/>
          <p:nvPr/>
        </p:nvSpPr>
        <p:spPr>
          <a:xfrm>
            <a:off x="5652000" y="4936320"/>
            <a:ext cx="244728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Bild von Horst Schirmeier,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Fußzeilenplatzhalter 18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72C5C06-D018-4CB6-9E9D-1C67DA2238A2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I/O-Permission Bitmap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1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Access protection for I/O-ports (only little relevance nowadays)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I/O privilege level (IOPL) represented by two bits inside the RFLAGS register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Port access is granted if CPL ≤ IOPL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Otherwise, the I/O permission bitmap is used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One bit for each port; if a bit is set, access is denied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Access protection for memory mapped I/O via page tables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2" name="Picture 1"/>
          <p:cNvPicPr/>
          <p:nvPr/>
        </p:nvPicPr>
        <p:blipFill>
          <a:blip r:embed="rId1"/>
          <a:srcRect l="0" t="0" r="570" b="0"/>
          <a:stretch/>
        </p:blipFill>
        <p:spPr>
          <a:xfrm>
            <a:off x="1512720" y="3108600"/>
            <a:ext cx="6082560" cy="176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3" name="Rectangle 3"/>
          <p:cNvSpPr/>
          <p:nvPr/>
        </p:nvSpPr>
        <p:spPr>
          <a:xfrm>
            <a:off x="7353360" y="4375080"/>
            <a:ext cx="529920" cy="329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4" name="Rectangle 4"/>
          <p:cNvSpPr/>
          <p:nvPr/>
        </p:nvSpPr>
        <p:spPr>
          <a:xfrm>
            <a:off x="1301400" y="4506840"/>
            <a:ext cx="1871280" cy="366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5" name="TextBox 5"/>
          <p:cNvSpPr/>
          <p:nvPr/>
        </p:nvSpPr>
        <p:spPr>
          <a:xfrm>
            <a:off x="3420000" y="4936320"/>
            <a:ext cx="46792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Rectangle 2"/>
          <p:cNvSpPr/>
          <p:nvPr/>
        </p:nvSpPr>
        <p:spPr>
          <a:xfrm>
            <a:off x="1331640" y="4663080"/>
            <a:ext cx="502920" cy="256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7" name="Rectangle 7"/>
          <p:cNvSpPr/>
          <p:nvPr/>
        </p:nvSpPr>
        <p:spPr>
          <a:xfrm>
            <a:off x="7092360" y="4616280"/>
            <a:ext cx="502920" cy="256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8" name="Fußzeilenplatzhalter 19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C5A54B0-597C-4321-A81E-89F6169AB882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Task Switch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0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Task switching is done in the kernel, triggered by the timer interrupt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 registers are stored on the stack of the current thread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is the kernel stack, as the interrupt caused a switch to ring 0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Additionally, all values of the TSS are stored on the stack (except RSP0)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(In HeineOS, we do not store any TSS values, as we only use RSP0)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Finally, RSP0 is store (HeineOS: Inside the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Thread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structure on the heap)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state of the next thread can be retrieved via the stored RSP0 in its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Thread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structure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1" name="Rectangle 3"/>
          <p:cNvSpPr/>
          <p:nvPr/>
        </p:nvSpPr>
        <p:spPr>
          <a:xfrm>
            <a:off x="7353360" y="4375080"/>
            <a:ext cx="529920" cy="329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62" name="Rectangle 2"/>
          <p:cNvSpPr/>
          <p:nvPr/>
        </p:nvSpPr>
        <p:spPr>
          <a:xfrm>
            <a:off x="1331640" y="4663080"/>
            <a:ext cx="502920" cy="256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63" name="Fußzeilenplatzhalter 20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3D91AB5-DF69-4061-974D-B2512E3BAED7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5" name="Inhaltsplatzhalter 7"/>
          <p:cNvSpPr/>
          <p:nvPr/>
        </p:nvSpPr>
        <p:spPr>
          <a:xfrm>
            <a:off x="521640" y="1206720"/>
            <a:ext cx="8390520" cy="37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x86-64 architecture is highly complex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Rarely used features were removed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Segmentation (mostly)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Hardware support for task switching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Still backwards compatible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Processor and cores still start up in Real Mode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Intel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X86S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wanted to simplify the architecture by removing a lot of backwards compatibility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But, Intel has stopped working  ont X86s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6" name="Fußzeilenplatzhalter 21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1EE5770-042E-4BEB-A794-7D72D15153B1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31926</TotalTime>
  <Application>LibreOffice/26.2.4.2$Linux_X86_64 LibreOffice_project/df4f15f06f7b375c1d16aa35fba92d50b262cd01</Application>
  <AppVersion>15.0000</AppVersion>
  <Words>1479</Words>
  <Paragraphs>246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dcterms:modified xsi:type="dcterms:W3CDTF">2026-07-06T14:06:52Z</dcterms:modified>
  <cp:revision>1478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Custom</vt:lpwstr>
  </property>
  <property fmtid="{D5CDD505-2E9C-101B-9397-08002B2CF9AE}" pid="4" name="Slides">
    <vt:i4>21</vt:i4>
  </property>
</Properties>
</file>